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79" r:id="rId27"/>
    <p:sldId id="280" r:id="rId28"/>
    <p:sldId id="282" r:id="rId30"/>
    <p:sldId id="281" r:id="rId29"/>
    <p:sldId id="274" r:id="rId22"/>
    <p:sldId id="273" r:id="rId21"/>
    <p:sldId id="276" r:id="rId24"/>
    <p:sldId id="277" r:id="rId25"/>
    <p:sldId id="278" r:id="rId26"/>
    <p:sldId id="271" r:id="rId19"/>
    <p:sldId id="268" r:id="rId16"/>
    <p:sldId id="283" r:id="rId31"/>
    <p:sldId id="272" r:id="rId20"/>
    <p:sldId id="270" r:id="rId18"/>
    <p:sldId id="284" r:id="rId32"/>
    <p:sldId id="267" r:id="rId15"/>
    <p:sldId id="275" r:id="rId23"/>
    <p:sldId id="269" r:id="rId17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Relationship Id="rId2" Type="http://schemas.microsoft.com/office/2011/relationships/chartStyle" Target="style2.xml"/><Relationship Id="rId3" Type="http://schemas.microsoft.com/office/2011/relationships/chartColorStyle" Target="colors2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Relationship Id="rId2" Type="http://schemas.microsoft.com/office/2011/relationships/chartStyle" Target="style3.xml"/><Relationship Id="rId3" Type="http://schemas.microsoft.com/office/2011/relationships/chartColorStyle" Target="colors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688"/>
          <c:y val="0.126935"/>
          <c:w val="0.926086"/>
          <c:h val="0.66747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Junior сдаёт тест Middle, %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8A83D1"/>
              </a:solidFill>
            </c:spPr>
          </c:dPt>
          <c:dPt>
            <c:idx val="1"/>
            <c:spPr>
              <a:solidFill>
                <a:srgbClr val="FC3777"/>
              </a:solidFill>
            </c:spPr>
          </c:dPt>
          <c:dPt>
            <c:idx val="2"/>
            <c:spPr>
              <a:solidFill>
                <a:srgbClr val="FF0053"/>
              </a:solidFill>
            </c:spPr>
          </c:dPt>
          <c:cat>
            <c:strRef>
              <c:f>Sheet1!$A$2:$A$4</c:f>
              <c:strCache>
                <c:ptCount val="3"/>
                <c:pt idx="0">
                  <c:v>Честно
19,3 %</c:v>
                </c:pt>
                <c:pt idx="1">
                  <c:v>Шпаргалка
200 попыток
29,7 %</c:v>
                </c:pt>
                <c:pt idx="2">
                  <c:v>Статичный
тест
100 %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19.3</c:v>
                </c:pt>
                <c:pt idx="1">
                  <c:v>29.7</c:v>
                </c:pt>
                <c:pt idx="2">
                  <c:v>100.0</c:v>
                </c:pt>
              </c:numCache>
            </c:numRef>
          </c:val>
        </c:ser>
        <c:dLbls>
          <c:showBubbleSize val="0"/>
          <c:showCatName val="0"/>
          <c:showLeaderLines val="0"/>
          <c:numFmt formatCode="0.0&quot;%&quot;" sourceLinked="0"/>
          <c:txPr>
            <a:bodyPr/>
            <a:lstStyle/>
            <a:p>
              <a:pPr>
                <a:defRPr sz="1400" b="1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Percent val="0"/>
          <c:showSerName val="0"/>
          <c:showVal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rgbClr val="FFFFFF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00.0"/>
          <c:min val="0.0"/>
        </c:scaling>
        <c:delete val="0"/>
        <c:axPos val="l"/>
        <c:majorGridlines>
          <c:spPr bwMode="auto">
            <a:prstGeom prst="rect">
              <a:avLst/>
            </a:prstGeom>
            <a:ln w="9525" cap="flat" cmpd="sng" algn="ctr">
              <a:solidFill>
                <a:srgbClr val="8A6BA8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>
                <a:solidFill>
                  <a:srgbClr val="FFFFFF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20.0"/>
      </c:valAx>
      <c:spPr bwMode="auto">
        <a:prstGeom prst="rect">
          <a:avLst/>
        </a:prstGeom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0.030341"/>
          <c:y val="0.938201"/>
          <c:w val="0.947401"/>
          <c:h val="0.061799"/>
        </c:manualLayout>
      </c:layout>
      <c:overlay val="0"/>
      <c:spPr bwMode="auto">
        <a:prstGeom prst="rect">
          <a:avLst/>
        </a:prstGeom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>
              <a:solidFill>
                <a:srgbClr val="FFFFFF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 bwMode="auto">
    <a:xfrm rot="0">
      <a:off x="346075" y="1424510"/>
      <a:ext cx="5749925" cy="4401748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1">
    <c:autoUpdate val="1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3"/>
          <c:y val="0.126935"/>
          <c:w val="0.864242"/>
          <c:h val="0.667471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%, 600 синтетических кандидатов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 bwMode="auto">
              <a:prstGeom prst="rect">
                <a:avLst/>
              </a:prstGeom>
              <a:solidFill>
                <a:srgbClr val="FC3777"/>
              </a:solidFill>
              <a:ln w="63500">
                <a:noFill/>
              </a:ln>
              <a:effectLst/>
            </c:spPr>
          </c:dPt>
          <c:dPt>
            <c:idx val="1"/>
            <c:invertIfNegative val="0"/>
            <c:bubble3D val="0"/>
            <c:spPr bwMode="auto">
              <a:prstGeom prst="rect">
                <a:avLst/>
              </a:prstGeom>
              <a:solidFill>
                <a:srgbClr val="520978"/>
              </a:solidFill>
              <a:ln w="63500">
                <a:noFill/>
              </a:ln>
              <a:effectLst/>
            </c:spPr>
          </c:dPt>
          <c:dPt>
            <c:idx val="2"/>
            <c:invertIfNegative val="0"/>
            <c:bubble3D val="0"/>
            <c:spPr bwMode="auto">
              <a:prstGeom prst="rect">
                <a:avLst/>
              </a:prstGeom>
              <a:solidFill>
                <a:srgbClr val="FF0053"/>
              </a:solidFill>
              <a:ln w="63500">
                <a:noFill/>
              </a:ln>
              <a:effectLst/>
            </c:spPr>
          </c:dPt>
          <c:dPt>
            <c:idx val="3"/>
            <c:invertIfNegative val="0"/>
            <c:bubble3D val="0"/>
            <c:spPr bwMode="auto">
              <a:prstGeom prst="rect">
                <a:avLst/>
              </a:prstGeom>
              <a:solidFill>
                <a:srgbClr val="8A83D1"/>
              </a:solidFill>
              <a:ln w="63500">
                <a:noFill/>
              </a:ln>
              <a:effectLst/>
            </c:spPr>
          </c:dPt>
          <c:cat>
            <c:strRef>
              <c:f>Sheet1!$A$2:$A$5</c:f>
              <c:strCache>
                <c:ptCount val="4"/>
                <c:pt idx="0">
                  <c:v>Грейд завышен 7,0 %</c:v>
                </c:pt>
                <c:pt idx="1">
                  <c:v>Ошибка ≤ 1 ступени 98,7 %</c:v>
                </c:pt>
                <c:pt idx="2">
                  <c:v>Тест совпал 69,5 %</c:v>
                </c:pt>
                <c:pt idx="3">
                  <c:v>Самооценка 65,5 %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7.0</c:v>
                </c:pt>
                <c:pt idx="1">
                  <c:v>98.7</c:v>
                </c:pt>
                <c:pt idx="2">
                  <c:v>69.5</c:v>
                </c:pt>
                <c:pt idx="3">
                  <c:v>65.5</c:v>
                </c:pt>
              </c:numCache>
            </c:numRef>
          </c:val>
        </c:ser>
        <c:dLbls>
          <c:showBubbleSize val="0"/>
          <c:showCatName val="0"/>
          <c:showLeaderLines val="0"/>
          <c:numFmt formatCode="0.0&quot;%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Percent val="0"/>
          <c:showSerName val="0"/>
          <c:showVal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00.0"/>
          <c:min val="0.0"/>
        </c:scaling>
        <c:delete val="0"/>
        <c:axPos val="b"/>
        <c:majorGridlines>
          <c:spPr bwMode="auto">
            <a:prstGeom prst="rect">
              <a:avLst/>
            </a:prstGeom>
            <a:ln w="9525" cap="flat" cmpd="sng" algn="ctr">
              <a:solidFill>
                <a:srgbClr val="D9D2E6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20.0"/>
      </c:valAx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 rot="0">
      <a:off x="346075" y="1424510"/>
      <a:ext cx="5749925" cy="4401748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1">
    <c:autoUpdate val="1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Балл соответствия</c:v>
                </c:pt>
              </c:strCache>
            </c:strRef>
          </c:tx>
          <c:spPr bwMode="auto">
            <a:ln w="63500"/>
          </c:spPr>
          <c:dPt>
            <c:idx val="0"/>
            <c:bubble3D val="0"/>
            <c:spPr bwMode="auto">
              <a:prstGeom prst="rect">
                <a:avLst/>
              </a:prstGeom>
              <a:solidFill>
                <a:srgbClr val="FF0053"/>
              </a:solidFill>
              <a:ln w="63500" cap="rnd">
                <a:solidFill>
                  <a:schemeClr val="accent1"/>
                </a:solidFill>
              </a:ln>
              <a:effectLst/>
            </c:spPr>
          </c:dPt>
          <c:dPt>
            <c:idx val="1"/>
            <c:bubble3D val="0"/>
            <c:spPr bwMode="auto">
              <a:prstGeom prst="rect">
                <a:avLst/>
              </a:prstGeom>
              <a:solidFill>
                <a:srgbClr val="520978"/>
              </a:solidFill>
              <a:ln w="63500" cap="rnd">
                <a:solidFill>
                  <a:schemeClr val="accent5"/>
                </a:solidFill>
              </a:ln>
              <a:effectLst/>
            </c:spPr>
          </c:dPt>
          <c:dPt>
            <c:idx val="2"/>
            <c:bubble3D val="0"/>
            <c:spPr bwMode="auto">
              <a:prstGeom prst="rect">
                <a:avLst/>
              </a:prstGeom>
              <a:solidFill>
                <a:srgbClr val="8A83D1"/>
              </a:solidFill>
              <a:ln w="63500" cap="rnd">
                <a:solidFill>
                  <a:schemeClr val="accent4"/>
                </a:solidFill>
              </a:ln>
              <a:effectLst/>
            </c:spPr>
          </c:dPt>
          <c:dPt>
            <c:idx val="3"/>
            <c:bubble3D val="0"/>
            <c:spPr bwMode="auto">
              <a:prstGeom prst="rect">
                <a:avLst/>
              </a:prstGeom>
              <a:solidFill>
                <a:srgbClr val="FC3777"/>
              </a:solidFill>
              <a:ln w="63500" cap="rnd">
                <a:solidFill>
                  <a:schemeClr val="accent2"/>
                </a:solidFill>
              </a:ln>
              <a:effectLst/>
            </c:spPr>
          </c:dPt>
          <c:dPt>
            <c:idx val="4"/>
            <c:spPr>
              <a:solidFill>
                <a:srgbClr val="FFD6E4"/>
              </a:solidFill>
            </c:spPr>
          </c:dPt>
          <c:dLbls>
            <c:dLbl>
              <c:idx val="0"/>
              <c:spPr/>
              <c:txPr>
                <a:bodyPr/>
                <a:lstStyle/>
                <a:p>
                  <a:pPr>
                    <a:defRPr sz="1300" b="1"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300" b="1"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300" b="1"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300" b="1"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300" b="1">
                      <a:solidFill>
                        <a:srgbClr val="520978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Категория 30 %</c:v>
                </c:pt>
                <c:pt idx="1">
                  <c:v>Стек 30 %</c:v>
                </c:pt>
                <c:pt idx="2">
                  <c:v>Тест 25 %</c:v>
                </c:pt>
                <c:pt idx="3">
                  <c:v>ФСП и Arena 10 %</c:v>
                </c:pt>
                <c:pt idx="4">
                  <c:v>Свежесть 5 %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30</c:v>
                </c:pt>
                <c:pt idx="2">
                  <c:v>25</c:v>
                </c:pt>
                <c:pt idx="3">
                  <c:v>10</c:v>
                </c:pt>
                <c:pt idx="4">
                  <c:v>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 rot="0">
      <a:off x="625096" y="1360288"/>
      <a:ext cx="5125748" cy="4385667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1">
    <c:autoUpdate val="1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442555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140205659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586460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494777508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9824572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22875561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Здравствуйте! Мы — Команда 1, проект HyreKit: агрегатор ИТ-вакансий с верифицированным профилем достижений участника ФСП. Наш принцип — «Не ищи работу. Покажи уровень»: кандидат один раз подтверждает грейд тестом, а работодатели сами приходят к нему с приглашением и зарплатой. Всё, что покажем, работает на боевом стенде hyrekit.ru.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7C7F50-47BB-A5B7-6A81-657000D83E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Коротко о нас и о решении. Нас четверо: два продакт-менеджера, аналитик и разработчик. Работали как продуктовая команда: каждая задача в Linear, спецификация до кода и тест на каждый критерий. Суть решения: кандидат подтверждает грейд тестом и получает категорию, работодатель видит подборку с объяснимым баллом. Уникальность — тест, который нельзя выучить, и подтверждённый сигнал ФСП.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15B052-8E3A-D002-54A5-882A7354141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939269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41452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Команда. Яков Дятлов и Ирина Живова — продукт: ТЗ, сценарии кандидата и работодателя, приоритеты. Алиса Живова — аналитик: методика оценки и валидация. Сергей Емельянов — backend: API, тест, подбор, Code Arena и выкатка. Контакты в Telegram — на слайде.</a:t>
            </a:r>
          </a:p>
        </p:txBody>
      </p:sp>
      <p:sp>
        <p:nvSpPr>
          <p:cNvPr id="123049416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292498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7023864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Почему эта задача: она соединяет две вещи, которые нам близки, — найм и спортивное программирование. Победы в соревнованиях ФСП — сильный сигнал, но работодатель его не видит. Главные сложности: сделать объективный тест без размеченных данных, безопасно запускать чужой код и обойтись без API ФСП — для этого мы сделали интерфейсы, эмулятор и тестовый OIDC-провайдер.</a:t>
            </a:r>
          </a:p>
        </p:txBody>
      </p:sp>
      <p:sp>
        <p:nvSpPr>
          <p:cNvPr id="1636410124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суть: монолит FastAPI и React, генераторы заданий и модель Раша, подбор с объяснимым баллом, Code Arena с песочницей, LLM с резервом и вход через ФСП ID. Маркетинговая суть — обратный найм: работодатель приходит к проверенному кандидату с зарплатой, кандидату всё бесплатно, а ФСП получает канал трудоустройства своих участников.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5E8383-C48A-37A2-7134-E5BB559CB71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Надёжность. Под нагрузкой пятьдесят одновременных пользователей — ноль ошибок. Пятьдесят одновременных отправок кода в Arena тоже проходят без ошибок. 274 теста бэкенда с покрытием 83 процента, тесты фронтенда и сквозной браузерный сценарий на 23 шага; всё это гоняет CI на каждый PR. Персональные данные — по 152-ФЗ.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71570D6-FFF2-E2C0-7809-F85D819B0A7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Архитектура — модульный монолит, как допускает ТЗ. Запрос идёт через Caddy с HTTPS и nginx в FastAPI. Внутри модули: авторизация, кандидаты, тест, подбор, Arena, ФСП и LLM. Данные в PostgreSQL, лимиты в Redis. Внешние сервисы — GigaChat, YandexGPT, ФСП ID и реестр — подключены через интерфейсы: при отказе любого из них продукт продолжает работать.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605621-4A9B-D9D0-D33B-BF66BB25B7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697289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84575547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Спасибо! Всё можно проверить самим. Самый быстрый путь — верхний QR-код справа: экспресс-тест без регистрации, пять заданий за пять минут. После теста войдите работодателем — employer@hyrekit.ru, пароль HyreKit2026 — и найдите себя в подборке. Код и документация — по нижнему QR-коду. Готовы ответить на вопросы.</a:t>
            </a:r>
          </a:p>
        </p:txBody>
      </p:sp>
      <p:sp>
        <p:nvSpPr>
          <p:cNvPr id="13241684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14</a:t>
            </a:fld>
            <a:endParaRPr lang="ru-RU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Бизнес-модель. Платит работодатель — за подборки и за раскрытие контактов, то есть за результат. Для кандидата всё бесплатно, иначе не будет банка. Канал привлечения — сообщество ФСП: участники приходят с подтверждённым профилем. Раунды компаний в Arena — найм через задачу. Эксплуатация дешёвая: одна виртуальная машина и отечественные сервисы.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1B4F41-F1D8-7E94-53EF-C335970C1A7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Стек — открытое ПО и отечественные сервисы. Бэкенд на FastAPI с PostgreSQL и Redis, фронтенд на React. Модель подключена цепочкой: GigaChat, при отказе YandexGPT, без обоих — правила, так что продукт работает всегда. Код кандидатов исполняется в песочнице на Landlock и seccomp.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D4B7C-B630-53A7-579C-2BC09B7AD50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Чем мы отличаемся. Первое — тест, который нельзя выучить: слив ответов почти ничего не даёт. Второе — объяснимый балл: работодатель видит, за что кандидат в подборке. Третье — сигнал ФСП: подтверждённый участник и его достижения, включая Code Arena, напрямую влияют на подбор.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0B729D-EF1E-329E-866E-62F92560293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Механика теста. Банк хранит не вопросы, а 36 генераторов: условие собирается из случайных данных, правильный ответ вычисляет код. План одинаков для всех — пять тем по два задания. Оценка — модель Раша. Порог грейда стоит так, что подтвердить его можно только большинством верных ответов: шесть из десяти, в экспресс-тесте три из пяти. Тест никогда не понижает грейд.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C903DA-94C2-9054-7201-1D6EF8DE826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Code Arena — практическая проверка. Кандидат пишет код прямо в браузере, решение проверяется на скрытых тестах в песочнице, по каждому тесту видны вердикт и время. Справа разбор неверного решения: его написала модель — здесь YandexGPT, резерв после GigaChat. Внизу таблица раунда; рейтинг Glicko-2 входит в балл подборки, а компании проводят свои раунды для найма.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0627408-DE6F-2E14-F852-3B8C217C3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Что дальше. Подключить боевой ФСП ID и реестр — это настройка, а не разработка. Запустить пилот на участниках и откалибровать трудность заданий по реальным ответам. Сделать тест адаптивным. Добавить модерацию работодателей и интеграцию с ATS. От ФСП нам нужны доступ к ФСП ID и реестру, пилотная группа и партнёры-работодатели.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D69307-93C0-1AB9-27E9-A75B20977CB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Проверяем атакой. Сливаем двести чужих попыток Middle с ответами и даём шпаргалку слабому кандидату уровня Junior. Честно он сдаёт Middle в 19,3 процента случаев, со шпаргалкой — в 29,7. У статичного теста — во всех ста. Из генеративных заданий совпадают только три процента: выученное число не переносится, переносится только понимание.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4B0B19-62E6-A075-90FA-20A9CDDF48E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Разметки в хакатоне нет, поэтому валидируем на синтетических кандидатах с известной способностью; скрипт воспроизводим и запускается в CI. Тест даёт верный грейд в 69,5 процента против 65,5 у самооценки, в пределах ступени — 98,7, завышение всего семь процентов. Две независимые попытки согласуются с корреляцией 0,83.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5BF976-6EEA-CA80-CB7A-A2275F4ECA7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Балл соответствия складывается из пяти компонентов: категория и стек по тридцать процентов, тест — двадцать пять, ФСП и Arena — десять, свежесть — пять. На трёх демо-вакансиях доля релевантных в первой десятке — от 0,90 до 0,96 против 0,57–0,67 у поиска по стеку. И у каждого кандидата видно, почему он в подборке.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731AB2D-1409-7D40-74A3-296065CA0EF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Проблема у трёх сторон. Работодатель тонет в откликах и отбирает по словам в резюме. Кандидат откликается вслепую и не может подтвердить уровень. Участник ФСП не может показать свои победы. Наше решение для каждой стороны: подборка с объяснением, категория по тесту с зарплатой в приглашении и подтверждённый сигнал ФСП в балле.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412981-6D2D-9B24-4AEC-0756E2A397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Путь в пять шагов. Кандидат заполняет профиль — можно загрузить резюме, его разберёт модель. Проходит тест на свой грейд и получает категорию, например Backend Middle. Работодатель описывает потребность и сразу видит подборку по убыванию балла. Приглашение всегда с вилкой зарплаты, а контакты открываются только после согласия кандидата.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0658BF5-30BA-BFDB-0A8A-C5DE82A6244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Работодатель. Описал потребность — получил подборку: у каждого кандидата балл, причины и стек, которого не хватает. Можно собрать тест под вакансию: два варианта одинаковой сложности. Понравился кандидат — приглашение с вилкой, после согласия открываются контакты.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C07520-52D4-C112-9100-6BDCA5FE178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Демо кандидата на стенде. Слева — задание экспресс-теста: числа в условии случайные, ответ вычисляет код, поэтому у соседа по столу задание будет другим. Справа — результат: оценка способности, балл, разбор по темам и решение. Здесь пять из пяти, категория Backend Middle присвоена.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B95A32-330E-D804-1D8F-FCFD39519E1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Вход через ФСП ID. Реализован стандартный OpenID Connect с PKCE: участник входит в ФСП ID, и мы получаем подтверждённый идентификатор. Профиль помечается как подтверждённый, один участник — один профиль. Сейчас работает встроенный тестовый провайдер; Keycloak ФСП подключается переменными окружения без изменения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F13436-DB1D-660C-F100-3C8A1E44A44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Всё работает с телефона: интерфейс адаптивный от 360 пикселей. Кандидат может пройти экспресс-тест прямо со смартфона, работодатель — посмотреть подборку. Это реальные экраны стенда.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F5DA04-D338-5C15-92A7-64A94DAF659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1230750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28400284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745799927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62426925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5528747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80657996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98332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16825143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401845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526975293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280968425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0">
              <a:defRPr/>
            </a:pPr>
            <a:r>
              <a:rPr lang="en-US"/>
              <a:t/>
            </a:r>
            <a:endParaRPr/>
          </a:p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88244593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0">
              <a:defRPr/>
            </a:pPr>
            <a:r>
              <a:rPr lang="en-US"/>
              <a:t/>
            </a:r>
            <a:endParaRPr/>
          </a:p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76811686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0">
              <a:defRPr/>
            </a:pPr>
            <a:r>
              <a:rPr lang="en-US"/>
              <a:t/>
            </a:r>
            <a:endParaRPr/>
          </a:p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436504523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0">
              <a:defRPr/>
            </a:pPr>
            <a:r>
              <a:rPr lang="en-US"/>
              <a:t/>
            </a:r>
            <a:endParaRPr/>
          </a:p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01816790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0">
              <a:defRPr/>
            </a:pPr>
            <a:r>
              <a:rPr lang="en-US"/>
              <a:t/>
            </a:r>
            <a:endParaRPr/>
          </a:p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443011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1650833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3085876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67604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36522043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161564055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5195453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0548775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9191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12904163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21319658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15578837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9364633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4806477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353704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605624599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 lang="ru-RU"/>
          </a:p>
        </p:txBody>
      </p:sp>
      <p:sp>
        <p:nvSpPr>
          <p:cNvPr id="1519601007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160767082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76978700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130298307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1603352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90691807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988861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9964211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3004831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856433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91640029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4280763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64100154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88018597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142728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196378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1657602083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19932234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8403393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761634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209387367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362743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31064776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116146953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3907020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96399044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/>
            </a:r>
            <a:endParaRPr/>
          </a:p>
        </p:txBody>
      </p:sp>
      <p:sp>
        <p:nvSpPr>
          <p:cNvPr id="1181683335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21846606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/>
            </a:r>
            <a:endParaRPr/>
          </a:p>
        </p:txBody>
      </p:sp>
      <p:sp>
        <p:nvSpPr>
          <p:cNvPr id="230245054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75299988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/>
            </a:r>
            <a:endParaRPr/>
          </a:p>
        </p:txBody>
      </p:sp>
      <p:sp>
        <p:nvSpPr>
          <p:cNvPr id="343931103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18766546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/>
            </a:r>
            <a:endParaRPr/>
          </a:p>
        </p:txBody>
      </p:sp>
      <p:sp>
        <p:nvSpPr>
          <p:cNvPr id="87914276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040439710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/>
            </a:r>
            <a:endParaRPr/>
          </a:p>
        </p:txBody>
      </p:sp>
      <p:sp>
        <p:nvSpPr>
          <p:cNvPr id="213822891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97626849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733122533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87265193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67182099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584704613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35801084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99166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9434437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3908586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9252810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16014041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92145981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1117797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5185841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029233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210220971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63949484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9517189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738447127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844059043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402864043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754638441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122334314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302925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5893376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0058155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952597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68554904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85943010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788393022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7108000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68350753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0636270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23827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86153914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5831293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450796269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543393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770456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1215177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35683648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87335961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55286152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878558117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02803008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869561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9610657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250865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68387700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790310106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75439995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665297602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08071610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535692110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63058918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7209832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69162136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43899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54817306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4413036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762150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1731457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38626295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464533556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09256887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11593297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340088427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724886314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67177247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317280403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638626946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6800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84445362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332977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354716514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69606909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494867265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158798729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816225530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484604665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529473459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708227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  <p:txBody>
          <a:bodyPr/>
          <a:p/>
        </p:txBody>
      </p:sp>
      <p:sp>
        <p:nvSpPr>
          <p:cNvPr id="165071454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74443542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101495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67647523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78347779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80089088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748893530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49400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37964502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4489039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445391472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20445874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3566827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42223535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989449854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  <p:txBody>
          <a:bodyPr/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7577137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64548706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11528363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7346509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6506726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772846799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65335712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12541682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6368737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cxnSp>
        <p:nvCxnSpPr>
          <p:cNvPr id="593459651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78140899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722947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49824442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7074335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68548148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2521426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9915319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947286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470160539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92276861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885935599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77714386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87887933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92030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690150807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745772321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6738915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71881442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605439156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81200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04705926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457201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497409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041786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Relationship Id="rId4" Type="http://schemas.openxmlformats.org/officeDocument/2006/relationships/image" Target="../media/image80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Relationship Id="rId4" Type="http://schemas.openxmlformats.org/officeDocument/2006/relationships/image" Target="../media/image807.png"/><Relationship Id="rId5" Type="http://schemas.openxmlformats.org/officeDocument/2006/relationships/image" Target="../media/image808.png"/><Relationship Id="rId6" Type="http://schemas.openxmlformats.org/officeDocument/2006/relationships/image" Target="../media/image809.png"/><Relationship Id="rId7" Type="http://schemas.openxmlformats.org/officeDocument/2006/relationships/image" Target="../media/image8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Relationship Id="rId4" Type="http://schemas.openxmlformats.org/officeDocument/2006/relationships/image" Target="../media/image8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jpg"/><Relationship Id="rId4" Type="http://schemas.openxmlformats.org/officeDocument/2006/relationships/image" Target="../media/image814.jpg"/><Relationship Id="rId5" Type="http://schemas.openxmlformats.org/officeDocument/2006/relationships/image" Target="../media/image815.jpg"/><Relationship Id="rId6" Type="http://schemas.openxmlformats.org/officeDocument/2006/relationships/image" Target="../media/image81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jpg"/><Relationship Id="rId4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jpg"/><Relationship Id="rId4" Type="http://schemas.openxmlformats.org/officeDocument/2006/relationships/chart" Target="../charts/char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chart" Target="../charts/char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.jpg"/><Relationship Id="rId4" Type="http://schemas.openxmlformats.org/officeDocument/2006/relationships/image" Target="../media/image12.png"/><Relationship Id="rId5" Type="http://schemas.openxmlformats.org/officeDocument/2006/relationships/image" Target="../media/image81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jpg"/><Relationship Id="rId4" Type="http://schemas.openxmlformats.org/officeDocument/2006/relationships/image" Target="../media/image811.jpg"/><Relationship Id="rId5" Type="http://schemas.openxmlformats.org/officeDocument/2006/relationships/image" Target="../media/image812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jpg"/><Relationship Id="rId4" Type="http://schemas.openxmlformats.org/officeDocument/2006/relationships/image" Target="../media/image13.png"/><Relationship Id="rId5" Type="http://schemas.openxmlformats.org/officeDocument/2006/relationships/image" Target="../media/image81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jpg"/><Relationship Id="rId4" Type="http://schemas.openxmlformats.org/officeDocument/2006/relationships/image" Target="../media/image13.png"/><Relationship Id="rId5" Type="http://schemas.openxmlformats.org/officeDocument/2006/relationships/image" Target="../media/image818.jpg"/><Relationship Id="rId6" Type="http://schemas.openxmlformats.org/officeDocument/2006/relationships/image" Target="../media/image819.jpg"/><Relationship Id="rId7" Type="http://schemas.openxmlformats.org/officeDocument/2006/relationships/image" Target="../media/image820.jpg"/><Relationship Id="rId8" Type="http://schemas.openxmlformats.org/officeDocument/2006/relationships/image" Target="../media/image821.jp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3396760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 lang="ru-RU" sz="4800"/>
              <a:t>HyreKit</a:t>
            </a:r>
            <a:endParaRPr lang="ru-RU" sz="4800"/>
          </a:p>
          <a:p>
            <a:pPr marL="268288" indent="0">
              <a:defRPr/>
            </a:pPr>
            <a:r>
              <a:rPr lang="ru-RU" sz="1600"/>
              <a:t>Команда 1 · Хакатон ФСП 2026</a:t>
            </a:r>
            <a:endParaRPr lang="ru-RU" sz="4800"/>
          </a:p>
        </p:txBody>
      </p:sp>
      <p:sp>
        <p:nvSpPr>
          <p:cNvPr id="548569884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с верифицированным профилем достижений участника Федерации спортивного программирования (ФСП) · hyrekit.ru</a:t>
            </a:r>
            <a:endParaRPr/>
          </a:p>
        </p:txBody>
      </p:sp>
      <p:sp>
        <p:nvSpPr>
          <p:cNvPr id="181607741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488907923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5286890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pic>
        <p:nvPicPr>
          <p:cNvPr id="209069767" name="Рисунок 1" descr="landing.jp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t="13177" b="13177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861096068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1183313271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Задания — генераторы, а не список вопросов; оценка по модели Раша; ФСП ID, достижения и Code Arena входят в балл подборки.</a:t>
            </a:r>
            <a:endParaRPr/>
          </a:p>
        </p:txBody>
      </p:sp>
      <p:sp>
        <p:nvSpPr>
          <p:cNvPr id="1222889797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sz="1200">
                <a:solidFill>
                  <a:schemeClr val="tx1"/>
                </a:solidFill>
              </a:rPr>
              <a:t>Команда:</a:t>
            </a:r>
            <a:r>
              <a:rPr lang="ru-RU" sz="1200">
                <a:solidFill>
                  <a:schemeClr val="tx1"/>
                </a:solidFill>
              </a:rPr>
              <a:t> «Команда 1», 4 человека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sz="1200">
                <a:solidFill>
                  <a:schemeClr val="tx1"/>
                </a:solidFill>
              </a:rPr>
              <a:t>Роли:</a:t>
            </a:r>
            <a:r>
              <a:rPr lang="ru-RU" sz="1200">
                <a:solidFill>
                  <a:schemeClr val="tx1"/>
                </a:solidFill>
              </a:rPr>
              <a:t> 2 продакт-менеджера, аналитик, backend-разработчик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sz="1200">
                <a:solidFill>
                  <a:schemeClr val="tx1"/>
                </a:solidFill>
              </a:rPr>
              <a:t>Как работали:</a:t>
            </a:r>
            <a:r>
              <a:rPr lang="ru-RU" sz="1200">
                <a:solidFill>
                  <a:schemeClr val="tx1"/>
                </a:solidFill>
              </a:rPr>
              <a:t> задачи в Linear, спецификация до кода, тест на каждый критерий приёмки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sz="1200">
                <a:solidFill>
                  <a:schemeClr val="tx1"/>
                </a:solidFill>
              </a:rPr>
              <a:t>Результат:</a:t>
            </a:r>
            <a:r>
              <a:rPr lang="ru-RU" sz="1200">
                <a:solidFill>
                  <a:schemeClr val="tx1"/>
                </a:solidFill>
              </a:rPr>
              <a:t> боевой стенд hyrekit.ru в Yandex Cloud, код и документация на GitHub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sz="1200">
                <a:solidFill>
                  <a:schemeClr val="tx1"/>
                </a:solidFill>
              </a:rPr>
              <a:t>Город:</a:t>
            </a:r>
            <a:r>
              <a:rPr lang="ru-RU" sz="1200">
                <a:solidFill>
                  <a:schemeClr val="tx1"/>
                </a:solidFill>
              </a:rPr>
              <a:t> Москва</a:t>
            </a:r>
            <a:endParaRPr/>
          </a:p>
        </p:txBody>
      </p:sp>
      <p:sp>
        <p:nvSpPr>
          <p:cNvPr id="160104336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932249048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ru-RU" sz="2400">
                <a:solidFill>
                  <a:schemeClr val="accent5"/>
                </a:solidFill>
                <a:latin typeface="Montserrat"/>
              </a:rPr>
              <a:t>HyreKit</a:t>
            </a: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1436480058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48642817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26419572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75453812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377956225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Кандидат подтверждает грейд тестом, который нельзя выучить, и получает категорию «направление · грейд». Работодатель получает подборку с объяснимым баллом и приглашает с вилкой зарплаты.</a:t>
            </a:r>
            <a:endParaRPr/>
          </a:p>
        </p:txBody>
      </p:sp>
      <p:sp>
        <p:nvSpPr>
          <p:cNvPr id="120055118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3143227" name="Скругленный прямоугольник 55"/>
          <p:cNvSpPr/>
          <p:nvPr/>
        </p:nvSpPr>
        <p:spPr bwMode="auto">
          <a:xfrm>
            <a:off x="385520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566999" name="Текст 8"/>
          <p:cNvSpPr txBox="1"/>
          <p:nvPr/>
        </p:nvSpPr>
        <p:spPr bwMode="auto">
          <a:xfrm>
            <a:off x="402748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Product manager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Telegram: @IrinaZhivova</a:t>
            </a:r>
            <a:endParaRPr/>
          </a:p>
        </p:txBody>
      </p:sp>
      <p:sp>
        <p:nvSpPr>
          <p:cNvPr id="74111567" name="Текст 8"/>
          <p:cNvSpPr txBox="1"/>
          <p:nvPr/>
        </p:nvSpPr>
        <p:spPr bwMode="auto">
          <a:xfrm>
            <a:off x="402748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>
                <a:solidFill>
                  <a:schemeClr val="accent5"/>
                </a:solidFill>
              </a:rPr>
              <a:t>Ирина</a:t>
            </a:r>
            <a:endParaRPr/>
          </a:p>
          <a:p>
            <a:pPr marL="0" indent="0">
              <a:buNone/>
              <a:defRPr/>
            </a:pPr>
            <a:r>
              <a:rPr lang="ru-RU" sz="1600">
                <a:solidFill>
                  <a:schemeClr val="accent5"/>
                </a:solidFill>
              </a:rPr>
              <a:t>Живова</a:t>
            </a:r>
            <a:endParaRPr/>
          </a:p>
        </p:txBody>
      </p:sp>
      <p:sp>
        <p:nvSpPr>
          <p:cNvPr id="199093803" name="Скругленный прямоугольник 58"/>
          <p:cNvSpPr/>
          <p:nvPr/>
        </p:nvSpPr>
        <p:spPr bwMode="auto">
          <a:xfrm>
            <a:off x="616051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30696585" name="Текст 8"/>
          <p:cNvSpPr txBox="1"/>
          <p:nvPr/>
        </p:nvSpPr>
        <p:spPr bwMode="auto">
          <a:xfrm>
            <a:off x="633280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Backend developer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Telegram: @sergey_in_job</a:t>
            </a:r>
            <a:endParaRPr/>
          </a:p>
        </p:txBody>
      </p:sp>
      <p:sp>
        <p:nvSpPr>
          <p:cNvPr id="1217255183" name="Текст 8"/>
          <p:cNvSpPr txBox="1"/>
          <p:nvPr/>
        </p:nvSpPr>
        <p:spPr bwMode="auto">
          <a:xfrm>
            <a:off x="633280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>
                <a:solidFill>
                  <a:schemeClr val="accent5"/>
                </a:solidFill>
              </a:rPr>
              <a:t>Сергей</a:t>
            </a:r>
            <a:endParaRPr/>
          </a:p>
          <a:p>
            <a:pPr marL="0" indent="0">
              <a:buNone/>
              <a:defRPr/>
            </a:pPr>
            <a:r>
              <a:rPr lang="ru-RU" sz="1600">
                <a:solidFill>
                  <a:schemeClr val="accent5"/>
                </a:solidFill>
              </a:rPr>
              <a:t>Емельянов</a:t>
            </a:r>
            <a:endParaRPr/>
          </a:p>
        </p:txBody>
      </p:sp>
      <p:sp>
        <p:nvSpPr>
          <p:cNvPr id="1094121021" name="Скругленный прямоугольник 61"/>
          <p:cNvSpPr/>
          <p:nvPr/>
        </p:nvSpPr>
        <p:spPr bwMode="auto">
          <a:xfrm>
            <a:off x="8465838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27394055" name="Текст 8"/>
          <p:cNvSpPr txBox="1"/>
          <p:nvPr/>
        </p:nvSpPr>
        <p:spPr bwMode="auto">
          <a:xfrm>
            <a:off x="8638122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Аналитик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Telegram: @AlisaZhivova</a:t>
            </a:r>
            <a:endParaRPr/>
          </a:p>
        </p:txBody>
      </p:sp>
      <p:sp>
        <p:nvSpPr>
          <p:cNvPr id="688223502" name="Текст 8"/>
          <p:cNvSpPr txBox="1"/>
          <p:nvPr/>
        </p:nvSpPr>
        <p:spPr bwMode="auto">
          <a:xfrm>
            <a:off x="8638121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>
                <a:solidFill>
                  <a:schemeClr val="accent5"/>
                </a:solidFill>
              </a:rPr>
              <a:t>Алиса</a:t>
            </a:r>
            <a:endParaRPr/>
          </a:p>
          <a:p>
            <a:pPr marL="0" indent="0">
              <a:buNone/>
              <a:defRPr/>
            </a:pPr>
            <a:r>
              <a:rPr lang="ru-RU" sz="1600">
                <a:solidFill>
                  <a:schemeClr val="accent5"/>
                </a:solidFill>
              </a:rPr>
              <a:t>Живова</a:t>
            </a:r>
            <a:endParaRPr/>
          </a:p>
        </p:txBody>
      </p:sp>
      <p:sp>
        <p:nvSpPr>
          <p:cNvPr id="2137008208" name="Скругленный прямоугольник 16"/>
          <p:cNvSpPr/>
          <p:nvPr/>
        </p:nvSpPr>
        <p:spPr bwMode="auto">
          <a:xfrm>
            <a:off x="1549883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3083957" name="Скругленный прямоугольник 12"/>
          <p:cNvSpPr/>
          <p:nvPr/>
        </p:nvSpPr>
        <p:spPr bwMode="auto">
          <a:xfrm>
            <a:off x="346075" y="324562"/>
            <a:ext cx="21945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16536657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pic>
        <p:nvPicPr>
          <p:cNvPr id="1614199069" name="Рисунок 1" descr="avatar1.pn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l="83" r="83"/>
          <a:stretch>
            <a:fillRect/>
          </a:stretch>
        </p:blipFill>
        <p:spPr>
          <a:xfrm>
            <a:off x="1785204" y="1816054"/>
            <a:ext cx="1722566" cy="1552901"/>
          </a:xfrm>
        </p:spPr>
      </p:pic>
      <p:pic>
        <p:nvPicPr>
          <p:cNvPr id="942313662" name="Рисунок 2" descr="avatar2.pn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255" b="255"/>
          <a:stretch>
            <a:fillRect/>
          </a:stretch>
        </p:blipFill>
        <p:spPr>
          <a:xfrm>
            <a:off x="4090274" y="1826554"/>
            <a:ext cx="1722566" cy="1542401"/>
          </a:xfrm>
        </p:spPr>
      </p:pic>
      <p:pic>
        <p:nvPicPr>
          <p:cNvPr id="1224475940" name="Рисунок 3" descr="avatar3.png"/>
          <p:cNvPicPr>
            <a:picLocks noGrp="1" noChangeAspect="1"/>
          </p:cNvPicPr>
          <p:nvPr>
            <p:ph type="pic" sz="quarter" idx="4294967295"/>
          </p:nvPr>
        </p:nvPicPr>
        <p:blipFill>
          <a:blip r:embed="rId6"/>
          <a:srcRect l="302" r="302"/>
          <a:stretch>
            <a:fillRect/>
          </a:stretch>
        </p:blipFill>
        <p:spPr>
          <a:xfrm>
            <a:off x="6395591" y="1809238"/>
            <a:ext cx="1722567" cy="1559717"/>
          </a:xfrm>
        </p:spPr>
      </p:pic>
      <p:pic>
        <p:nvPicPr>
          <p:cNvPr id="169339798" name="Рисунок 4" descr="avatar4.png"/>
          <p:cNvPicPr>
            <a:picLocks noGrp="1" noChangeAspect="1"/>
          </p:cNvPicPr>
          <p:nvPr>
            <p:ph type="pic" sz="quarter" idx="4294967295"/>
          </p:nvPr>
        </p:nvPicPr>
        <p:blipFill>
          <a:blip r:embed="rId7"/>
          <a:srcRect l="302" r="302"/>
          <a:stretch>
            <a:fillRect/>
          </a:stretch>
        </p:blipFill>
        <p:spPr>
          <a:xfrm>
            <a:off x="8724015" y="1809238"/>
            <a:ext cx="1722567" cy="1559717"/>
          </a:xfrm>
        </p:spPr>
      </p:pic>
      <p:sp>
        <p:nvSpPr>
          <p:cNvPr id="1210655799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>
                <a:latin typeface="Montserrat"/>
              </a:rP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52492066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1722167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Product manager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Telegram: @iakov_is</a:t>
            </a:r>
            <a:endParaRPr/>
          </a:p>
        </p:txBody>
      </p:sp>
      <p:sp>
        <p:nvSpPr>
          <p:cNvPr id="918106529" name="Текст 8"/>
          <p:cNvSpPr txBox="1"/>
          <p:nvPr/>
        </p:nvSpPr>
        <p:spPr bwMode="auto">
          <a:xfrm>
            <a:off x="1722166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>
                <a:solidFill>
                  <a:schemeClr val="accent5"/>
                </a:solidFill>
              </a:rPr>
              <a:t>Яков</a:t>
            </a:r>
            <a:endParaRPr/>
          </a:p>
          <a:p>
            <a:pPr marL="0" indent="0">
              <a:buNone/>
              <a:defRPr/>
            </a:pPr>
            <a:r>
              <a:rPr lang="ru-RU" sz="1600">
                <a:solidFill>
                  <a:schemeClr val="accent5"/>
                </a:solidFill>
              </a:rPr>
              <a:t>Дятлов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303606" name="Скругленный прямоугольник 1"/>
          <p:cNvSpPr/>
          <p:nvPr/>
        </p:nvSpPr>
        <p:spPr bwMode="auto">
          <a:xfrm>
            <a:off x="346075" y="324562"/>
            <a:ext cx="405993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77794155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047416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>
                <a:latin typeface="Montserrat"/>
              </a:rPr>
              <a:t>О КОМАНДЕ И ЗАДАЧЕ</a:t>
            </a:r>
            <a:endParaRPr lang="ru-RU">
              <a:latin typeface="Montserrat"/>
            </a:endParaRPr>
          </a:p>
        </p:txBody>
      </p:sp>
      <p:sp>
        <p:nvSpPr>
          <p:cNvPr id="498730998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 sz="1300">
                <a:solidFill>
                  <a:schemeClr val="tx1"/>
                </a:solidFill>
              </a:rPr>
              <a:t>Собрались под трек ФСП: продукт, аналитика и разработка. С первого часа работали как продуктовая команда — задачи и критерии в Linear, каждый результат сразу на стенде.</a:t>
            </a:r>
            <a:endParaRPr/>
          </a:p>
        </p:txBody>
      </p:sp>
      <p:sp>
        <p:nvSpPr>
          <p:cNvPr id="117205049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74008993" name="Текст 8"/>
          <p:cNvSpPr txBox="1"/>
          <p:nvPr/>
        </p:nvSpPr>
        <p:spPr bwMode="auto">
          <a:xfrm>
            <a:off x="533607" y="5139255"/>
            <a:ext cx="10241280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300">
                <a:solidFill>
                  <a:schemeClr val="tx1"/>
                </a:solidFill>
              </a:rPr>
              <a:t>Объективный тест без разметки: задания-генераторы, модель Раша и проверка на синтетических кандидатах.</a:t>
            </a:r>
            <a:endParaRPr lang="en-US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 sz="1300">
                <a:solidFill>
                  <a:schemeClr val="tx1"/>
                </a:solidFill>
              </a:rPr>
              <a:t>Безопасный запуск чужого кода в Arena: песочница Landlock + seccomp без сети и новых процессов.</a:t>
            </a:r>
            <a:endParaRPr/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 sz="1300">
                <a:solidFill>
                  <a:schemeClr val="tx1"/>
                </a:solidFill>
              </a:rPr>
              <a:t>Нет API ФСП: интерфейс FspProvider, эмулятор реестра и OIDC-вход ФСП ID с тестовым провайдером.</a:t>
            </a:r>
            <a:endParaRPr/>
          </a:p>
        </p:txBody>
      </p:sp>
      <p:sp>
        <p:nvSpPr>
          <p:cNvPr id="1794633205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14443427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200">
                <a:solidFill>
                  <a:schemeClr val="tx1"/>
                </a:solidFill>
              </a:rPr>
              <a:t>Задача соединяет найм ИТ-специалистов и спортивное программирование. Победа в соревновании — сильный сигнал навыка, но рынок труда его не видит, а резюме уровень не подтверждает.</a:t>
            </a:r>
            <a:endParaRPr/>
          </a:p>
        </p:txBody>
      </p:sp>
      <p:sp>
        <p:nvSpPr>
          <p:cNvPr id="213097090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251539420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59563110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41745035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7321826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270752830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728963888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137872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67869406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41403403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79136807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79130204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FastAPI + React, PostgreSQL, Redis; стенд hyrekit.ru в Yandex Cloud</a:t>
            </a:r>
            <a:endParaRPr/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Тест: 36 генераторов заданий по 14 темам, оценка θ по модели Раша</a:t>
            </a:r>
            <a:endParaRPr/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Подбор: балл 0–100 из пяти компонентов с объяснением</a:t>
            </a:r>
            <a:endParaRPr/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Code Arena: код на Python и JavaScript в песочнице, автопроверка, рейтинг Glicko-2</a:t>
            </a:r>
            <a:endParaRPr/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LLM: GigaChat, резерв YandexGPT, без ключей — правила</a:t>
            </a:r>
            <a:endParaRPr/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ФСП ID по OpenID Connect + PKCE</a:t>
            </a:r>
            <a:endParaRPr/>
          </a:p>
        </p:txBody>
      </p:sp>
      <p:sp>
        <p:nvSpPr>
          <p:cNvPr id="111290938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Обратный найм: работодатель находит кандидата, а не наоборот</a:t>
            </a:r>
            <a:endParaRPr/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Зарплата в каждом приглашении, контакты — только после согласия</a:t>
            </a:r>
            <a:endParaRPr/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Кандидату бесплатно: тест, категория, PDF-профиль, разбор ошибок</a:t>
            </a:r>
            <a:endParaRPr/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Работодателю — подборка проверенных кандидатов вместо сотен откликов</a:t>
            </a:r>
            <a:endParaRPr/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Для ФСП — канал трудоустройства участников и раунды компаний в Arena</a:t>
            </a:r>
            <a:endParaRPr/>
          </a:p>
        </p:txBody>
      </p:sp>
      <p:sp>
        <p:nvSpPr>
          <p:cNvPr id="221594254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015139144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1046193471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364081" name="Прямоугольник 29"/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49544422" name="Объект 28"/>
          <p:cNvSpPr>
            <a:spLocks noGrp="1"/>
          </p:cNvSpPr>
          <p:nvPr>
            <p:ph idx="1"/>
          </p:nvPr>
        </p:nvSpPr>
        <p:spPr bwMode="auto">
          <a:xfrm>
            <a:off x="521133" y="1263123"/>
            <a:ext cx="5574868" cy="4937652"/>
          </a:xfrm>
        </p:spPr>
        <p:txBody>
          <a:bodyPr/>
          <a:lstStyle/>
          <a:p>
            <a:pPr>
              <a:defRPr/>
            </a:pPr>
            <a:r>
              <a:rPr lang="ru-RU" b="1" sz="1500">
                <a:solidFill>
                  <a:schemeClr val="tx1"/>
                </a:solidFill>
              </a:rPr>
              <a:t>Нагрузка:</a:t>
            </a:r>
            <a:r>
              <a:rPr lang="ru-RU" sz="1500">
                <a:solidFill>
                  <a:schemeClr val="tx1"/>
                </a:solidFill>
              </a:rPr>
              <a:t> 10 пользователей — 378 запросов/с, p95 ≤ 65 мс; 50 пользователей — 210 запросов/с, 0 ошибок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sz="1500">
                <a:solidFill>
                  <a:schemeClr val="tx1"/>
                </a:solidFill>
              </a:rPr>
              <a:t>Code Arena:</a:t>
            </a:r>
            <a:r>
              <a:rPr lang="ru-RU" sz="1500">
                <a:solidFill>
                  <a:schemeClr val="tx1"/>
                </a:solidFill>
              </a:rPr>
              <a:t> 50 одновременных отправок без ошибок; тест в песочнице ≤ 220 мс при лимите 2 с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sz="1500">
                <a:solidFill>
                  <a:schemeClr val="tx1"/>
                </a:solidFill>
              </a:rPr>
              <a:t>Тесты:</a:t>
            </a:r>
            <a:r>
              <a:rPr lang="ru-RU" sz="1500">
                <a:solidFill>
                  <a:schemeClr val="tx1"/>
                </a:solidFill>
              </a:rPr>
              <a:t> 274 теста бэкенда (покрытие 83 %), 39 тестов фронтенда, браузерный e2e — 23 шага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sz="1500">
                <a:solidFill>
                  <a:schemeClr val="tx1"/>
                </a:solidFill>
              </a:rPr>
              <a:t>CI на каждый PR:</a:t>
            </a:r>
            <a:r>
              <a:rPr lang="ru-RU" sz="1500">
                <a:solidFill>
                  <a:schemeClr val="tx1"/>
                </a:solidFill>
              </a:rPr>
              <a:t> линтер, тесты, валидация методики, актуальность OpenAPI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sz="1500">
                <a:solidFill>
                  <a:schemeClr val="tx1"/>
                </a:solidFill>
              </a:rPr>
              <a:t>152-ФЗ:</a:t>
            </a:r>
            <a:r>
              <a:rPr lang="ru-RU" sz="1500">
                <a:solidFill>
                  <a:schemeClr val="tx1"/>
                </a:solidFill>
              </a:rPr>
              <a:t> журнал согласий, псевдоним до раскрытия, контакты только после согласия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sz="1500">
                <a:solidFill>
                  <a:schemeClr val="tx1"/>
                </a:solidFill>
              </a:rPr>
              <a:t>Прод:</a:t>
            </a:r>
            <a:r>
              <a:rPr lang="ru-RU" sz="1500">
                <a:solidFill>
                  <a:schemeClr val="tx1"/>
                </a:solidFill>
              </a:rPr>
              <a:t> hyrekit.ru в Yandex Cloud, ежедневные снимки диска, дымовая проверка после выкатки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3084168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12</a:t>
            </a:fld>
            <a:endParaRPr lang="ru-RU"/>
          </a:p>
        </p:txBody>
      </p:sp>
      <p:sp>
        <p:nvSpPr>
          <p:cNvPr id="1035099804" name="Заголовок 27"/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/>
          <a:lstStyle/>
          <a:p>
            <a:pPr>
              <a:defRPr/>
            </a:pPr>
            <a:r>
              <a:rPr lang="ru-RU" sz="2000">
                <a:solidFill>
                  <a:schemeClr val="accent5"/>
                </a:solidFill>
              </a:rPr>
              <a:t>НАДЁЖНОСТЬ И КАЧЕСТВО</a:t>
            </a:r>
            <a:endParaRPr lang="ru-RU" sz="20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4916152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0415483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361738264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/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АРХИТЕКТУРА</a:t>
            </a:r>
            <a:endParaRPr lang="ru-RU" sz="3600">
              <a:solidFill>
                <a:schemeClr val="bg1"/>
              </a:solidFill>
            </a:endParaRPr>
          </a:p>
        </p:txBody>
      </p:sp>
      <p:sp>
        <p:nvSpPr>
          <p:cNvPr id="1550415484" name="Rounded Rectangle 1550415483"/>
          <p:cNvSpPr/>
          <p:nvPr/>
        </p:nvSpPr>
        <p:spPr>
          <a:xfrm>
            <a:off x="640080" y="1600200"/>
            <a:ext cx="2011680" cy="868680"/>
          </a:xfrm>
          <a:prstGeom prst="roundRect">
            <a:avLst>
              <a:gd name="adj" fmla="val 12631"/>
            </a:avLst>
          </a:prstGeom>
          <a:solidFill>
            <a:srgbClr val="8A8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485" name="TextBox 1550415484"/>
          <p:cNvSpPr txBox="1"/>
          <p:nvPr/>
        </p:nvSpPr>
        <p:spPr>
          <a:xfrm>
            <a:off x="731519" y="1655064"/>
            <a:ext cx="1828800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</a:rPr>
              <a:t>Браузер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FFFFFF"/>
                </a:solidFill>
              </a:rPr>
              <a:t>React SPA, оба кабинета</a:t>
            </a:r>
          </a:p>
        </p:txBody>
      </p:sp>
      <p:sp>
        <p:nvSpPr>
          <p:cNvPr id="1550415486" name="Rounded Rectangle 1550415485"/>
          <p:cNvSpPr/>
          <p:nvPr/>
        </p:nvSpPr>
        <p:spPr>
          <a:xfrm>
            <a:off x="3108960" y="1600200"/>
            <a:ext cx="2011680" cy="868680"/>
          </a:xfrm>
          <a:prstGeom prst="roundRect">
            <a:avLst>
              <a:gd name="adj" fmla="val 12631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487" name="TextBox 1550415486"/>
          <p:cNvSpPr txBox="1"/>
          <p:nvPr/>
        </p:nvSpPr>
        <p:spPr>
          <a:xfrm>
            <a:off x="3200400" y="1655064"/>
            <a:ext cx="1828800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</a:rPr>
              <a:t>Caddy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FFFFFF"/>
                </a:solidFill>
              </a:rPr>
              <a:t>HTTPS, Let’s Encrypt</a:t>
            </a:r>
          </a:p>
        </p:txBody>
      </p:sp>
      <p:sp>
        <p:nvSpPr>
          <p:cNvPr id="1550415488" name="Rounded Rectangle 1550415487"/>
          <p:cNvSpPr/>
          <p:nvPr/>
        </p:nvSpPr>
        <p:spPr>
          <a:xfrm>
            <a:off x="5577840" y="1600200"/>
            <a:ext cx="2011680" cy="868680"/>
          </a:xfrm>
          <a:prstGeom prst="roundRect">
            <a:avLst>
              <a:gd name="adj" fmla="val 12631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489" name="TextBox 1550415488"/>
          <p:cNvSpPr txBox="1"/>
          <p:nvPr/>
        </p:nvSpPr>
        <p:spPr>
          <a:xfrm>
            <a:off x="5669279" y="1655064"/>
            <a:ext cx="1828800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</a:rPr>
              <a:t>nginx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FFFFFF"/>
                </a:solidFill>
              </a:rPr>
              <a:t>статика + /api</a:t>
            </a:r>
          </a:p>
        </p:txBody>
      </p:sp>
      <p:sp>
        <p:nvSpPr>
          <p:cNvPr id="1550415490" name="Rounded Rectangle 1550415489"/>
          <p:cNvSpPr/>
          <p:nvPr/>
        </p:nvSpPr>
        <p:spPr>
          <a:xfrm>
            <a:off x="8046720" y="1554480"/>
            <a:ext cx="3474720" cy="960120"/>
          </a:xfrm>
          <a:prstGeom prst="roundRect">
            <a:avLst>
              <a:gd name="adj" fmla="val 11428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491" name="TextBox 1550415490"/>
          <p:cNvSpPr txBox="1"/>
          <p:nvPr/>
        </p:nvSpPr>
        <p:spPr>
          <a:xfrm>
            <a:off x="8138160" y="1609344"/>
            <a:ext cx="3291839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</a:rPr>
              <a:t>FastAPI — модульный монолит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FFFFFF"/>
                </a:solidFill>
              </a:rPr>
              <a:t>auth · candidates · assessment · matching · arena · fsp · llm</a:t>
            </a:r>
          </a:p>
        </p:txBody>
      </p:sp>
      <p:cxnSp>
        <p:nvCxnSpPr>
          <p:cNvPr id="1550415492" name="Connector 1550415491"/>
          <p:cNvCxnSpPr/>
          <p:nvPr/>
        </p:nvCxnSpPr>
        <p:spPr>
          <a:xfrm>
            <a:off x="2651760" y="2034540"/>
            <a:ext cx="457200" cy="0"/>
          </a:xfrm>
          <a:prstGeom prst="line">
            <a:avLst/>
          </a:prstGeom>
          <a:ln w="19050">
            <a:solidFill>
              <a:srgbClr val="6B6C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0415493" name="Connector 1550415492"/>
          <p:cNvCxnSpPr/>
          <p:nvPr/>
        </p:nvCxnSpPr>
        <p:spPr>
          <a:xfrm>
            <a:off x="5120640" y="2034540"/>
            <a:ext cx="457200" cy="0"/>
          </a:xfrm>
          <a:prstGeom prst="line">
            <a:avLst/>
          </a:prstGeom>
          <a:ln w="19050">
            <a:solidFill>
              <a:srgbClr val="6B6C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0415494" name="Connector 1550415493"/>
          <p:cNvCxnSpPr/>
          <p:nvPr/>
        </p:nvCxnSpPr>
        <p:spPr>
          <a:xfrm>
            <a:off x="7589520" y="2034540"/>
            <a:ext cx="457200" cy="0"/>
          </a:xfrm>
          <a:prstGeom prst="line">
            <a:avLst/>
          </a:prstGeom>
          <a:ln w="19050">
            <a:solidFill>
              <a:srgbClr val="6B6C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0415495" name="Rounded Rectangle 1550415494"/>
          <p:cNvSpPr/>
          <p:nvPr/>
        </p:nvSpPr>
        <p:spPr>
          <a:xfrm>
            <a:off x="640080" y="3246120"/>
            <a:ext cx="2103120" cy="868680"/>
          </a:xfrm>
          <a:prstGeom prst="roundRect">
            <a:avLst>
              <a:gd name="adj" fmla="val 12631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496" name="TextBox 1550415495"/>
          <p:cNvSpPr txBox="1"/>
          <p:nvPr/>
        </p:nvSpPr>
        <p:spPr>
          <a:xfrm>
            <a:off x="731519" y="3300984"/>
            <a:ext cx="1920239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</a:rPr>
              <a:t>PostgreSQL 16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FFFFFF"/>
                </a:solidFill>
              </a:rPr>
              <a:t>данные</a:t>
            </a:r>
          </a:p>
        </p:txBody>
      </p:sp>
      <p:sp>
        <p:nvSpPr>
          <p:cNvPr id="1550415497" name="Rounded Rectangle 1550415496"/>
          <p:cNvSpPr/>
          <p:nvPr/>
        </p:nvSpPr>
        <p:spPr>
          <a:xfrm>
            <a:off x="2971800" y="3246120"/>
            <a:ext cx="2103120" cy="868680"/>
          </a:xfrm>
          <a:prstGeom prst="roundRect">
            <a:avLst>
              <a:gd name="adj" fmla="val 12631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498" name="TextBox 1550415497"/>
          <p:cNvSpPr txBox="1"/>
          <p:nvPr/>
        </p:nvSpPr>
        <p:spPr>
          <a:xfrm>
            <a:off x="3063240" y="3300984"/>
            <a:ext cx="1920239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</a:rPr>
              <a:t>Redis 7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FFFFFF"/>
                </a:solidFill>
              </a:rPr>
              <a:t>лимиты</a:t>
            </a:r>
          </a:p>
        </p:txBody>
      </p:sp>
      <p:sp>
        <p:nvSpPr>
          <p:cNvPr id="1550415499" name="Rounded Rectangle 1550415498"/>
          <p:cNvSpPr/>
          <p:nvPr/>
        </p:nvSpPr>
        <p:spPr>
          <a:xfrm>
            <a:off x="5303520" y="3246120"/>
            <a:ext cx="2103120" cy="868680"/>
          </a:xfrm>
          <a:prstGeom prst="roundRect">
            <a:avLst>
              <a:gd name="adj" fmla="val 12631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500" name="TextBox 1550415499"/>
          <p:cNvSpPr txBox="1"/>
          <p:nvPr/>
        </p:nvSpPr>
        <p:spPr>
          <a:xfrm>
            <a:off x="5394959" y="3300984"/>
            <a:ext cx="1920239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</a:rPr>
              <a:t>Песочница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FFFFFF"/>
                </a:solidFill>
              </a:rPr>
              <a:t>Landlock + seccomp</a:t>
            </a:r>
          </a:p>
        </p:txBody>
      </p:sp>
      <p:sp>
        <p:nvSpPr>
          <p:cNvPr id="1550415501" name="Rounded Rectangle 1550415500"/>
          <p:cNvSpPr/>
          <p:nvPr/>
        </p:nvSpPr>
        <p:spPr>
          <a:xfrm>
            <a:off x="7635240" y="3246120"/>
            <a:ext cx="2103120" cy="868680"/>
          </a:xfrm>
          <a:prstGeom prst="roundRect">
            <a:avLst>
              <a:gd name="adj" fmla="val 12631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502" name="TextBox 1550415501"/>
          <p:cNvSpPr txBox="1"/>
          <p:nvPr/>
        </p:nvSpPr>
        <p:spPr>
          <a:xfrm>
            <a:off x="7726679" y="3300984"/>
            <a:ext cx="1920239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</a:rPr>
              <a:t>SMTP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FFFFFF"/>
                </a:solidFill>
              </a:rPr>
              <a:t>подтверждение почты</a:t>
            </a:r>
          </a:p>
        </p:txBody>
      </p:sp>
      <p:sp>
        <p:nvSpPr>
          <p:cNvPr id="1550415503" name="Rounded Rectangle 1550415502"/>
          <p:cNvSpPr/>
          <p:nvPr/>
        </p:nvSpPr>
        <p:spPr>
          <a:xfrm>
            <a:off x="640080" y="4846320"/>
            <a:ext cx="2103120" cy="868680"/>
          </a:xfrm>
          <a:prstGeom prst="roundRect">
            <a:avLst>
              <a:gd name="adj" fmla="val 12631"/>
            </a:avLst>
          </a:prstGeom>
          <a:solidFill>
            <a:srgbClr val="F4EEF8"/>
          </a:solidFill>
          <a:ln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504" name="TextBox 1550415503"/>
          <p:cNvSpPr txBox="1"/>
          <p:nvPr/>
        </p:nvSpPr>
        <p:spPr>
          <a:xfrm>
            <a:off x="731519" y="4901183"/>
            <a:ext cx="1920239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D22"/>
                </a:solidFill>
              </a:rPr>
              <a:t>GigaChat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1C1D22"/>
                </a:solidFill>
              </a:rPr>
              <a:t>основная LLM</a:t>
            </a:r>
          </a:p>
        </p:txBody>
      </p:sp>
      <p:sp>
        <p:nvSpPr>
          <p:cNvPr id="1550415505" name="Rounded Rectangle 1550415504"/>
          <p:cNvSpPr/>
          <p:nvPr/>
        </p:nvSpPr>
        <p:spPr>
          <a:xfrm>
            <a:off x="2971800" y="4846320"/>
            <a:ext cx="2103120" cy="868680"/>
          </a:xfrm>
          <a:prstGeom prst="roundRect">
            <a:avLst>
              <a:gd name="adj" fmla="val 12631"/>
            </a:avLst>
          </a:prstGeom>
          <a:solidFill>
            <a:srgbClr val="F4EEF8"/>
          </a:solidFill>
          <a:ln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506" name="TextBox 1550415505"/>
          <p:cNvSpPr txBox="1"/>
          <p:nvPr/>
        </p:nvSpPr>
        <p:spPr>
          <a:xfrm>
            <a:off x="3063240" y="4901183"/>
            <a:ext cx="1920239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D22"/>
                </a:solidFill>
              </a:rPr>
              <a:t>YandexGPT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1C1D22"/>
                </a:solidFill>
              </a:rPr>
              <a:t>резерв LLM</a:t>
            </a:r>
          </a:p>
        </p:txBody>
      </p:sp>
      <p:sp>
        <p:nvSpPr>
          <p:cNvPr id="1550415507" name="Rounded Rectangle 1550415506"/>
          <p:cNvSpPr/>
          <p:nvPr/>
        </p:nvSpPr>
        <p:spPr>
          <a:xfrm>
            <a:off x="5303520" y="4846320"/>
            <a:ext cx="2103120" cy="868680"/>
          </a:xfrm>
          <a:prstGeom prst="roundRect">
            <a:avLst>
              <a:gd name="adj" fmla="val 12631"/>
            </a:avLst>
          </a:prstGeom>
          <a:solidFill>
            <a:srgbClr val="F4EEF8"/>
          </a:solidFill>
          <a:ln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508" name="TextBox 1550415507"/>
          <p:cNvSpPr txBox="1"/>
          <p:nvPr/>
        </p:nvSpPr>
        <p:spPr>
          <a:xfrm>
            <a:off x="5394959" y="4901183"/>
            <a:ext cx="1920239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D22"/>
                </a:solidFill>
              </a:rPr>
              <a:t>ФСП ID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1C1D22"/>
                </a:solidFill>
              </a:rPr>
              <a:t>OIDC + PKCE</a:t>
            </a:r>
          </a:p>
        </p:txBody>
      </p:sp>
      <p:sp>
        <p:nvSpPr>
          <p:cNvPr id="1550415509" name="Rounded Rectangle 1550415508"/>
          <p:cNvSpPr/>
          <p:nvPr/>
        </p:nvSpPr>
        <p:spPr>
          <a:xfrm>
            <a:off x="7635240" y="4846320"/>
            <a:ext cx="2103120" cy="868680"/>
          </a:xfrm>
          <a:prstGeom prst="roundRect">
            <a:avLst>
              <a:gd name="adj" fmla="val 12631"/>
            </a:avLst>
          </a:prstGeom>
          <a:solidFill>
            <a:srgbClr val="F4EEF8"/>
          </a:solidFill>
          <a:ln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510" name="TextBox 1550415509"/>
          <p:cNvSpPr txBox="1"/>
          <p:nvPr/>
        </p:nvSpPr>
        <p:spPr>
          <a:xfrm>
            <a:off x="7726679" y="4901183"/>
            <a:ext cx="1920239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D22"/>
                </a:solidFill>
              </a:rPr>
              <a:t>Реестр ФСП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1C1D22"/>
                </a:solidFill>
              </a:rPr>
              <a:t>FspProvider</a:t>
            </a:r>
          </a:p>
        </p:txBody>
      </p:sp>
      <p:cxnSp>
        <p:nvCxnSpPr>
          <p:cNvPr id="1550415511" name="Connector 1550415510"/>
          <p:cNvCxnSpPr/>
          <p:nvPr/>
        </p:nvCxnSpPr>
        <p:spPr>
          <a:xfrm>
            <a:off x="9784080" y="2514600"/>
            <a:ext cx="0" cy="3200400"/>
          </a:xfrm>
          <a:prstGeom prst="line">
            <a:avLst/>
          </a:prstGeom>
          <a:ln w="19050">
            <a:solidFill>
              <a:srgbClr val="6B6C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0415512" name="TextBox 1550415511"/>
          <p:cNvSpPr txBox="1"/>
          <p:nvPr/>
        </p:nvSpPr>
        <p:spPr>
          <a:xfrm>
            <a:off x="9921240" y="2926080"/>
            <a:ext cx="1920240" cy="2834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520978"/>
                </a:solidFill>
              </a:rPr>
              <a:t>Один сервер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1C1D22"/>
                </a:solidFill>
              </a:rPr>
              <a:t>ВМ Compute Cloud в Yandex Cloud, Docker Compose, образы в Container Registry, ежедневный снимок диска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200" b="1">
                <a:solidFill>
                  <a:srgbClr val="520978"/>
                </a:solidFill>
              </a:rPr>
              <a:t>Внешние сервисы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1C1D22"/>
                </a:solidFill>
              </a:rPr>
              <a:t>нижний ряд: при отказе работают резерв, эмулятор или правила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419048" name="Скругленный прямоугольник 8"/>
          <p:cNvSpPr/>
          <p:nvPr/>
        </p:nvSpPr>
        <p:spPr bwMode="auto"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33226037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14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919072065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415925"/>
          </a:xfrm>
        </p:spPr>
        <p:txBody>
          <a:bodyPr/>
          <a:lstStyle/>
          <a:p>
            <a:pPr>
              <a:defRPr/>
            </a:pPr>
            <a:r>
              <a:rPr lang="ru-RU" sz="2000">
                <a:solidFill>
                  <a:schemeClr val="accent5"/>
                </a:solidFill>
              </a:rPr>
              <a:t>ПОПРОБУЙТЕ САМИ</a:t>
            </a:r>
            <a:endParaRPr lang="ru-RU" sz="2000">
              <a:solidFill>
                <a:schemeClr val="accent5"/>
              </a:solidFill>
            </a:endParaRPr>
          </a:p>
        </p:txBody>
      </p:sp>
      <p:pic>
        <p:nvPicPr>
          <p:cNvPr id="2133195127" name="Рисунок 3" descr="qr-panel.pn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l="17" r="17"/>
          <a:stretch>
            <a:fillRect/>
          </a:stretch>
        </p:blipFill>
        <p:spPr>
          <a:xfrm>
            <a:off x="6096001" y="0"/>
            <a:ext cx="6096000" cy="6857999"/>
          </a:xfrm>
        </p:spPr>
      </p:pic>
      <p:sp>
        <p:nvSpPr>
          <p:cNvPr id="928178147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95433" y="1143695"/>
            <a:ext cx="4807840" cy="47173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b="1" sz="1700">
                <a:solidFill>
                  <a:schemeClr val="tx1"/>
                </a:solidFill>
              </a:rPr>
              <a:t>Стенд:</a:t>
            </a:r>
            <a:r>
              <a:rPr lang="ru-RU" sz="1700">
                <a:solidFill>
                  <a:schemeClr val="tx1"/>
                </a:solidFill>
              </a:rPr>
              <a:t> hyrekit.ru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b="1" sz="1700">
                <a:solidFill>
                  <a:schemeClr val="tx1"/>
                </a:solidFill>
              </a:rPr>
              <a:t>Экспресс-тест без регистрации:</a:t>
            </a:r>
            <a:r>
              <a:rPr lang="ru-RU" sz="1700">
                <a:solidFill>
                  <a:schemeClr val="tx1"/>
                </a:solidFill>
              </a:rPr>
              <a:t> hyrekit.ru/express — 5 заданий за 5 минут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b="1" sz="1700">
                <a:solidFill>
                  <a:schemeClr val="tx1"/>
                </a:solidFill>
              </a:rPr>
              <a:t>Работодатель:</a:t>
            </a:r>
            <a:r>
              <a:rPr lang="ru-RU" sz="1700">
                <a:solidFill>
                  <a:schemeClr val="tx1"/>
                </a:solidFill>
              </a:rPr>
              <a:t> employer@hyrekit.ru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b="1" sz="1700">
                <a:solidFill>
                  <a:schemeClr val="tx1"/>
                </a:solidFill>
              </a:rPr>
              <a:t>Кандидат:</a:t>
            </a:r>
            <a:r>
              <a:rPr lang="ru-RU" sz="1700">
                <a:solidFill>
                  <a:schemeClr val="tx1"/>
                </a:solidFill>
              </a:rPr>
              <a:t> candidate@hyrekit.ru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b="1" sz="1700">
                <a:solidFill>
                  <a:schemeClr val="tx1"/>
                </a:solidFill>
              </a:rPr>
              <a:t>Пароль:</a:t>
            </a:r>
            <a:r>
              <a:rPr lang="ru-RU" sz="1700">
                <a:solidFill>
                  <a:schemeClr val="tx1"/>
                </a:solidFill>
              </a:rPr>
              <a:t> HyreKit2026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b="1" sz="1700">
                <a:solidFill>
                  <a:schemeClr val="tx1"/>
                </a:solidFill>
              </a:rPr>
              <a:t>API:</a:t>
            </a:r>
            <a:r>
              <a:rPr lang="ru-RU" sz="1700">
                <a:solidFill>
                  <a:schemeClr val="tx1"/>
                </a:solidFill>
              </a:rPr>
              <a:t> hyrekit.ru/docs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b="1" sz="1700">
                <a:solidFill>
                  <a:schemeClr val="tx1"/>
                </a:solidFill>
              </a:rPr>
              <a:t>Код:</a:t>
            </a:r>
            <a:r>
              <a:rPr lang="ru-RU" sz="1700">
                <a:solidFill>
                  <a:schemeClr val="tx1"/>
                </a:solidFill>
              </a:rPr>
              <a:t> github.com/Fighter90/hyrekit_fsp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b="1" sz="1700">
                <a:solidFill>
                  <a:schemeClr val="tx1"/>
                </a:solidFill>
              </a:rPr>
              <a:t>Инструкция для жюри:</a:t>
            </a:r>
            <a:r>
              <a:rPr lang="ru-RU" sz="1700">
                <a:solidFill>
                  <a:schemeClr val="tx1"/>
                </a:solidFill>
              </a:rPr>
              <a:t> docs/jury.md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spcBef>
                <a:spcPts val="1800"/>
              </a:spcBef>
              <a:buNone/>
              <a:defRPr/>
            </a:pPr>
            <a:r>
              <a:rPr lang="ru-RU" b="1" sz="2000">
                <a:solidFill>
                  <a:srgbClr val="520978"/>
                </a:solidFill>
              </a:rPr>
              <a:t>Спасибо! Готовы ответить на вопросы.</a:t>
            </a:r>
            <a:endParaRPr lang="ru-RU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85195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>
              <a:defRPr/>
            </a:pPr>
            <a:r>
              <a:rPr lang="ru-RU" sz="2000">
                <a:solidFill>
                  <a:schemeClr val="accent5"/>
                </a:solidFill>
              </a:rPr>
              <a:t>БИЗНЕС И МАРКЕТИНГ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363261204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11155680" cy="712587"/>
          </a:xfrm>
        </p:spPr>
        <p:txBody>
          <a:bodyPr/>
          <a:lstStyle/>
          <a:p>
            <a:pPr>
              <a:defRPr/>
            </a:pPr>
            <a:r>
              <a:rPr lang="ru-RU" b="1" sz="1300">
                <a:solidFill>
                  <a:schemeClr val="tx1"/>
                </a:solidFill>
              </a:rPr>
              <a:t>Работодатель платит за результат:</a:t>
            </a:r>
            <a:r>
              <a:rPr lang="ru-RU" sz="1300">
                <a:solidFill>
                  <a:schemeClr val="tx1"/>
                </a:solidFill>
              </a:rPr>
              <a:t> подписка на подборки и плата за раскрытие контактов принявшего приглашение кандидата.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89047725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11155680" cy="712587"/>
          </a:xfrm>
        </p:spPr>
        <p:txBody>
          <a:bodyPr/>
          <a:lstStyle/>
          <a:p>
            <a:pPr>
              <a:defRPr/>
            </a:pPr>
            <a:r>
              <a:rPr lang="ru-RU" b="1" sz="1300">
                <a:solidFill>
                  <a:schemeClr val="tx1"/>
                </a:solidFill>
              </a:rPr>
              <a:t>Кандидату — бесплатно:</a:t>
            </a:r>
            <a:r>
              <a:rPr lang="ru-RU" sz="1300">
                <a:solidFill>
                  <a:schemeClr val="tx1"/>
                </a:solidFill>
              </a:rPr>
              <a:t> тест, категория, PDF-профиль, разбор ошибок и приглашения с зарплатой.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33087485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11155680" cy="712587"/>
          </a:xfrm>
        </p:spPr>
        <p:txBody>
          <a:bodyPr/>
          <a:lstStyle/>
          <a:p>
            <a:pPr>
              <a:defRPr/>
            </a:pPr>
            <a:r>
              <a:rPr lang="ru-RU" b="1" sz="1300">
                <a:solidFill>
                  <a:schemeClr val="tx1"/>
                </a:solidFill>
              </a:rPr>
              <a:t>Канал через ФСП:</a:t>
            </a:r>
            <a:r>
              <a:rPr lang="ru-RU" sz="1300">
                <a:solidFill>
                  <a:schemeClr val="tx1"/>
                </a:solidFill>
              </a:rPr>
              <a:t> участники соревнований приходят с подтверждённым профилем — без затрат на привлечение.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38723555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11155680" cy="712587"/>
          </a:xfrm>
        </p:spPr>
        <p:txBody>
          <a:bodyPr/>
          <a:lstStyle/>
          <a:p>
            <a:pPr>
              <a:defRPr/>
            </a:pPr>
            <a:r>
              <a:rPr lang="ru-RU" b="1" sz="1300">
                <a:solidFill>
                  <a:schemeClr val="tx1"/>
                </a:solidFill>
              </a:rPr>
              <a:t>Найм через задачу:</a:t>
            </a:r>
            <a:r>
              <a:rPr lang="ru-RU" sz="1300">
                <a:solidFill>
                  <a:schemeClr val="tx1"/>
                </a:solidFill>
              </a:rPr>
              <a:t> компании проводят свои раунды Code Arena и приглашают лучших прямо из таблицы.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34002390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11155680" cy="712587"/>
          </a:xfrm>
        </p:spPr>
        <p:txBody>
          <a:bodyPr/>
          <a:lstStyle/>
          <a:p>
            <a:pPr>
              <a:defRPr/>
            </a:pPr>
            <a:r>
              <a:rPr lang="ru-RU" b="1" sz="1300">
                <a:solidFill>
                  <a:schemeClr val="tx1"/>
                </a:solidFill>
              </a:rPr>
              <a:t>Дешёвая эксплуатация:</a:t>
            </a:r>
            <a:r>
              <a:rPr lang="ru-RU" sz="1300">
                <a:solidFill>
                  <a:schemeClr val="tx1"/>
                </a:solidFill>
              </a:rPr>
              <a:t> одна ВМ, Docker Compose, отечественные облако и модели.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89038638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15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613526618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20366626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4578540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08720826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09645614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569845" name="Скругленный прямоугольник 9"/>
          <p:cNvSpPr/>
          <p:nvPr/>
        </p:nvSpPr>
        <p:spPr bwMode="auto">
          <a:xfrm>
            <a:off x="346075" y="324562"/>
            <a:ext cx="256032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66135334" name="Скругленный прямоугольник 22"/>
          <p:cNvSpPr/>
          <p:nvPr/>
        </p:nvSpPr>
        <p:spPr bwMode="auto"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78487792" name="Скругленный прямоугольник 23"/>
          <p:cNvSpPr/>
          <p:nvPr/>
        </p:nvSpPr>
        <p:spPr bwMode="auto"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72335286" name="Скругленный прямоугольник 24"/>
          <p:cNvSpPr/>
          <p:nvPr/>
        </p:nvSpPr>
        <p:spPr bwMode="auto"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49603306" name="Скругленный прямоугольник 26"/>
          <p:cNvSpPr/>
          <p:nvPr/>
        </p:nvSpPr>
        <p:spPr bwMode="auto"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0471529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16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653950628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Backend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4306987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FastAPI, async SQLAlchemy, PostgreSQL 16, Redis 7, Alembic. Методика — чистые функции без базы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449512060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Frontend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52209309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React 19, TypeScript, Vite, CodeMirror. Адаптив от 360 px, фирменный стиль ФСП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5366265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LLM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59312141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GigaChat → YandexGPT → правила: разбор резюме, оценка заданий, разбор решений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35673556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Песочница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016739151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Landlock, seccomp, rlimit: без сети и новых процессов, 2 с и 256 МБ на тест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75053925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ТЕХНОЛОГИИ</a:t>
            </a:r>
            <a:endParaRPr lang="ru-RU"/>
          </a:p>
        </p:txBody>
      </p:sp>
      <p:sp>
        <p:nvSpPr>
          <p:cNvPr id="2017695717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01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10845727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771003" cy="403756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02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4200514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771003" cy="40391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564574875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1298020" name="Скругленный прямоугольник 7"/>
          <p:cNvSpPr/>
          <p:nvPr/>
        </p:nvSpPr>
        <p:spPr bwMode="auto"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99756032" name="Скругленный прямоугольник 8"/>
          <p:cNvSpPr/>
          <p:nvPr/>
        </p:nvSpPr>
        <p:spPr bwMode="auto"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82862879" name="Скругленный прямоугольник 9"/>
          <p:cNvSpPr/>
          <p:nvPr/>
        </p:nvSpPr>
        <p:spPr bwMode="auto"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3097482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340350921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493074"/>
            <a:ext cx="2965634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800">
                <a:solidFill>
                  <a:srgbClr val="F92571"/>
                </a:solidFill>
              </a:rPr>
              <a:t>Тест нельзя выучить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2038059990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Задания — генераторы. Шпаргалка из 200 попыток почти не помогает, статичный тест она ломает полностью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42246398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493074"/>
            <a:ext cx="303489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800">
                <a:solidFill>
                  <a:srgbClr val="F92571"/>
                </a:solidFill>
              </a:rPr>
              <a:t>Объяснимый балл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51555904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Пять компонентов с весами, причины и недостающий стек у каждого кандидата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40263726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493074"/>
            <a:ext cx="2945464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800">
                <a:solidFill>
                  <a:srgbClr val="F92571"/>
                </a:solidFill>
              </a:rPr>
              <a:t>Сигнал ФСП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95029424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ФСП ID подтверждает участника, достижения и рейтинг Code Arena входят в подбор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84625009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УНИКАЛЬНОСТЬ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71632005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1311031" cy="601141"/>
          </a:xfrm>
        </p:spPr>
        <p:txBody>
          <a:bodyPr/>
          <a:lstStyle/>
          <a:p>
            <a:pPr>
              <a:defRPr/>
            </a:pPr>
            <a:r>
              <a:rPr lang="ru-RU" sz="4400">
                <a:solidFill>
                  <a:schemeClr val="accent5"/>
                </a:solidFill>
              </a:rPr>
              <a:t>01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007726482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1311031" cy="572942"/>
          </a:xfrm>
        </p:spPr>
        <p:txBody>
          <a:bodyPr/>
          <a:lstStyle/>
          <a:p>
            <a:pPr>
              <a:defRPr/>
            </a:pPr>
            <a:r>
              <a:rPr lang="ru-RU" sz="4400">
                <a:solidFill>
                  <a:schemeClr val="accent5"/>
                </a:solidFill>
              </a:rPr>
              <a:t>02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529616915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1311031" cy="573165"/>
          </a:xfrm>
        </p:spPr>
        <p:txBody>
          <a:bodyPr/>
          <a:lstStyle/>
          <a:p>
            <a:pPr>
              <a:defRPr/>
            </a:pPr>
            <a:r>
              <a:rPr lang="ru-RU" sz="4400">
                <a:solidFill>
                  <a:schemeClr val="accent5"/>
                </a:solidFill>
              </a:rPr>
              <a:t>03</a:t>
            </a:r>
            <a:endParaRPr lang="ru-RU" sz="4400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9585735" name="Скругленный прямоугольник 22"/>
          <p:cNvSpPr/>
          <p:nvPr/>
        </p:nvSpPr>
        <p:spPr bwMode="auto">
          <a:xfrm>
            <a:off x="346075" y="324562"/>
            <a:ext cx="331012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0815294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1578508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Генераторы, а не вопросы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3429768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36 семейств по 14 темам: 23 собирают условие из случайных данных, ответ считает код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21281768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Равная сложность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2824802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5 тем × 2 задания; профиль сложности задан грейдом — один на 1 200 вариантов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66167299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Модель Раша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71191639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P(верно) = σ(θ − b); θ — оценка MAP с априорным N(cut(g), 1)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5582710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Пороги грейдов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714580888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cut(g) = order − 1,75: Intern −1,75 … Lead 2,25; коридор — 1 логит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82760884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Только большинство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318947528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6 верных из 10 (Intern — 5, Lead — 7), в экспресс-тесте 3 из 5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397893143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Грейд не понижается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272025898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Не сдал — совет уровнем ниже, уверенно сдал (+0,35) — выше; пересдача через 90 дней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6445766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МЕХАНИКА ТЕСТА</a:t>
            </a:r>
            <a:endParaRPr lang="ru-RU"/>
          </a:p>
        </p:txBody>
      </p:sp>
      <p:sp>
        <p:nvSpPr>
          <p:cNvPr id="1286860599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01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60899346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02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84567983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784020994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466494975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05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188466958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06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1987048" name="Скругленный прямоугольник 1"/>
          <p:cNvSpPr/>
          <p:nvPr/>
        </p:nvSpPr>
        <p:spPr bwMode="auto">
          <a:xfrm>
            <a:off x="346075" y="324562"/>
            <a:ext cx="256032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30749743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19</a:t>
            </a:fld>
            <a:endParaRPr lang="ru-RU">
              <a:solidFill>
                <a:schemeClr val="accent5"/>
              </a:solidFill>
            </a:endParaRPr>
          </a:p>
        </p:txBody>
      </p:sp>
      <p:pic>
        <p:nvPicPr>
          <p:cNvPr id="304001307" name="Рисунок 2" descr="arena-feedback.jpg"/>
          <p:cNvPicPr>
            <a:picLocks noGrp="1" noChangeAspect="1"/>
          </p:cNvPicPr>
          <p:nvPr>
            <p:ph type="pic" sz="quarter" idx="10"/>
          </p:nvPr>
        </p:nvPicPr>
        <p:blipFill>
          <a:blip r:embed="rId5"/>
          <a:srcRect t="23727" b="23727"/>
          <a:stretch>
            <a:fillRect/>
          </a:stretch>
        </p:blipFill>
        <p:spPr>
          <a:xfrm>
            <a:off x="7440147" y="1016001"/>
            <a:ext cx="4405777" cy="3078479"/>
          </a:xfrm>
        </p:spPr>
      </p:pic>
      <p:pic>
        <p:nvPicPr>
          <p:cNvPr id="1254799570" name="Рисунок 3" descr="arena-board.jpg"/>
          <p:cNvPicPr>
            <a:picLocks noGrp="1" noChangeAspect="1"/>
          </p:cNvPicPr>
          <p:nvPr>
            <p:ph type="pic" sz="quarter" idx="11"/>
          </p:nvPr>
        </p:nvPicPr>
        <p:blipFill>
          <a:blip r:embed="rId6"/>
          <a:srcRect t="8621" b="8621"/>
          <a:stretch>
            <a:fillRect/>
          </a:stretch>
        </p:blipFill>
        <p:spPr>
          <a:xfrm>
            <a:off x="7440149" y="4389108"/>
            <a:ext cx="4405775" cy="1811668"/>
          </a:xfrm>
        </p:spPr>
      </p:pic>
      <p:pic>
        <p:nvPicPr>
          <p:cNvPr id="232594802" name="Рисунок 4" descr="arena-editor.jpg"/>
          <p:cNvPicPr>
            <a:picLocks noGrp="1" noChangeAspect="1"/>
          </p:cNvPicPr>
          <p:nvPr>
            <p:ph type="pic" sz="quarter" idx="12"/>
          </p:nvPr>
        </p:nvPicPr>
        <p:blipFill>
          <a:blip r:embed="rId4"/>
          <a:srcRect t="15010" b="15010"/>
          <a:stretch>
            <a:fillRect/>
          </a:stretch>
        </p:blipFill>
        <p:spPr>
          <a:xfrm>
            <a:off x="346075" y="3223948"/>
            <a:ext cx="6806142" cy="2976827"/>
          </a:xfrm>
        </p:spPr>
      </p:pic>
      <p:sp>
        <p:nvSpPr>
          <p:cNvPr id="1979099497" name="Текст 5"/>
          <p:cNvSpPr>
            <a:spLocks noGrp="1"/>
          </p:cNvSpPr>
          <p:nvPr>
            <p:ph type="body" sz="quarter" idx="14"/>
          </p:nvPr>
        </p:nvSpPr>
        <p:spPr bwMode="auto"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pPr>
              <a:defRPr/>
            </a:pPr>
            <a:r>
              <a:rPr lang="ru-RU" b="1" sz="1100">
                <a:solidFill>
                  <a:schemeClr val="tx1"/>
                </a:solidFill>
              </a:rPr>
              <a:t>Задачи по коду в браузере</a:t>
            </a:r>
            <a:r>
              <a:rPr lang="ru-RU" sz="1100">
                <a:solidFill>
                  <a:schemeClr val="tx1"/>
                </a:solidFill>
              </a:rPr>
              <a:t> на Python и JavaScript: 8 задач трёх уровней, свой вариант у каждого.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sz="1100">
                <a:solidFill>
                  <a:schemeClr val="tx1"/>
                </a:solidFill>
              </a:rPr>
              <a:t>Автопроверка</a:t>
            </a:r>
            <a:r>
              <a:rPr lang="ru-RU" sz="1100">
                <a:solidFill>
                  <a:schemeClr val="tx1"/>
                </a:solidFill>
              </a:rPr>
              <a:t> на скрытых тестах в песочнице: вердикт и время по каждому тесту.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sz="1100">
                <a:solidFill>
                  <a:schemeClr val="tx1"/>
                </a:solidFill>
              </a:rPr>
              <a:t>Обратная связь:</a:t>
            </a:r>
            <a:r>
              <a:rPr lang="ru-RU" sz="1100">
                <a:solidFill>
                  <a:schemeClr val="tx1"/>
                </a:solidFill>
              </a:rPr>
              <a:t> разбор решения пишет GigaChat или YandexGPT, без ключей — правила.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sz="1100">
                <a:solidFill>
                  <a:schemeClr val="tx1"/>
                </a:solidFill>
              </a:rPr>
              <a:t>Рейтинг Glicko-2</a:t>
            </a:r>
            <a:r>
              <a:rPr lang="ru-RU" sz="1100">
                <a:solidFill>
                  <a:schemeClr val="tx1"/>
                </a:solidFill>
              </a:rPr>
              <a:t> и таблица раунда в реальном времени; раунды компаний для найма.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1211953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2775523" cy="376138"/>
          </a:xfrm>
        </p:spPr>
        <p:txBody>
          <a:bodyPr/>
          <a:lstStyle/>
          <a:p>
            <a:pPr>
              <a:defRPr/>
            </a:pPr>
            <a:r>
              <a:rPr lang="ru-RU"/>
              <a:t>CODE ARENA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2092809" name="Скругленный прямоугольник 1"/>
          <p:cNvSpPr/>
          <p:nvPr/>
        </p:nvSpPr>
        <p:spPr bwMode="auto">
          <a:xfrm>
            <a:off x="346075" y="324562"/>
            <a:ext cx="3310127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18189597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699627039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754832188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039480093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94976057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76266836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032318927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>
              <a:defRPr/>
            </a:pPr>
            <a:r>
              <a:rPr lang="ru-RU" sz="1600" b="1">
                <a:solidFill>
                  <a:schemeClr val="tx1"/>
                </a:solidFill>
              </a:rPr>
              <a:t>Что нужно от ФСП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 lang="ru-RU" sz="1300">
                <a:solidFill>
                  <a:schemeClr val="tx1"/>
                </a:solidFill>
              </a:rPr>
              <a:t>Доступ к Keycloak ФСП ID и API реестра достижений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 lang="ru-RU" sz="1300">
                <a:solidFill>
                  <a:schemeClr val="tx1"/>
                </a:solidFill>
              </a:rPr>
              <a:t>Пилотная группа участников соревнований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 lang="ru-RU" sz="1300">
                <a:solidFill>
                  <a:schemeClr val="tx1"/>
                </a:solidFill>
              </a:rPr>
              <a:t>Партнёры-работодатели для первых раундов Code Arena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spcBef>
                <a:spcPts val="1400"/>
              </a:spcBef>
              <a:defRPr/>
            </a:pPr>
            <a:r>
              <a:rPr lang="ru-RU" sz="1600" b="1">
                <a:solidFill>
                  <a:schemeClr val="tx1"/>
                </a:solidFill>
              </a:rPr>
              <a:t>Что получает ФСП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 lang="ru-RU" sz="1300">
                <a:solidFill>
                  <a:schemeClr val="tx1"/>
                </a:solidFill>
              </a:rPr>
              <a:t>Канал трудоустройства участников с подтверждённым уровнем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 lang="ru-RU" sz="1300">
                <a:solidFill>
                  <a:schemeClr val="tx1"/>
                </a:solidFill>
              </a:rPr>
              <a:t>Данные о спросе на навыки для программ подготовки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 lang="ru-RU" sz="1300">
                <a:solidFill>
                  <a:schemeClr val="tx1"/>
                </a:solidFill>
              </a:rPr>
              <a:t>Раунды Code Arena от компаний — новые соревнования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spcBef>
                <a:spcPts val="1400"/>
              </a:spcBef>
              <a:defRPr/>
            </a:pPr>
            <a:r>
              <a:rPr lang="ru-RU" sz="1600" b="1">
                <a:solidFill>
                  <a:schemeClr val="tx1"/>
                </a:solidFill>
              </a:rPr>
              <a:t>Метрики пилота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 lang="ru-RU" sz="1300">
                <a:solidFill>
                  <a:schemeClr val="tx1"/>
                </a:solidFill>
              </a:rPr>
              <a:t>Доля прошедших тест, приглашений на кандидата, принятых приглашений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709867102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 lang="ru-RU" b="1" sz="1200">
                <a:solidFill>
                  <a:schemeClr val="tx1"/>
                </a:solidFill>
              </a:rPr>
              <a:t>ФСП ID и реестр:</a:t>
            </a:r>
            <a:r>
              <a:rPr lang="ru-RU" sz="1200">
                <a:solidFill>
                  <a:schemeClr val="tx1"/>
                </a:solidFill>
              </a:rPr>
              <a:t> переключение переменными окружения, код не меняется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44455620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 lang="ru-RU" b="1" sz="1200">
                <a:solidFill>
                  <a:schemeClr val="tx1"/>
                </a:solidFill>
              </a:rPr>
              <a:t>Пилот:</a:t>
            </a:r>
            <a:r>
              <a:rPr lang="ru-RU" sz="1200">
                <a:solidFill>
                  <a:schemeClr val="tx1"/>
                </a:solidFill>
              </a:rPr>
              <a:t> калибровка трудности по реальным ответам — мониторинг утечек уже работает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48541156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 lang="ru-RU" b="1" sz="1200">
                <a:solidFill>
                  <a:schemeClr val="tx1"/>
                </a:solidFill>
              </a:rPr>
              <a:t>Адаптивный тест:</a:t>
            </a:r>
            <a:r>
              <a:rPr lang="ru-RU" sz="1200">
                <a:solidFill>
                  <a:schemeClr val="tx1"/>
                </a:solidFill>
              </a:rPr>
              <a:t> задание по текущей θ, остановка по точности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9121368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 lang="ru-RU" b="1" sz="1200">
                <a:solidFill>
                  <a:schemeClr val="tx1"/>
                </a:solidFill>
              </a:rPr>
              <a:t>Модерация работодателей:</a:t>
            </a:r>
            <a:r>
              <a:rPr lang="ru-RU" sz="1200">
                <a:solidFill>
                  <a:schemeClr val="tx1"/>
                </a:solidFill>
              </a:rPr>
              <a:t> проверка по ИНН, репутация, вилка против медианы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01995226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 lang="ru-RU" b="1" sz="1200">
                <a:solidFill>
                  <a:schemeClr val="tx1"/>
                </a:solidFill>
              </a:rPr>
              <a:t>ATS:</a:t>
            </a:r>
            <a:r>
              <a:rPr lang="ru-RU" sz="1200">
                <a:solidFill>
                  <a:schemeClr val="tx1"/>
                </a:solidFill>
              </a:rPr>
              <a:t> вебхуки с подписью, API-ключ компании, экспорт JSON Resume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6735973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63959839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ПЛАНЫ РАЗВИТИЯ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8010398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453814995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53996970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73996417" name="Скругленный прямоугольник 1"/>
          <p:cNvSpPr/>
          <p:nvPr/>
        </p:nvSpPr>
        <p:spPr bwMode="auto">
          <a:xfrm>
            <a:off x="346075" y="324562"/>
            <a:ext cx="405993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38577271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21</a:t>
            </a:fld>
            <a:endParaRPr lang="ru-RU"/>
          </a:p>
        </p:txBody>
      </p:sp>
      <p:sp>
        <p:nvSpPr>
          <p:cNvPr id="1252990650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2600">
                <a:solidFill>
                  <a:schemeClr val="tx1"/>
                </a:solidFill>
              </a:rPr>
              <a:t>3,0 %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1375069465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генеративных заданий раскрыто после слива 200 попыток с ответами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12101329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2600">
                <a:solidFill>
                  <a:schemeClr val="tx1"/>
                </a:solidFill>
              </a:rPr>
              <a:t>0,8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1478175661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раскрытых заданий в одной попытке из 10, в среднем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408547004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2600">
                <a:solidFill>
                  <a:schemeClr val="tx1"/>
                </a:solidFill>
              </a:rPr>
              <a:t>≤ 1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214696937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концептуальное задание в попытке; первое задание темы — всегда генеративное</a:t>
            </a:r>
            <a:endParaRPr lang="ru-RU">
              <a:solidFill>
                <a:schemeClr val="tx1"/>
              </a:solidFill>
            </a:endParaRPr>
          </a:p>
        </p:txBody>
      </p:sp>
      <p:graphicFrame>
        <p:nvGraphicFramePr>
          <p:cNvPr id="1802836279" name="Диаграмма 9"/>
          <p:cNvGraphicFramePr>
            <a:graphicFrameLocks xmlns:a="http://schemas.openxmlformats.org/drawingml/2006/main"/>
          </p:cNvGraphicFramePr>
          <p:nvPr/>
        </p:nvGraphicFramePr>
        <p:xfrm rot="0"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3266611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3785615" cy="376138"/>
          </a:xfrm>
        </p:spPr>
        <p:txBody>
          <a:bodyPr/>
          <a:lstStyle/>
          <a:p>
            <a:pPr>
              <a:defRPr/>
            </a:pPr>
            <a:r>
              <a:rPr lang="ru-RU"/>
              <a:t>УТЕЧКА НЕ ПОМОГАЕТ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521852" name="Скругленный прямоугольник 1"/>
          <p:cNvSpPr/>
          <p:nvPr/>
        </p:nvSpPr>
        <p:spPr bwMode="auto">
          <a:xfrm>
            <a:off x="346075" y="324562"/>
            <a:ext cx="368503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90589764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22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338232238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69,5 %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442496620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грейд по тесту совпадает с истинным; самооценка — 65,5 %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164011918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98,7 %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2081051805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ошибка не больше одной ступени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466767708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7,0 %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410398499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грейд завышен: работодатель не получит Junior вместо Middle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745550398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r = 0,83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111270175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согласованность θ двух независимых попыток, ошибка θ — 0,49 логита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1360161244" name="Диаграмма 11"/>
          <p:cNvGraphicFramePr>
            <a:graphicFrameLocks xmlns:a="http://schemas.openxmlformats.org/drawingml/2006/main"/>
          </p:cNvGraphicFramePr>
          <p:nvPr/>
        </p:nvGraphicFramePr>
        <p:xfrm rot="0"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0180968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ВАЛИДАЦИЯ ГРЕЙДА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3457330" name="Скругленный прямоугольник 1"/>
          <p:cNvSpPr/>
          <p:nvPr/>
        </p:nvSpPr>
        <p:spPr bwMode="auto">
          <a:xfrm>
            <a:off x="346075" y="324562"/>
            <a:ext cx="387248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898974139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6"/>
                </a:solidFill>
              </a:rPr>
              <a:t>23</a:t>
            </a:fld>
            <a:endParaRPr lang="ru-RU">
              <a:solidFill>
                <a:schemeClr val="accent6"/>
              </a:solidFill>
            </a:endParaRPr>
          </a:p>
        </p:txBody>
      </p:sp>
      <p:sp>
        <p:nvSpPr>
          <p:cNvPr id="1574993172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76590" y="1360288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6"/>
                </a:solidFill>
              </a:rPr>
              <a:t>0,90–0,96</a:t>
            </a:r>
            <a:endParaRPr lang="ru-RU" b="0">
              <a:solidFill>
                <a:schemeClr val="accent6"/>
              </a:solidFill>
            </a:endParaRPr>
          </a:p>
        </p:txBody>
      </p:sp>
      <p:sp>
        <p:nvSpPr>
          <p:cNvPr id="1632718589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76590" y="1739825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6"/>
                </a:solidFill>
              </a:rPr>
              <a:t>Precision@10 с подтверждённой категорией, 20 пулов по 150 кандидатов</a:t>
            </a:r>
            <a:endParaRPr lang="ru-RU">
              <a:solidFill>
                <a:schemeClr val="accent6"/>
              </a:solidFill>
            </a:endParaRPr>
          </a:p>
        </p:txBody>
      </p:sp>
      <p:sp>
        <p:nvSpPr>
          <p:cNvPr id="1339313146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76590" y="2628849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0,57–0,67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459702745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76590" y="3008386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поиск только по стеку, как на универсальных площадках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622911662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76590" y="389741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6"/>
                </a:solidFill>
              </a:rPr>
              <a:t>Причины</a:t>
            </a:r>
            <a:endParaRPr lang="ru-RU" b="0">
              <a:solidFill>
                <a:schemeClr val="accent6"/>
              </a:solidFill>
            </a:endParaRPr>
          </a:p>
        </p:txBody>
      </p:sp>
      <p:sp>
        <p:nvSpPr>
          <p:cNvPr id="197457055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76590" y="4276947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6"/>
                </a:solidFill>
              </a:rPr>
              <a:t>у каждого кандидата: за что балл и какого стека не хватает</a:t>
            </a:r>
            <a:endParaRPr lang="ru-RU">
              <a:solidFill>
                <a:schemeClr val="accent6"/>
              </a:solidFill>
            </a:endParaRPr>
          </a:p>
        </p:txBody>
      </p:sp>
      <p:sp>
        <p:nvSpPr>
          <p:cNvPr id="634044403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76590" y="5165972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Фильтры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032372002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76590" y="5545509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грейд, стек, город, формат, участники ФСП — без пересчёта балла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601470956" name="Диаграмма 11"/>
          <p:cNvGraphicFramePr>
            <a:graphicFrameLocks xmlns:a="http://schemas.openxmlformats.org/drawingml/2006/main"/>
          </p:cNvGraphicFramePr>
          <p:nvPr/>
        </p:nvGraphicFramePr>
        <p:xfrm rot="0">
          <a:off x="625096" y="1360288"/>
          <a:ext cx="5125748" cy="4385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0312354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ОБЪЯСНИМЫЙ ПОДБОР</a:t>
            </a:r>
            <a:endParaRPr lang="ru-RU"/>
          </a:p>
        </p:txBody>
      </p:sp>
      <p:sp>
        <p:nvSpPr>
          <p:cNvPr id="2103457331" name="Rounded Rectangle 2103457330"/>
          <p:cNvSpPr/>
          <p:nvPr/>
        </p:nvSpPr>
        <p:spPr>
          <a:xfrm>
            <a:off x="411480" y="5870448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3457332" name="TextBox 2103457331"/>
          <p:cNvSpPr txBox="1"/>
          <p:nvPr/>
        </p:nvSpPr>
        <p:spPr>
          <a:xfrm>
            <a:off x="630936" y="5815584"/>
            <a:ext cx="11887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</a:rPr>
              <a:t>Категория</a:t>
            </a:r>
          </a:p>
        </p:txBody>
      </p:sp>
      <p:sp>
        <p:nvSpPr>
          <p:cNvPr id="2103457333" name="Rounded Rectangle 2103457332"/>
          <p:cNvSpPr/>
          <p:nvPr/>
        </p:nvSpPr>
        <p:spPr>
          <a:xfrm>
            <a:off x="1600200" y="5870448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3457334" name="TextBox 2103457333"/>
          <p:cNvSpPr txBox="1"/>
          <p:nvPr/>
        </p:nvSpPr>
        <p:spPr>
          <a:xfrm>
            <a:off x="1819656" y="5815584"/>
            <a:ext cx="11887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</a:rPr>
              <a:t>Стек</a:t>
            </a:r>
          </a:p>
        </p:txBody>
      </p:sp>
      <p:sp>
        <p:nvSpPr>
          <p:cNvPr id="2103457335" name="Rounded Rectangle 2103457334"/>
          <p:cNvSpPr/>
          <p:nvPr/>
        </p:nvSpPr>
        <p:spPr>
          <a:xfrm>
            <a:off x="2788920" y="5870448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8A8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3457336" name="TextBox 2103457335"/>
          <p:cNvSpPr txBox="1"/>
          <p:nvPr/>
        </p:nvSpPr>
        <p:spPr>
          <a:xfrm>
            <a:off x="3008376" y="5815584"/>
            <a:ext cx="11887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</a:rPr>
              <a:t>Тест</a:t>
            </a:r>
          </a:p>
        </p:txBody>
      </p:sp>
      <p:sp>
        <p:nvSpPr>
          <p:cNvPr id="2103457337" name="Rounded Rectangle 2103457336"/>
          <p:cNvSpPr/>
          <p:nvPr/>
        </p:nvSpPr>
        <p:spPr>
          <a:xfrm>
            <a:off x="3977640" y="5870448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FC3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3457338" name="TextBox 2103457337"/>
          <p:cNvSpPr txBox="1"/>
          <p:nvPr/>
        </p:nvSpPr>
        <p:spPr>
          <a:xfrm>
            <a:off x="4197096" y="5815584"/>
            <a:ext cx="11887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</a:rPr>
              <a:t>ФСП и Arena</a:t>
            </a:r>
          </a:p>
        </p:txBody>
      </p:sp>
      <p:sp>
        <p:nvSpPr>
          <p:cNvPr id="2103457339" name="Rounded Rectangle 2103457338"/>
          <p:cNvSpPr/>
          <p:nvPr/>
        </p:nvSpPr>
        <p:spPr>
          <a:xfrm>
            <a:off x="5394960" y="5870448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3457340" name="TextBox 2103457339"/>
          <p:cNvSpPr txBox="1"/>
          <p:nvPr/>
        </p:nvSpPr>
        <p:spPr>
          <a:xfrm>
            <a:off x="5614416" y="5815584"/>
            <a:ext cx="11887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</a:rPr>
              <a:t>Свежесть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640590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048734566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028106329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625941864" name="Скругленный прямоугольник 1"/>
          <p:cNvSpPr/>
          <p:nvPr/>
        </p:nvSpPr>
        <p:spPr bwMode="auto">
          <a:xfrm>
            <a:off x="346075" y="324562"/>
            <a:ext cx="405993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47906099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44364244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2123373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13869127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1" sz="1300">
                <a:solidFill>
                  <a:schemeClr val="tx1"/>
                </a:solidFill>
              </a:rPr>
              <a:t>Работодатель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Сотни откликов, отбор по ключевым словам ведут дорогие инженеры.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sz="1300">
                <a:solidFill>
                  <a:srgbClr val="FF0053"/>
                </a:solidFill>
              </a:rPr>
              <a:t>→ Подборка с баллом и причинами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27394647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1" sz="1300">
                <a:solidFill>
                  <a:schemeClr val="tx1"/>
                </a:solidFill>
              </a:rPr>
              <a:t>Кандидат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Откликается вслепую: заявленный Middle ничем не подтверждён, зарплата неизвестна.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sz="1300">
                <a:solidFill>
                  <a:srgbClr val="FF0053"/>
                </a:solidFill>
              </a:rPr>
              <a:t>→ Категория по тесту и вилка в приглашении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28903949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1" sz="1300">
                <a:solidFill>
                  <a:schemeClr val="tx1"/>
                </a:solidFill>
              </a:rPr>
              <a:t>Участник ФСП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Победы в соревнованиях не видны на рынке труда.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sz="1300">
                <a:solidFill>
                  <a:srgbClr val="FF0053"/>
                </a:solidFill>
              </a:rPr>
              <a:t>→ ФСП ID, достижения и Arena в балле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1548461275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48190524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fill="norm" stroke="1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fill="norm" stroke="1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fill="norm" stroke="1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fill="norm" stroke="1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fill="norm" stroke="1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fill="norm" stroke="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fill="norm" stroke="1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fill="norm" stroke="1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fill="norm" stroke="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fill="norm" stroke="1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fill="norm" stroke="1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fill="norm" stroke="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646408294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fill="norm" stroke="1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fill="norm" stroke="1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fill="norm" stroke="1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fill="norm" stroke="1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fill="norm" stroke="1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fill="norm" stroke="1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fill="norm" stroke="1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739311709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fill="norm" stroke="1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fill="norm" stroke="1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fill="norm" stroke="1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fill="norm" stroke="1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fill="norm" stroke="1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fill="norm" stroke="1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fill="norm" stroke="1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fill="norm" stroke="1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fill="norm" stroke="1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1433704879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3826874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ПРОБЛЕМА И РЕШЕНИЕ</a:t>
            </a:r>
            <a:endParaRPr lang="ru-RU"/>
          </a:p>
        </p:txBody>
      </p:sp>
      <p:cxnSp>
        <p:nvCxnSpPr>
          <p:cNvPr id="2063409099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267196" name="Скругленный прямоугольник 11"/>
          <p:cNvSpPr/>
          <p:nvPr/>
        </p:nvSpPr>
        <p:spPr bwMode="auto">
          <a:xfrm>
            <a:off x="346075" y="324562"/>
            <a:ext cx="3685031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67082798" name="Номер слайда 1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25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185253148" name="Текст 1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Профиль и опрос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106791426" name="Текст 2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Вручную или из PDF/DOCX-резюме; направление, стаж, стек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56249512" name="Текст 3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Категория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616429921" name="Текст 4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«Backend · Middle» — только большинством верных ответов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39419951" name="Текст 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Приглашение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735602472" name="Текст 6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 вилкой зарплаты; контакты — после согласия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92750771" name="Текст 7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Тест на грейд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071115008" name="Текст 8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10 заданий за 20 минут или экспресс: 5 за 5 минут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81027824" name="Текст 9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Подборка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795515738" name="Текст 10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Балл 0–100 с причинами и недостающим стеком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1098745988" name="Прямая соединительная линия 33"/>
          <p:cNvCxnSpPr/>
          <p:nvPr/>
        </p:nvCxnSpPr>
        <p:spPr bwMode="auto"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9992844" name="Прямая соединительная линия 34"/>
          <p:cNvCxnSpPr/>
          <p:nvPr/>
        </p:nvCxnSpPr>
        <p:spPr bwMode="auto"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139067" name="Прямая соединительная линия 35"/>
          <p:cNvCxnSpPr/>
          <p:nvPr/>
        </p:nvCxnSpPr>
        <p:spPr bwMode="auto"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997086" name="Прямая соединительная линия 36"/>
          <p:cNvCxnSpPr/>
          <p:nvPr/>
        </p:nvCxnSpPr>
        <p:spPr bwMode="auto"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7134924" name="Прямая соединительная линия 37"/>
          <p:cNvCxnSpPr/>
          <p:nvPr/>
        </p:nvCxnSpPr>
        <p:spPr bwMode="auto"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6012218" name="Прямая соединительная линия 38"/>
          <p:cNvCxnSpPr/>
          <p:nvPr/>
        </p:nvCxnSpPr>
        <p:spPr bwMode="auto"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1697678" name="Прямая соединительная линия 39"/>
          <p:cNvCxnSpPr/>
          <p:nvPr/>
        </p:nvCxnSpPr>
        <p:spPr bwMode="auto"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943392" name="Прямая соединительная линия 40"/>
          <p:cNvCxnSpPr/>
          <p:nvPr/>
        </p:nvCxnSpPr>
        <p:spPr bwMode="auto"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4224053" name="Прямая соединительная линия 41"/>
          <p:cNvCxnSpPr/>
          <p:nvPr/>
        </p:nvCxnSpPr>
        <p:spPr bwMode="auto"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1662080" name="Скругленный прямоугольник 42"/>
          <p:cNvSpPr/>
          <p:nvPr/>
        </p:nvSpPr>
        <p:spPr bwMode="auto">
          <a:xfrm>
            <a:off x="1191126" y="3508049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1</a:t>
            </a:r>
            <a:endParaRPr/>
          </a:p>
        </p:txBody>
      </p:sp>
      <p:sp>
        <p:nvSpPr>
          <p:cNvPr id="113173084" name="Скругленный прямоугольник 43"/>
          <p:cNvSpPr/>
          <p:nvPr/>
        </p:nvSpPr>
        <p:spPr bwMode="auto">
          <a:xfrm>
            <a:off x="3412397" y="3506136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2</a:t>
            </a:r>
            <a:endParaRPr/>
          </a:p>
        </p:txBody>
      </p:sp>
      <p:sp>
        <p:nvSpPr>
          <p:cNvPr id="2008847687" name="Скругленный прямоугольник 44"/>
          <p:cNvSpPr/>
          <p:nvPr/>
        </p:nvSpPr>
        <p:spPr bwMode="auto">
          <a:xfrm>
            <a:off x="5658594" y="351625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3</a:t>
            </a:r>
            <a:endParaRPr/>
          </a:p>
        </p:txBody>
      </p:sp>
      <p:sp>
        <p:nvSpPr>
          <p:cNvPr id="364819933" name="Скругленный прямоугольник 52"/>
          <p:cNvSpPr/>
          <p:nvPr/>
        </p:nvSpPr>
        <p:spPr bwMode="auto">
          <a:xfrm>
            <a:off x="7889752" y="3506134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4</a:t>
            </a:r>
            <a:endParaRPr/>
          </a:p>
        </p:txBody>
      </p:sp>
      <p:sp>
        <p:nvSpPr>
          <p:cNvPr id="249395752" name="Скругленный прямоугольник 53"/>
          <p:cNvSpPr/>
          <p:nvPr/>
        </p:nvSpPr>
        <p:spPr bwMode="auto">
          <a:xfrm>
            <a:off x="10113011" y="353862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5</a:t>
            </a:r>
            <a:endParaRPr/>
          </a:p>
        </p:txBody>
      </p:sp>
      <p:sp>
        <p:nvSpPr>
          <p:cNvPr id="55596888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КАК ЭТО РАБОТАЕТ</a:t>
            </a:r>
            <a:endParaRPr lang="ru-RU"/>
          </a:p>
        </p:txBody>
      </p:sp>
      <p:sp>
        <p:nvSpPr>
          <p:cNvPr id="617126529" name="Скругленный прямоугольник 13"/>
          <p:cNvSpPr/>
          <p:nvPr/>
        </p:nvSpPr>
        <p:spPr bwMode="auto"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16016125" name="Скругленный прямоугольник 15"/>
          <p:cNvSpPr/>
          <p:nvPr/>
        </p:nvSpPr>
        <p:spPr bwMode="auto"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411393853" name="Скругленный прямоугольник 16"/>
          <p:cNvSpPr/>
          <p:nvPr/>
        </p:nvSpPr>
        <p:spPr bwMode="auto"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547671459" name="Скругленный прямоугольник 17"/>
          <p:cNvSpPr/>
          <p:nvPr/>
        </p:nvSpPr>
        <p:spPr bwMode="auto"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705112724" name="Скругленный прямоугольник 18"/>
          <p:cNvSpPr/>
          <p:nvPr/>
        </p:nvSpPr>
        <p:spPr bwMode="auto"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045608" name="Скругленный прямоугольник 2"/>
          <p:cNvSpPr/>
          <p:nvPr/>
        </p:nvSpPr>
        <p:spPr bwMode="auto">
          <a:xfrm>
            <a:off x="346075" y="324562"/>
            <a:ext cx="4059935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2093773606" name="Рисунок 11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778252" y="904538"/>
            <a:ext cx="4551334" cy="3557364"/>
          </a:xfrm>
          <a:prstGeom prst="rect">
            <a:avLst/>
          </a:prstGeom>
        </p:spPr>
      </p:pic>
      <p:pic>
        <p:nvPicPr>
          <p:cNvPr id="1131644430" name="Рисунок 1" descr="employer-matches.jpg"/>
          <p:cNvPicPr>
            <a:picLocks noGrp="1" noChangeAspect="1"/>
          </p:cNvPicPr>
          <p:nvPr>
            <p:ph type="pic" sz="quarter" idx="14"/>
          </p:nvPr>
        </p:nvPicPr>
        <p:blipFill>
          <a:blip r:embed="rId5"/>
          <a:srcRect l="8453" r="8453"/>
          <a:stretch>
            <a:fillRect/>
          </a:stretch>
        </p:blipFill>
        <p:spPr>
          <a:xfrm>
            <a:off x="4068417" y="1187395"/>
            <a:ext cx="3988905" cy="3000292"/>
          </a:xfrm>
        </p:spPr>
      </p:pic>
      <p:sp>
        <p:nvSpPr>
          <p:cNvPr id="1060360357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26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746194102" name="Текст 3"/>
          <p:cNvSpPr>
            <a:spLocks noGrp="1"/>
          </p:cNvSpPr>
          <p:nvPr>
            <p:ph type="body" sz="quarter" idx="15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b="1" sz="1200">
                <a:solidFill>
                  <a:schemeClr val="tx1"/>
                </a:solidFill>
              </a:rPr>
              <a:t>Подборка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sz="1200">
                <a:solidFill>
                  <a:schemeClr val="tx1"/>
                </a:solidFill>
              </a:rPr>
              <a:t>По убыванию балла соответствия 0–100, с причинами и недостающим стеком.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44054119" name="Текст 4"/>
          <p:cNvSpPr>
            <a:spLocks noGrp="1"/>
          </p:cNvSpPr>
          <p:nvPr>
            <p:ph type="body" sz="quarter" idx="16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b="1" sz="1200">
                <a:solidFill>
                  <a:schemeClr val="tx1"/>
                </a:solidFill>
              </a:rPr>
              <a:t>Тест под вакансию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sz="1200">
                <a:solidFill>
                  <a:schemeClr val="tx1"/>
                </a:solidFill>
              </a:rPr>
              <a:t>Темы из стека вакансии, два варианта равной сложности.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17302066" name="Текст 5"/>
          <p:cNvSpPr>
            <a:spLocks noGrp="1"/>
          </p:cNvSpPr>
          <p:nvPr>
            <p:ph type="body" sz="quarter" idx="17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b="1" sz="1200">
                <a:solidFill>
                  <a:schemeClr val="tx1"/>
                </a:solidFill>
              </a:rPr>
              <a:t>Приглашение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sz="1200">
                <a:solidFill>
                  <a:schemeClr val="tx1"/>
                </a:solidFill>
              </a:rPr>
              <a:t>Вилка зарплаты обязательна; контакты открываются после «да».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75785125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ДЕМО: РАБОТОДАТЕЛЬ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2801934" name="Скругленный прямоугольник 1"/>
          <p:cNvSpPr/>
          <p:nvPr/>
        </p:nvSpPr>
        <p:spPr bwMode="auto">
          <a:xfrm>
            <a:off x="346075" y="324562"/>
            <a:ext cx="3310127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grpSp>
        <p:nvGrpSpPr>
          <p:cNvPr id="93987880" name="Group 82"/>
          <p:cNvGrpSpPr>
            <a:grpSpLocks noChangeAspect="1"/>
          </p:cNvGrpSpPr>
          <p:nvPr/>
        </p:nvGrpSpPr>
        <p:grpSpPr bwMode="auto"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3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8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fill="norm" stroke="1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/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sp>
          <p:nvSpPr>
            <p:cNvPr id="10" name="TextBox 9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/>
              </a:r>
              <a:r>
                <a:rPr lang="en-US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hyrekit</a:t>
              </a: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.ru</a:t>
              </a:r>
              <a:endParaRPr/>
            </a:p>
          </p:txBody>
        </p:sp>
        <p:sp>
          <p:nvSpPr>
            <p:cNvPr id="11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fill="norm" stroke="1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id-ID">
                <a:latin typeface="Lato Light"/>
              </a:endParaRPr>
            </a:p>
          </p:txBody>
        </p:sp>
      </p:grpSp>
      <p:grpSp>
        <p:nvGrpSpPr>
          <p:cNvPr id="587685437" name="Group 82"/>
          <p:cNvGrpSpPr>
            <a:grpSpLocks noChangeAspect="1"/>
          </p:cNvGrpSpPr>
          <p:nvPr/>
        </p:nvGrpSpPr>
        <p:grpSpPr bwMode="auto"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6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7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8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9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0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1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42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6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7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8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9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0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1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2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3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43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fill="norm" stroke="1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/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4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sp>
          <p:nvSpPr>
            <p:cNvPr id="33" name="TextBox 32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/>
              </a:r>
              <a:r>
                <a:rPr lang="en-US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hyrekit</a:t>
              </a: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.ru</a:t>
              </a:r>
              <a:endParaRPr/>
            </a:p>
          </p:txBody>
        </p:sp>
        <p:sp>
          <p:nvSpPr>
            <p:cNvPr id="34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fill="norm" stroke="1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id-ID">
                <a:latin typeface="Lato Light"/>
              </a:endParaRPr>
            </a:p>
          </p:txBody>
        </p:sp>
      </p:grpSp>
      <p:sp>
        <p:nvSpPr>
          <p:cNvPr id="594187563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607593610" name="Текст 2"/>
          <p:cNvSpPr>
            <a:spLocks noGrp="1"/>
          </p:cNvSpPr>
          <p:nvPr>
            <p:ph type="body" sz="quarter" idx="15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b="1" sz="1200">
                <a:solidFill>
                  <a:schemeClr val="tx1"/>
                </a:solidFill>
              </a:rPr>
              <a:t>Задание экспресс-теста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sz="1200">
                <a:solidFill>
                  <a:schemeClr val="tx1"/>
                </a:solidFill>
              </a:rPr>
              <a:t>Условие собрано из случайных данных: у соседа задание другое. Ответы сохраняются, таймер на экране.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30756584" name="Текст 3"/>
          <p:cNvSpPr>
            <a:spLocks noGrp="1"/>
          </p:cNvSpPr>
          <p:nvPr>
            <p:ph type="body" sz="quarter" idx="16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b="1" sz="1200">
                <a:solidFill>
                  <a:schemeClr val="tx1"/>
                </a:solidFill>
              </a:rPr>
              <a:t>Результат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sz="1200">
                <a:solidFill>
                  <a:schemeClr val="tx1"/>
                </a:solidFill>
              </a:rPr>
              <a:t>θ, балл, разбор по темам и решение: грейд подтверждён — категория «Backend · Middle» присвоена.</a:t>
            </a:r>
            <a:endParaRPr lang="ru-RU">
              <a:solidFill>
                <a:schemeClr val="tx1"/>
              </a:solidFill>
            </a:endParaRPr>
          </a:p>
        </p:txBody>
      </p:sp>
      <p:pic>
        <p:nvPicPr>
          <p:cNvPr id="1488357230" name="Рисунок 4" descr="express-question.jp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t="5669" b="5669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263480010" name="Рисунок 5" descr="express-result.jpg"/>
          <p:cNvPicPr>
            <a:picLocks noGrp="1" noChangeAspect="1"/>
          </p:cNvPicPr>
          <p:nvPr>
            <p:ph type="pic" sz="quarter" idx="18"/>
          </p:nvPr>
        </p:nvPicPr>
        <p:blipFill>
          <a:blip r:embed="rId5"/>
          <a:srcRect t="5669" b="5669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1987567784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ДЕМО: КАНДИДАТ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9981315" name="Скругленный прямоугольник 2"/>
          <p:cNvSpPr/>
          <p:nvPr/>
        </p:nvSpPr>
        <p:spPr bwMode="auto">
          <a:xfrm>
            <a:off x="346075" y="324562"/>
            <a:ext cx="3872483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2022760309" name="Рисунок 1" descr="m-fsp-id.jpg"/>
          <p:cNvPicPr>
            <a:picLocks noGrp="1" noChangeAspect="1"/>
          </p:cNvPicPr>
          <p:nvPr>
            <p:ph type="pic" sz="quarter" idx="14"/>
          </p:nvPr>
        </p:nvPicPr>
        <p:blipFill>
          <a:blip r:embed="rId5"/>
          <a:srcRect t="1045" b="1045"/>
          <a:stretch>
            <a:fillRect/>
          </a:stretch>
        </p:blipFill>
        <p:spPr>
          <a:xfrm>
            <a:off x="5009872" y="1235915"/>
            <a:ext cx="2172255" cy="4602697"/>
          </a:xfrm>
        </p:spPr>
      </p:pic>
      <p:sp>
        <p:nvSpPr>
          <p:cNvPr id="1362922722" name="Текст 3"/>
          <p:cNvSpPr>
            <a:spLocks noGrp="1"/>
          </p:cNvSpPr>
          <p:nvPr>
            <p:ph type="body" sz="quarter" idx="21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OpenID Connect + PKCE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612022550" name="Текст 4"/>
          <p:cNvSpPr>
            <a:spLocks noGrp="1"/>
          </p:cNvSpPr>
          <p:nvPr>
            <p:ph type="body" sz="quarter" idx="18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Authorization Code, S256; state и nonce в подписанной cookie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301165933" name="Текст 5"/>
          <p:cNvSpPr>
            <a:spLocks noGrp="1"/>
          </p:cNvSpPr>
          <p:nvPr>
            <p:ph type="body" sz="quarter" idx="22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Подтверждённый профиль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40573809" name="Текст 6"/>
          <p:cNvSpPr>
            <a:spLocks noGrp="1"/>
          </p:cNvSpPr>
          <p:nvPr>
            <p:ph type="body" sz="quarter" idx="23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Отметка «подтверждено ФСП ID»; один участник — один профиль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66866575" name="Текст 7"/>
          <p:cNvSpPr>
            <a:spLocks noGrp="1"/>
          </p:cNvSpPr>
          <p:nvPr>
            <p:ph type="body" sz="quarter" idx="24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Готово к Keycloak ФСП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2005570659" name="Текст 8"/>
          <p:cNvSpPr>
            <a:spLocks noGrp="1"/>
          </p:cNvSpPr>
          <p:nvPr>
            <p:ph type="body" sz="quarter" idx="25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Сейчас тестовый провайдер; боевой подключается переменными FSP_OIDC_*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04611537" name="Текст 9"/>
          <p:cNvSpPr>
            <a:spLocks noGrp="1"/>
          </p:cNvSpPr>
          <p:nvPr>
            <p:ph type="body" sz="quarter" idx="26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Достижения в балле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288726003" name="Текст 10"/>
          <p:cNvSpPr>
            <a:spLocks noGrp="1"/>
          </p:cNvSpPr>
          <p:nvPr>
            <p:ph type="body" sz="quarter" idx="27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Из реестра через FspProvider: победы и рейтинг входят в подбор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18555629" name="Номер слайда 11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28</a:t>
            </a:fld>
            <a:endParaRPr lang="ru-RU">
              <a:solidFill>
                <a:schemeClr val="accent5"/>
              </a:solidFill>
            </a:endParaRPr>
          </a:p>
        </p:txBody>
      </p:sp>
      <p:grpSp>
        <p:nvGrpSpPr>
          <p:cNvPr id="1365745991" name="Группа 12"/>
          <p:cNvGrpSpPr/>
          <p:nvPr/>
        </p:nvGrpSpPr>
        <p:grpSpPr bwMode="auto">
          <a:xfrm>
            <a:off x="4951937" y="1208818"/>
            <a:ext cx="2268386" cy="4662886"/>
            <a:chOff x="5193506" y="1574276"/>
            <a:chExt cx="1802607" cy="3705431"/>
          </a:xfrm>
        </p:grpSpPr>
        <p:sp>
          <p:nvSpPr>
            <p:cNvPr id="14" name="Полилиния: фигура 13"/>
            <p:cNvSpPr/>
            <p:nvPr/>
          </p:nvSpPr>
          <p:spPr bwMode="auto"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fill="norm" stroke="1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fill="norm" stroke="1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fill="norm" stroke="1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fill="norm" stroke="1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fill="norm" stroke="1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fill="norm" stroke="1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fill="norm" stroke="1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fill="norm" stroke="1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3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4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5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fill="norm" stroke="1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6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7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8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fill="norm" stroke="1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9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0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fill="norm" stroke="1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1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fill="norm" stroke="1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2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fill="norm" stroke="1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33" name="Рисунок 32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fill="norm" stroke="1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5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6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7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fill="norm" stroke="1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561404632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ВХОД ЧЕРЕЗ ФСП ID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617608" name="Скругленный прямоугольник 11"/>
          <p:cNvSpPr/>
          <p:nvPr/>
        </p:nvSpPr>
        <p:spPr bwMode="auto"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39635088" name="Скругленный прямоугольник 13"/>
          <p:cNvSpPr/>
          <p:nvPr/>
        </p:nvSpPr>
        <p:spPr bwMode="auto"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414509807" name="Скругленный прямоугольник 14"/>
          <p:cNvSpPr/>
          <p:nvPr/>
        </p:nvSpPr>
        <p:spPr bwMode="auto"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495703264" name="Скругленный прямоугольник 15"/>
          <p:cNvSpPr/>
          <p:nvPr/>
        </p:nvSpPr>
        <p:spPr bwMode="auto"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44724604" name="Скругленный прямоугольник 9"/>
          <p:cNvSpPr/>
          <p:nvPr/>
        </p:nvSpPr>
        <p:spPr bwMode="auto">
          <a:xfrm>
            <a:off x="346075" y="324562"/>
            <a:ext cx="368503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169208608" name="Рисунок 1" descr="m-landing.jpg"/>
          <p:cNvPicPr>
            <a:picLocks noGrp="1" noChangeAspect="1"/>
          </p:cNvPicPr>
          <p:nvPr>
            <p:ph type="pic" sz="quarter" idx="14"/>
          </p:nvPr>
        </p:nvPicPr>
        <p:blipFill>
          <a:blip r:embed="rId5"/>
          <a:srcRect t="1045" b="1045"/>
          <a:stretch>
            <a:fillRect/>
          </a:stretch>
        </p:blipFill>
        <p:spPr>
          <a:xfrm>
            <a:off x="1044995" y="1139854"/>
            <a:ext cx="1726214" cy="3657600"/>
          </a:xfrm>
        </p:spPr>
      </p:pic>
      <p:pic>
        <p:nvPicPr>
          <p:cNvPr id="496798273" name="Рисунок 2" descr="m-express.jpg"/>
          <p:cNvPicPr>
            <a:picLocks noGrp="1" noChangeAspect="1"/>
          </p:cNvPicPr>
          <p:nvPr>
            <p:ph type="pic" sz="quarter" idx="15"/>
          </p:nvPr>
        </p:nvPicPr>
        <p:blipFill>
          <a:blip r:embed="rId6"/>
          <a:srcRect t="1045" b="1045"/>
          <a:stretch>
            <a:fillRect/>
          </a:stretch>
        </p:blipFill>
        <p:spPr>
          <a:xfrm>
            <a:off x="3770385" y="1139854"/>
            <a:ext cx="1726214" cy="3657600"/>
          </a:xfrm>
        </p:spPr>
      </p:pic>
      <p:pic>
        <p:nvPicPr>
          <p:cNvPr id="967732106" name="Рисунок 3" descr="m-question.jpg"/>
          <p:cNvPicPr>
            <a:picLocks noGrp="1" noChangeAspect="1"/>
          </p:cNvPicPr>
          <p:nvPr>
            <p:ph type="pic" sz="quarter" idx="16"/>
          </p:nvPr>
        </p:nvPicPr>
        <p:blipFill>
          <a:blip r:embed="rId7"/>
          <a:srcRect t="1045" b="1045"/>
          <a:stretch>
            <a:fillRect/>
          </a:stretch>
        </p:blipFill>
        <p:spPr>
          <a:xfrm>
            <a:off x="6752863" y="1144729"/>
            <a:ext cx="1726214" cy="3657600"/>
          </a:xfrm>
        </p:spPr>
      </p:pic>
      <p:pic>
        <p:nvPicPr>
          <p:cNvPr id="899441471" name="Рисунок 4" descr="m-matches.jpg"/>
          <p:cNvPicPr>
            <a:picLocks noGrp="1" noChangeAspect="1"/>
          </p:cNvPicPr>
          <p:nvPr>
            <p:ph type="pic" sz="quarter" idx="17"/>
          </p:nvPr>
        </p:nvPicPr>
        <p:blipFill>
          <a:blip r:embed="rId8"/>
          <a:srcRect t="1045" b="1045"/>
          <a:stretch>
            <a:fillRect/>
          </a:stretch>
        </p:blipFill>
        <p:spPr>
          <a:xfrm>
            <a:off x="9621936" y="1120110"/>
            <a:ext cx="1726214" cy="3657600"/>
          </a:xfrm>
        </p:spPr>
      </p:pic>
      <p:sp>
        <p:nvSpPr>
          <p:cNvPr id="1949389309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29</a:t>
            </a:fld>
            <a:endParaRPr lang="ru-RU"/>
          </a:p>
        </p:txBody>
      </p:sp>
      <p:sp>
        <p:nvSpPr>
          <p:cNvPr id="855849766" name="Текст 5"/>
          <p:cNvSpPr>
            <a:spLocks noGrp="1"/>
          </p:cNvSpPr>
          <p:nvPr>
            <p:ph type="body" sz="quarter" idx="18"/>
          </p:nvPr>
        </p:nvSpPr>
        <p:spPr bwMode="auto">
          <a:xfrm>
            <a:off x="449155" y="5035451"/>
            <a:ext cx="2658088" cy="1271340"/>
          </a:xfrm>
        </p:spPr>
        <p:txBody>
          <a:bodyPr/>
          <a:lstStyle/>
          <a:p>
            <a:pPr algn="ctr" marL="0" indent="0">
              <a:buNone/>
              <a:defRPr/>
            </a:pPr>
            <a:r>
              <a:rPr lang="ru-RU" b="1" sz="1200">
                <a:solidFill>
                  <a:schemeClr val="accent5"/>
                </a:solidFill>
                <a:latin typeface="Montserrat"/>
              </a:rPr>
              <a:t>Лендинг</a:t>
            </a:r>
            <a:endParaRPr lang="ru-RU">
              <a:solidFill>
                <a:schemeClr val="accent5"/>
              </a:solidFill>
              <a:latin typeface="Montserrat"/>
            </a:endParaRPr>
          </a:p>
          <a:p>
            <a:pPr algn="ctr" marL="0" indent="0">
              <a:buNone/>
              <a:defRPr/>
            </a:pPr>
            <a:r>
              <a:rPr lang="ru-RU" sz="1200">
                <a:solidFill>
                  <a:schemeClr val="accent5"/>
                </a:solidFill>
                <a:latin typeface="Montserrat"/>
              </a:rPr>
              <a:t>два входа: кандидат и работодатель</a:t>
            </a:r>
            <a:endParaRPr lang="ru-RU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254387659" name="Текст 6"/>
          <p:cNvSpPr>
            <a:spLocks noGrp="1"/>
          </p:cNvSpPr>
          <p:nvPr>
            <p:ph type="body" sz="quarter" idx="19"/>
          </p:nvPr>
        </p:nvSpPr>
        <p:spPr bwMode="auto">
          <a:xfrm>
            <a:off x="3302624" y="5035451"/>
            <a:ext cx="2706185" cy="1271340"/>
          </a:xfrm>
        </p:spPr>
        <p:txBody>
          <a:bodyPr/>
          <a:lstStyle/>
          <a:p>
            <a:pPr algn="ctr" marL="0" indent="0">
              <a:buNone/>
              <a:defRPr/>
            </a:pPr>
            <a:r>
              <a:rPr lang="ru-RU" b="1" sz="1200">
                <a:solidFill>
                  <a:schemeClr val="accent5"/>
                </a:solidFill>
                <a:latin typeface="Montserrat"/>
              </a:rPr>
              <a:t>Экспресс-тест</a:t>
            </a:r>
            <a:endParaRPr lang="ru-RU">
              <a:solidFill>
                <a:schemeClr val="accent5"/>
              </a:solidFill>
              <a:latin typeface="Montserrat"/>
            </a:endParaRPr>
          </a:p>
          <a:p>
            <a:pPr algn="ctr" marL="0" indent="0">
              <a:buNone/>
              <a:defRPr/>
            </a:pPr>
            <a:r>
              <a:rPr lang="ru-RU" sz="1200">
                <a:solidFill>
                  <a:schemeClr val="accent5"/>
                </a:solidFill>
                <a:latin typeface="Montserrat"/>
              </a:rPr>
              <a:t>без регистрации, 5 заданий за 5 минут</a:t>
            </a:r>
            <a:endParaRPr lang="ru-RU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1388650991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204192" y="5035451"/>
            <a:ext cx="2728103" cy="1271340"/>
          </a:xfrm>
        </p:spPr>
        <p:txBody>
          <a:bodyPr/>
          <a:lstStyle/>
          <a:p>
            <a:pPr algn="ctr" marL="0" indent="0">
              <a:buNone/>
              <a:defRPr/>
            </a:pPr>
            <a:r>
              <a:rPr lang="ru-RU" b="1" sz="1200">
                <a:solidFill>
                  <a:schemeClr val="accent5"/>
                </a:solidFill>
                <a:latin typeface="Montserrat"/>
              </a:rPr>
              <a:t>Задание</a:t>
            </a:r>
            <a:endParaRPr lang="ru-RU">
              <a:solidFill>
                <a:schemeClr val="accent5"/>
              </a:solidFill>
              <a:latin typeface="Montserrat"/>
            </a:endParaRPr>
          </a:p>
          <a:p>
            <a:pPr algn="ctr" marL="0" indent="0">
              <a:buNone/>
              <a:defRPr/>
            </a:pPr>
            <a:r>
              <a:rPr lang="ru-RU" sz="1200">
                <a:solidFill>
                  <a:schemeClr val="accent5"/>
                </a:solidFill>
                <a:latin typeface="Montserrat"/>
              </a:rPr>
              <a:t>таймер, ответы сохраняются</a:t>
            </a:r>
            <a:endParaRPr lang="ru-RU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1898262688" name="Текст 8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5035451"/>
            <a:ext cx="2739248" cy="1271340"/>
          </a:xfrm>
        </p:spPr>
        <p:txBody>
          <a:bodyPr/>
          <a:lstStyle/>
          <a:p>
            <a:pPr algn="ctr" marL="0" indent="0">
              <a:buNone/>
              <a:defRPr/>
            </a:pPr>
            <a:r>
              <a:rPr lang="ru-RU" b="1" sz="1200">
                <a:solidFill>
                  <a:schemeClr val="accent5"/>
                </a:solidFill>
                <a:latin typeface="Montserrat"/>
              </a:rPr>
              <a:t>Подборка</a:t>
            </a:r>
            <a:endParaRPr lang="ru-RU">
              <a:solidFill>
                <a:schemeClr val="accent5"/>
              </a:solidFill>
              <a:latin typeface="Montserrat"/>
            </a:endParaRPr>
          </a:p>
          <a:p>
            <a:pPr algn="ctr" marL="0" indent="0">
              <a:buNone/>
              <a:defRPr/>
            </a:pPr>
            <a:r>
              <a:rPr lang="ru-RU" sz="1200">
                <a:solidFill>
                  <a:schemeClr val="accent5"/>
                </a:solidFill>
                <a:latin typeface="Montserrat"/>
              </a:rPr>
              <a:t>балл, категория, ФСП и вилка</a:t>
            </a:r>
            <a:endParaRPr lang="ru-RU">
              <a:solidFill>
                <a:schemeClr val="accent5"/>
              </a:solidFill>
              <a:latin typeface="Montserrat"/>
            </a:endParaRPr>
          </a:p>
        </p:txBody>
      </p:sp>
      <p:grpSp>
        <p:nvGrpSpPr>
          <p:cNvPr id="1027036217" name="Группа 121"/>
          <p:cNvGrpSpPr/>
          <p:nvPr/>
        </p:nvGrpSpPr>
        <p:grpSpPr bwMode="auto"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fill="norm" stroke="1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4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fill="norm" stroke="1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5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fill="norm" stroke="1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6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fill="norm" stroke="1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7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fill="norm" stroke="1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8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fill="norm" stroke="1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9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fill="norm" stroke="1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0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1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fill="norm" stroke="1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2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3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4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fill="norm" stroke="1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5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6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7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fill="norm" stroke="1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8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9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fill="norm" stroke="1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0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fill="norm" stroke="1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1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fill="norm" stroke="1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fill="norm" stroke="1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4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5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6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fill="norm" stroke="1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1730469409" name="Группа 146"/>
          <p:cNvGrpSpPr/>
          <p:nvPr/>
        </p:nvGrpSpPr>
        <p:grpSpPr bwMode="auto"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fill="norm" stroke="1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9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fill="norm" stroke="1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0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fill="norm" stroke="1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1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fill="norm" stroke="1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2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fill="norm" stroke="1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3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fill="norm" stroke="1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4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fill="norm" stroke="1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5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6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fill="norm" stroke="1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7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8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9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fill="norm" stroke="1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0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1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2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fill="norm" stroke="1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3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4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fill="norm" stroke="1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5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fill="norm" stroke="1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6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fill="norm" stroke="1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67" name="Рисунок 166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fill="norm" stroke="1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9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0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1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fill="norm" stroke="1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827801595" name="Группа 171"/>
          <p:cNvGrpSpPr/>
          <p:nvPr/>
        </p:nvGrpSpPr>
        <p:grpSpPr bwMode="auto"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fill="norm" stroke="1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4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fill="norm" stroke="1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5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fill="norm" stroke="1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6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fill="norm" stroke="1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7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fill="norm" stroke="1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8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fill="norm" stroke="1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9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fill="norm" stroke="1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0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1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fill="norm" stroke="1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2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3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4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fill="norm" stroke="1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5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6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7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fill="norm" stroke="1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8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9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fill="norm" stroke="1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0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fill="norm" stroke="1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1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fill="norm" stroke="1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92" name="Рисунок 191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fill="norm" stroke="1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4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5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6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fill="norm" stroke="1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1192022725" name="Группа 196"/>
          <p:cNvGrpSpPr/>
          <p:nvPr/>
        </p:nvGrpSpPr>
        <p:grpSpPr bwMode="auto"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fill="norm" stroke="1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9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fill="norm" stroke="1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0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fill="norm" stroke="1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1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fill="norm" stroke="1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2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fill="norm" stroke="1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3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fill="norm" stroke="1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4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fill="norm" stroke="1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5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6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fill="norm" stroke="1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7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8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9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fill="norm" stroke="1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0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1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2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fill="norm" stroke="1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3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4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fill="norm" stroke="1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5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fill="norm" stroke="1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6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fill="norm" stroke="1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217" name="Рисунок 216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fill="norm" stroke="1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9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0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1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fill="norm" stroke="1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75317969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МОБИЛЬНАЯ ВЕРСИЯ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(4:3)</PresentationFormat>
  <Paragraphs>0</Paragraphs>
  <Slides>37</Slides>
  <Notes>37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Аноним</cp:lastModifiedBy>
  <cp:revision>98</cp:revision>
  <dcterms:created xsi:type="dcterms:W3CDTF">2023-05-15T07:36:23Z</dcterms:created>
  <dcterms:modified xsi:type="dcterms:W3CDTF">2026-10-05T18:03:08Z</dcterms:modified>
</cp:coreProperties>
</file>