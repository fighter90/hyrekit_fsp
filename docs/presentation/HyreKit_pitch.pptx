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0b854b87-f8c7-e3f1-583c-7a0ada855485}">
          <p14:sldIdLst>
            <p14:sldId id="256"/>
          </p14:sldIdLst>
        </p14:section>
        <p14:section name="Продукт" id="{9fd099cc-fd39-7138-7cef-5da31b75e7b7}">
          <p14:sldIdLst>
            <p14:sldId id="257"/>
            <p14:sldId id="258"/>
            <p14:sldId id="259"/>
            <p14:sldId id="260"/>
            <p14:sldId id="261"/>
          </p14:sldIdLst>
        </p14:section>
        <p14:section name="Методика" id="{e16275d9-f195-3f65-e7d4-003641e3461a}">
          <p14:sldIdLst>
            <p14:sldId id="262"/>
            <p14:sldId id="263"/>
            <p14:sldId id="264"/>
            <p14:sldId id="265"/>
          </p14:sldIdLst>
        </p14:section>
        <p14:section name="Платформа" id="{8927ea9a-81b5-325e-496a-3c969cf957b6}">
          <p14:sldIdLst>
            <p14:sldId id="266"/>
            <p14:sldId id="267"/>
            <p14:sldId id="268"/>
          </p14:sldIdLst>
        </p14:section>
        <p14:section name="Финал" id="{44ded530-c557-3818-a9f3-bc69068f00cb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Вес, %</c:v>
                </c:pt>
              </c:strCache>
            </c:strRef>
          </c:tx>
          <c:spPr>
            <a:solidFill>
              <a:srgbClr val="402FF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DEDE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Категория</c:v>
                  </c:pt>
                  <c:pt idx="1">
                    <c:v>Стек</c:v>
                  </c:pt>
                  <c:pt idx="2">
                    <c:v>Тест</c:v>
                  </c:pt>
                  <c:pt idx="3">
                    <c:v>ФСП</c:v>
                  </c:pt>
                  <c:pt idx="4">
                    <c:v>Свежесть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30</c:v>
                </c:pt>
                <c:pt idx="2">
                  <c:v>25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EDEDE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4A5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сдавших</c:v>
                </c:pt>
              </c:strCache>
            </c:strRef>
          </c:tx>
          <c:spPr>
            <a:solidFill>
              <a:srgbClr val="8173F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EDEDE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173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02F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C1D3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Честно</c:v>
                  </c:pt>
                  <c:pt idx="1">
                    <c:v>Со шпаргалкой из 200 попыток</c:v>
                  </c:pt>
                  <c:pt idx="2">
                    <c:v>Статичный тест, утёк вариант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19.3</c:v>
                </c:pt>
                <c:pt idx="1">
                  <c:v>29.7</c:v>
                </c:pt>
                <c:pt idx="2">
                  <c:v>100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EDEDE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4A5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HyreKit</c:v>
                </c:pt>
              </c:strCache>
            </c:strRef>
          </c:tx>
          <c:spPr>
            <a:solidFill>
              <a:srgbClr val="402FF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DE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Python backend</c:v>
                  </c:pt>
                  <c:pt idx="1">
                    <c:v>Frontend React</c:v>
                  </c:pt>
                  <c:pt idx="2">
                    <c:v>DevOps Kubernetes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0.93</c:v>
                </c:pt>
                <c:pt idx="1">
                  <c:v>0.9</c:v>
                </c:pt>
                <c:pt idx="2">
                  <c:v>0.96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 заявленному грейду</c:v>
                </c:pt>
              </c:strCache>
            </c:strRef>
          </c:tx>
          <c:spPr>
            <a:solidFill>
              <a:srgbClr val="8173F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DE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Python backend</c:v>
                  </c:pt>
                  <c:pt idx="1">
                    <c:v>Frontend React</c:v>
                  </c:pt>
                  <c:pt idx="2">
                    <c:v>DevOps Kubernetes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</c:v>
                </c:pt>
                <c:pt idx="1">
                  <c:v>0.95</c:v>
                </c:pt>
                <c:pt idx="2">
                  <c:v>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Только по стеку</c:v>
                </c:pt>
              </c:strCache>
            </c:strRef>
          </c:tx>
          <c:spPr>
            <a:solidFill>
              <a:srgbClr val="5A5B6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DE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Python backend</c:v>
                  </c:pt>
                  <c:pt idx="1">
                    <c:v>Frontend React</c:v>
                  </c:pt>
                  <c:pt idx="2">
                    <c:v>DevOps Kubernetes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0.57</c:v>
                </c:pt>
                <c:pt idx="1">
                  <c:v>0.66</c:v>
                </c:pt>
                <c:pt idx="2">
                  <c:v>0.67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DEDE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4A5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A4A5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 пользователей</c:v>
                </c:pt>
              </c:strCache>
            </c:strRef>
          </c:tx>
          <c:spPr>
            <a:solidFill>
              <a:srgbClr val="2FD3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DE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Подборка</c:v>
                  </c:pt>
                  <c:pt idx="1">
                    <c:v>Поиск по банку</c:v>
                  </c:pt>
                  <c:pt idx="2">
                    <c:v>Карточка</c:v>
                  </c:pt>
                  <c:pt idx="3">
                    <c:v>Профиль кандидата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</c:v>
                </c:pt>
                <c:pt idx="1">
                  <c:v>58</c:v>
                </c:pt>
                <c:pt idx="2">
                  <c:v>55</c:v>
                </c:pt>
                <c:pt idx="3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 пользователей</c:v>
                </c:pt>
              </c:strCache>
            </c:strRef>
          </c:tx>
          <c:spPr>
            <a:solidFill>
              <a:srgbClr val="FFB54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DE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Подборка</c:v>
                  </c:pt>
                  <c:pt idx="1">
                    <c:v>Поиск по банку</c:v>
                  </c:pt>
                  <c:pt idx="2">
                    <c:v>Карточка</c:v>
                  </c:pt>
                  <c:pt idx="3">
                    <c:v>Профиль кандидата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718</c:v>
                </c:pt>
                <c:pt idx="1">
                  <c:v>676</c:v>
                </c:pt>
                <c:pt idx="2">
                  <c:v>734</c:v>
                </c:pt>
                <c:pt idx="3">
                  <c:v>732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EDEDE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4A5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A4A5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Здравствуйте, мы — Команда 1, проект HyreKit. Это агрегатор ИТ-вакансий с верифицированным профилем достижений участника ФСП. Наш слоган: «Не ищи работу. Покажи уровень». Идея простая: кандидат один раз подтверждает свой грейд тестом, а дальше работодатели сами находят его и приходят с приглашением, где уже указана зарплата. Покажем оба пути, почему тест нельзя выучить, цифры валидации и нагрузки и что предлагаем делать дальше вместе с ФСП. Всё, что покажем, работает на стенде hyrekit.ru, ссылки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проблемы. Работодатель получает сотни откликов и вручную отсеивает их по ключевым словам, причём делают это дорогие инженеры. Кандидат откликается вслепую: в резюме написано Middle, но подтвердить это нечем, а зарплату он узнаёт только на собеседовании. И третья сторона, ради которой трек и придуман: участники соревнований ФСП. Их победы — сильный сигнал, но на рынке труда он просто не виден. В итоге универсальные площадки сводят подбор к совпадению слов в резюме. Мы хотели, чтобы стороны сравнивали проверенные данные, а не тексты.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Поэтому мы перевернули механику. Не кандидат ищет вакансию, а работодатель находит кандидата. Кандидат один раз проходит путь: профиль — вручную или из PDF-резюме, опрос, тест на свой грейд. Тест присваивает категорию — направление и грейд, например «Backend · Middle». Самоописание из резюме на неё не влияет. Работодатель описывает потребность и получает подборку, где у каждого кандидата есть балл и объяснение. Дальше — приглашение, в котором вилка зарплаты обязательна. Контакты кандидата скрыты, пока он сам не согласится. Классический отклик на вакансию тоже есть, но как дополнение.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Путь кандидата. Он заполняет профиль или загружает PDF-резюме — поля разбирают правила, а если подключён GigaChat, то и модель. Затем опрос: отрасль, направление, стаж, стек и предполагаемый грейд. Потом тест: десять заданий по пяти темам, двадцать минут, ответы сохраняются по одному. Справа реальный экран со стенда: экспресс-тест Backend Middle, пять из пяти, категория присвоена. Кандидат видит не только решение, но и оценку способности, балл и разбор по темам — мы ничего от него не прячем. Последний шаг — согласие на публикацию и ФСП ID: с этого момента профиль виден работодателям.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Путь работодателя. Он описывает потребность: направление, диапазон грейдов, стек, задачи команды и вилку зарплаты. И сразу получает подборку — на экране реальная подборка со стенда. Балл соответствия складывается из пяти компонентов: категория и стек по тридцать процентов, уровень по тесту — двадцать пять, достижения ФСП — десять, свежесть активности — пять. У каждого кандидата видно, почему он здесь и какой технологии не хватает. Есть вкладка «Тест под вакансию»: темы выводятся из стека, и два варианта одинаковой сложности. Понравился кандидат — приглашение с вилкой, после принятия открываются контакты.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 Arena. Честно говорим: в MVP её нет, это следующий эпик. Идея — задачи с запуском кода в песочнице и автопроверкой. Это самый сильный сигнал навыка, сильнее любого теста с вариантами ответа. Результат Арены станет дополнительным сигналом в профиле — рядом с категорией, а не вместо неё, чтобы сохранить сопоставимость. И это естественный формат для ФСП: соревновательные раунды. В MVP мы её не включили сознательно: песочница дороже в инфраструктуре и во времени кандидата, решение записано в ADR. Практическую часть сейчас закрывают короткие задания работодателей: ответ оценивает GigaChat по рубрике.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главное — механика тестирования. Банк хранит не вопросы, а 36 генераторов по 14 темам. Двадцать три из них генеративные: условие собирается из случайных данных, а правильный ответ вычисляет код. План — пять тем по два задания, профиль сложности задан грейдом и одинаков у всех. Оценка — модель Раша, метод MAP, априорное распределение стоит на пороге грейда. Порог — порядок грейда минус 1,75: справа шкала. После доработки FSP-61 грейд даётся только большинством верных: шесть из десяти, в экспресс-тесте три из пяти. Ноль верных не подтверждает ничего, и тест никогда не понижает грейд.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Проверяем устойчивость атакой. Сливаем по каждому направлению двести чужих попыток Middle вместе с ответами и даём шпаргалку слабому кандидату уровня Junior. Честно он сдаёт Middle в девятнадцати процентах случаев, со шпаргалкой — в тридцати. А у статичного теста, где утёк единственный вариант, — сто процентов. Почему так: из генеративных заданий дословно совпадают только три процента, в среднем меньше одного раскрытого задания на попытку. Концептуальные вопросы утекают быстро, поэтому в попытке их не больше одного, а первое задание каждой темы всегда генеративное. Выученное число не переносится — переносится только понимание.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Разметки в хакатоне нет, поэтому валидируем на синтетических кандидатах с известной способностью; скрипт воспроизводим. Шестьсот кандидатов, сорок процентов из них завышают грейд на ступень. Тест присваивает верный грейд в 69,5 процента случаев, самооценка — в 65,5. 98,7 процента — в пределах ступени, завышение всего семь процентов: работодатель получает Middle, который не окажется Junior. Корреляция двух независимых попыток 0,83, ошибка измерения — полкоридора грейда. Честно: на десяти заданиях решение у порога повторяется в 60 процентах, следующий шаг — адаптивный тест. И у каждого грейда ровно один профиль сложности на 1 200 вариантов.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подбора. Для трёх демо-вакансий двадцать раз собираем пул из ста пятидесяти кандидатов и считаем долю релевантных в первой десятке. Поиск только по стеку — так работают универсальные площадки — даёт от 0,57 до 0,67. С подтверждённой категорией — от 0,90 до 0,96. Мы честно показываем и случай, где не выигрываем: на фронтенд-вакансии Junior–Middle подбор по заявленному грейду даёт 0,95 против наших 0,90 — в узком нижнем диапазоне завышение самооценки реже выводит кандидата за рамки вакансии. На вакансиях Middle и выше разница заметная: 0,93 и 0,96 против 0,80.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Нагрузка. Скрипт load.py параллельно гоняет сценарии работодателя и кандидата на стенде из docker compose: PostgreSQL, Redis, два воркера API, сто двадцать кандидатов. Десять одновременных пользователей — 378 запросов в секунду, p95 всех операций не выше 63 миллисекунд, включая подборку с объяснением. Пятьдесят пользователей — 210 запросов в секунду и ноль ошибок. p95 вырастает до 0,7 секунды, но это очередь: медиана около 0,17 секунды, всё упирается в два воркера и генератор на тех же четырёх ядрах. Для нагрузки хакатона этого хватает с запасом, а дальше число воркеров масштабируется по числу ядер.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— модульный монолит на FastAPI, как допускает ТЗ. React-приложение, nginx, API, PostgreSQL и Redis для лимитов; всё поднимается одной командой docker compose. Методика — чистые функции без базы: один и тот же код проверяют и тесты, и скрипт валидации. Реестр ФСП подключён через интерфейс FspProvider; в MVP это детерминированный эмулятор, потому что API реестра не предоставили. GigaChat работает в двух местах: разбирает резюме и оценивает ответы на короткие задания. Задания теста он намеренно не генерирует и не проверяет: сложность должна быть сопоставимой. Без ключа всё работает на правилах.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Доверие и интеграции — здесь разделяем, что уже работает, а что только спроектировано. Работает: вилка зарплаты обязательна; повторно пригласить, пока первое приглашение не закрыто, нельзя; контакты скрыты до согласия, вместо имени — псевдоним; согласия пишутся в журнал с редакцией текста по 152-ФЗ; на вход и регистрацию стоят лимиты. Есть стандартный PDF-профиль. Спроектировано, но не реализовано: проверка компании по ИНН и домену, репутация работодателя, сверка вилки с медианой категории. Для ATS — вебхуки с подписью, API-ключ компании и экспорт в JSON Resume. Схемы — в разделе 4 документации.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дальше. Первое — ФСП ID: вход через Keycloak по OIDC и реальные достижения из реестра. Архитектурно это одна новая реализация интерфейса FspProvider, остальной код не меняется. Второе — пилот на участниках соревнований: откалибровать сложность семейств по реальным ответам и следить за дрейфом решаемости. Третье — адаптивный тест: задание выбирается по текущей оценке, тест останавливается, когда точности достаточно. Это лечит главное ограничение десяти заданий. Дальше — Code Arena, модерация работодателей и ATS. От ФСП нам нужны доступ к ФСП ID и реестру, пилотная группа участников и партнёры-работодатели.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Спасибо! Всё, что мы показали, можно проверить самостоятельно. Стенд — hyrekit.ru. Самый быстрый путь — экспресс-тест по адресу hyrekit.ru/express: без регистрации, пять заданий за пять минут, тот же банк и тот же порог, что в полном тесте. После теста войдите работодателем — employer@hyrekit.ru, пароль HyreKit2026 — и найдите себя в подборке вакансии. Для полного пути кандидата есть candidate@hyrekit.ru с тем же паролем. Код, документация и все цифры валидации — в репозитории на GitHub, пошаговая инструкция для жюри — в docs/jury.md.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HK_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HK_CONTENT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K_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K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HyreKit × ФСП · Команда 1</a:t>
            </a:r>
            <a:endParaRPr lang="en-US" sz="1000" dirty="0"/>
          </a:p>
        </p:txBody>
      </p:sp>
      <p:pic>
        <p:nvPicPr>
          <p:cNvPr id="3" name="Image 0" descr="/tmp/claude-0/-home-claude-hyrekit-fsp/8964318c-b92f-5bac-9d75-16b19ccfcc69/scratchpad/pitch/fsp-sh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4295" y="6364224"/>
            <a:ext cx="768096" cy="25603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hyrekit.ru" TargetMode="External"/><Relationship Id="rId5" Type="http://schemas.openxmlformats.org/officeDocument/2006/relationships/hyperlink" Target="https://hyrekit.ru/express" TargetMode="External"/><Relationship Id="rId7" Type="http://schemas.openxmlformats.org/officeDocument/2006/relationships/hyperlink" Target="https://github.com/Fighter90/hyrekit_fsp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Hyre</a:t>
            </a:r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514600" y="475488"/>
            <a:ext cx="0" cy="42062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Логотип ФС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7480" y="502920"/>
            <a:ext cx="292608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17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[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обратный найм · хакатон ФСП 2026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 ]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7452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2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Не ищи работу.</a:t>
            </a:r>
            <a:endParaRPr lang="en-US" sz="5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2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Покажи уровень.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690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Агрегатор ИТ-вакансий с верифицированным профилем достижений участника ФСП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Команда 1 · hyrekit.ru</a:t>
            </a:r>
            <a:endParaRPr lang="en-US" sz="1400" dirty="0"/>
          </a:p>
        </p:txBody>
      </p:sp>
      <p:sp>
        <p:nvSpPr>
          <p:cNvPr id="9" name="terminal"/>
          <p:cNvSpPr/>
          <p:nvPr/>
        </p:nvSpPr>
        <p:spPr>
          <a:xfrm>
            <a:off x="7178040" y="1828800"/>
            <a:ext cx="4480560" cy="3108960"/>
          </a:xfrm>
          <a:prstGeom prst="roundRect">
            <a:avLst>
              <a:gd name="adj" fmla="val 4118"/>
            </a:avLst>
          </a:prstGeom>
          <a:solidFill>
            <a:srgbClr val="15161B"/>
          </a:solidFill>
          <a:ln w="9525">
            <a:solidFill>
              <a:srgbClr val="3A3C46"/>
            </a:solidFill>
            <a:prstDash val="solid"/>
          </a:ln>
          <a:effectLst>
            <a:outerShdw sx="100000" sy="100000" kx="0" ky="0" algn="bl" rotWithShape="0" blurRad="304800" dist="101600" dir="540000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06640" y="2029968"/>
            <a:ext cx="118872" cy="118872"/>
          </a:xfrm>
          <a:prstGeom prst="ellipse">
            <a:avLst/>
          </a:prstGeom>
          <a:solidFill>
            <a:srgbClr val="EC1D35"/>
          </a:solidFill>
          <a:ln/>
        </p:spPr>
      </p:sp>
      <p:sp>
        <p:nvSpPr>
          <p:cNvPr id="11" name="Shape 8"/>
          <p:cNvSpPr/>
          <p:nvPr/>
        </p:nvSpPr>
        <p:spPr>
          <a:xfrm>
            <a:off x="7607808" y="2029968"/>
            <a:ext cx="118872" cy="118872"/>
          </a:xfrm>
          <a:prstGeom prst="ellipse">
            <a:avLst/>
          </a:prstGeom>
          <a:solidFill>
            <a:srgbClr val="402FFF"/>
          </a:solidFill>
          <a:ln/>
        </p:spPr>
      </p:sp>
      <p:sp>
        <p:nvSpPr>
          <p:cNvPr id="12" name="Shape 9"/>
          <p:cNvSpPr/>
          <p:nvPr/>
        </p:nvSpPr>
        <p:spPr>
          <a:xfrm>
            <a:off x="7808976" y="2029968"/>
            <a:ext cx="118872" cy="118872"/>
          </a:xfrm>
          <a:prstGeom prst="ellipse">
            <a:avLst/>
          </a:prstGeom>
          <a:solidFill>
            <a:srgbClr val="5A5B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92440" y="19568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hyrekit — assessment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452360" y="237744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hyrekit assess --spec backend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›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опрос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A5B63"/>
                </a:solidFill>
              </a:rPr>
              <a:t>........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FD38A"/>
                </a:solidFill>
              </a:rPr>
              <a:t>ok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›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тест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A5B63"/>
                </a:solidFill>
              </a:rPr>
              <a:t>.........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6+ из 10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›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категория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A5B63"/>
                </a:solidFill>
              </a:rPr>
              <a:t>....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[Backend · Middle]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›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подборка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A5B63"/>
                </a:solidFill>
              </a:rPr>
              <a:t>.....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объяснимый балл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›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приглашение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A5B63"/>
                </a:solidFill>
              </a:rPr>
              <a:t>..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FD38A"/>
                </a:solidFill>
              </a:rPr>
              <a:t>с вилкой ₽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01 · проблема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Резюме не подтверждает умение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icon-bg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6" name="Image 0" descr="LuBuilding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1343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0175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Работодатель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4747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Сотни откликов. Отбор по ключевым словам ведут дорогие инженеры.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361688" y="182880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icon-bg"/>
          <p:cNvSpPr/>
          <p:nvPr/>
        </p:nvSpPr>
        <p:spPr>
          <a:xfrm>
            <a:off x="4681728" y="2148840"/>
            <a:ext cx="685800" cy="685800"/>
          </a:xfrm>
          <a:prstGeom prst="ellipse">
            <a:avLst/>
          </a:prstGeom>
          <a:solidFill>
            <a:srgbClr val="EC1D35"/>
          </a:solidFill>
          <a:ln/>
        </p:spPr>
      </p:sp>
      <p:pic>
        <p:nvPicPr>
          <p:cNvPr id="11" name="Image 1" descr="Lu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31343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81728" y="30175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Кандидат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81728" y="34747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Отклик вслепую. Заявленный Middle ничем не подтверждён, зарплату не видно.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8174736" y="182880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icon-bg"/>
          <p:cNvSpPr/>
          <p:nvPr/>
        </p:nvSpPr>
        <p:spPr>
          <a:xfrm>
            <a:off x="8494776" y="2148840"/>
            <a:ext cx="685800" cy="685800"/>
          </a:xfrm>
          <a:prstGeom prst="ellipse">
            <a:avLst/>
          </a:prstGeom>
          <a:solidFill>
            <a:srgbClr val="8173FF"/>
          </a:solidFill>
          <a:ln/>
        </p:spPr>
      </p:sp>
      <p:pic>
        <p:nvPicPr>
          <p:cNvPr id="16" name="Image 2" descr="Lu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2313432"/>
            <a:ext cx="356616" cy="35661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94776" y="30175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Участник ФСП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94776" y="34747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Победы в соревнованиях не видны на рынке труда.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4983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Итог: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универсальная площадка сводит найм к совпадению стека в тексте резюме.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02 · обратная механика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Работодатель находит кандидата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2011680" cy="2148840"/>
          </a:xfrm>
          <a:prstGeom prst="roundRect">
            <a:avLst>
              <a:gd name="adj" fmla="val 5455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84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01</a:t>
            </a:r>
            <a:endParaRPr lang="en-US" sz="1200" dirty="0"/>
          </a:p>
        </p:txBody>
      </p:sp>
      <p:pic>
        <p:nvPicPr>
          <p:cNvPr id="6" name="Image 0" descr="LuFile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7672" y="1965960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Профиль и опрос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004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вручную или из PDF-резюме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06040" y="2857500"/>
            <a:ext cx="16756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card"/>
          <p:cNvSpPr/>
          <p:nvPr/>
        </p:nvSpPr>
        <p:spPr>
          <a:xfrm>
            <a:off x="2819324" y="1783080"/>
            <a:ext cx="2011680" cy="2148840"/>
          </a:xfrm>
          <a:prstGeom prst="roundRect">
            <a:avLst>
              <a:gd name="adj" fmla="val 5455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47924" y="1984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02</a:t>
            </a:r>
            <a:endParaRPr lang="en-US" sz="1200" dirty="0"/>
          </a:p>
        </p:txBody>
      </p:sp>
      <p:pic>
        <p:nvPicPr>
          <p:cNvPr id="12" name="Image 1" descr="LuClipboar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8356" y="1965960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47924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Тест на грейд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047924" y="32004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10 заданий, 20 минут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876724" y="2857500"/>
            <a:ext cx="16756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6" name="card"/>
          <p:cNvSpPr/>
          <p:nvPr/>
        </p:nvSpPr>
        <p:spPr>
          <a:xfrm>
            <a:off x="5090008" y="1783080"/>
            <a:ext cx="2011680" cy="2148840"/>
          </a:xfrm>
          <a:prstGeom prst="roundRect">
            <a:avLst>
              <a:gd name="adj" fmla="val 5455"/>
            </a:avLst>
          </a:prstGeom>
          <a:solidFill>
            <a:schemeClr val="accent1">
              <a:alpha val="70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18608" y="1984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03</a:t>
            </a:r>
            <a:endParaRPr lang="en-US" sz="1200" dirty="0"/>
          </a:p>
        </p:txBody>
      </p:sp>
      <p:pic>
        <p:nvPicPr>
          <p:cNvPr id="18" name="Image 2" descr="LuBadg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040" y="1965960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318608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Категория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318608" y="32004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направление · грейд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147408" y="2857500"/>
            <a:ext cx="16756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2" name="card"/>
          <p:cNvSpPr/>
          <p:nvPr/>
        </p:nvSpPr>
        <p:spPr>
          <a:xfrm>
            <a:off x="7360691" y="1783080"/>
            <a:ext cx="2011680" cy="2148840"/>
          </a:xfrm>
          <a:prstGeom prst="roundRect">
            <a:avLst>
              <a:gd name="adj" fmla="val 5455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589291" y="1984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04</a:t>
            </a:r>
            <a:endParaRPr lang="en-US" sz="1200" dirty="0"/>
          </a:p>
        </p:txBody>
      </p:sp>
      <p:pic>
        <p:nvPicPr>
          <p:cNvPr id="24" name="Image 3" descr="Lu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723" y="1965960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589291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Подборка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589291" y="32004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балл с объяснением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9418091" y="2857500"/>
            <a:ext cx="16756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8" name="card"/>
          <p:cNvSpPr/>
          <p:nvPr/>
        </p:nvSpPr>
        <p:spPr>
          <a:xfrm>
            <a:off x="9631375" y="1783080"/>
            <a:ext cx="2011680" cy="2148840"/>
          </a:xfrm>
          <a:prstGeom prst="roundRect">
            <a:avLst>
              <a:gd name="adj" fmla="val 5455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9859975" y="1984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05</a:t>
            </a:r>
            <a:endParaRPr lang="en-US" sz="1200" dirty="0"/>
          </a:p>
        </p:txBody>
      </p:sp>
      <p:pic>
        <p:nvPicPr>
          <p:cNvPr id="30" name="Image 4" descr="LuS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0407" y="1965960"/>
            <a:ext cx="384048" cy="38404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859975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Приглашение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9859975" y="32004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вилка зарплаты сразу</a:t>
            </a:r>
            <a:endParaRPr lang="en-US" sz="1200" dirty="0"/>
          </a:p>
        </p:txBody>
      </p:sp>
      <p:sp>
        <p:nvSpPr>
          <p:cNvPr id="33" name="card"/>
          <p:cNvSpPr/>
          <p:nvPr/>
        </p:nvSpPr>
        <p:spPr>
          <a:xfrm>
            <a:off x="548640" y="434340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icon-bg"/>
          <p:cNvSpPr/>
          <p:nvPr/>
        </p:nvSpPr>
        <p:spPr>
          <a:xfrm>
            <a:off x="822960" y="4617720"/>
            <a:ext cx="548640" cy="548640"/>
          </a:xfrm>
          <a:prstGeom prst="ellipse">
            <a:avLst/>
          </a:prstGeom>
          <a:solidFill>
            <a:srgbClr val="EC1D35"/>
          </a:solidFill>
          <a:ln/>
        </p:spPr>
      </p:sp>
      <p:pic>
        <p:nvPicPr>
          <p:cNvPr id="35" name="Image 5" descr="Lu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34" y="4749394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554480" y="452628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Кандидат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проходит путь один раз и ждёт приглашений</a:t>
            </a:r>
            <a:endParaRPr lang="en-US" sz="1400" dirty="0"/>
          </a:p>
        </p:txBody>
      </p:sp>
      <p:sp>
        <p:nvSpPr>
          <p:cNvPr id="37" name="card"/>
          <p:cNvSpPr/>
          <p:nvPr/>
        </p:nvSpPr>
        <p:spPr>
          <a:xfrm>
            <a:off x="6199632" y="4343400"/>
            <a:ext cx="5440680" cy="1463040"/>
          </a:xfrm>
          <a:prstGeom prst="roundRect">
            <a:avLst>
              <a:gd name="adj" fmla="val 7500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icon-bg"/>
          <p:cNvSpPr/>
          <p:nvPr/>
        </p:nvSpPr>
        <p:spPr>
          <a:xfrm>
            <a:off x="6473952" y="4617720"/>
            <a:ext cx="548640" cy="54864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39" name="Image 6" descr="LuEyeOf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5626" y="4749394"/>
            <a:ext cx="285293" cy="285293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205472" y="452628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Контакты скрыты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пока кандидат не принял приглашение или не откликнулся сам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03 · путь кандидата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Кандидат: от опроса до категории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9164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Профиль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из PDF-резюме: правила и GigaChat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478024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Опрос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отрасль, направление, стаж, стек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310128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10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264408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Тест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10 заданий, таймер, ответы сохраняются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096512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96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05079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Результат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θ, балл, разбор по темам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882896"/>
            <a:ext cx="438912" cy="43891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8828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837176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Согласие и ФСП ID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профиль виден работодателям</a:t>
            </a:r>
            <a:endParaRPr lang="en-US" sz="1500" dirty="0"/>
          </a:p>
        </p:txBody>
      </p:sp>
      <p:sp>
        <p:nvSpPr>
          <p:cNvPr id="19" name="shot-frame"/>
          <p:cNvSpPr/>
          <p:nvPr/>
        </p:nvSpPr>
        <p:spPr>
          <a:xfrm>
            <a:off x="5020056" y="1682496"/>
            <a:ext cx="6677863" cy="4214813"/>
          </a:xfrm>
          <a:prstGeom prst="roundRect">
            <a:avLst>
              <a:gd name="adj" fmla="val 2169"/>
            </a:avLst>
          </a:prstGeom>
          <a:solidFill>
            <a:schemeClr val="bg2"/>
          </a:solidFill>
          <a:ln w="9525">
            <a:solidFill>
              <a:schemeClr val="accent3">
                <a:alpha val="50000"/>
              </a:scheme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Экран результата экспресс-тес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737360"/>
            <a:ext cx="6568135" cy="41050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074920" y="5979605"/>
            <a:ext cx="6568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Стенд: экспресс-тест Backend · Middle, 5 из 5 — категория присвоена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04 · путь работодателя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Работодатель: подборка с объяснением</a:t>
            </a:r>
            <a:endParaRPr lang="en-US" sz="3000" dirty="0"/>
          </a:p>
        </p:txBody>
      </p:sp>
      <p:sp>
        <p:nvSpPr>
          <p:cNvPr id="4" name="shot-frame"/>
          <p:cNvSpPr/>
          <p:nvPr/>
        </p:nvSpPr>
        <p:spPr>
          <a:xfrm>
            <a:off x="493776" y="1682496"/>
            <a:ext cx="6419088" cy="4053078"/>
          </a:xfrm>
          <a:prstGeom prst="roundRect">
            <a:avLst>
              <a:gd name="adj" fmla="val 2256"/>
            </a:avLst>
          </a:prstGeom>
          <a:solidFill>
            <a:schemeClr val="bg2"/>
          </a:solidFill>
          <a:ln w="9525">
            <a:solidFill>
              <a:schemeClr val="accent3">
                <a:alpha val="50000"/>
              </a:scheme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Подборка кандидатов под потребност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309360" cy="39433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1787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Стенд: подборка под вакансию «Python backend-разработчик»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164592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Балл соответствия 0–100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178040" y="1965960"/>
          <a:ext cx="4465015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269480" y="4206240"/>
            <a:ext cx="437357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chemeClr val="tx1"/>
                </a:solidFill>
              </a:rPr>
              <a:t>Причины и недостающий стек у каждого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chemeClr val="tx1"/>
                </a:solidFill>
              </a:rPr>
              <a:t>Тест под вакансию: 2 варианта равной сложности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chemeClr val="tx1"/>
                </a:solidFill>
              </a:rPr>
              <a:t>Приглашение с вилкой, контакты — после «да»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05 · code arena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Code Arena — следующий шаг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[ </a:t>
            </a:r>
            <a:pPr indent="0" marL="0">
              <a:buNone/>
            </a:pPr>
            <a:r>
              <a:rPr lang="en-US" sz="1400" b="1" dirty="0">
                <a:solidFill>
                  <a:srgbClr val="FFB547"/>
                </a:solidFill>
              </a:rPr>
              <a:t>статус: запланировано, в MVP не входит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 ]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2240280"/>
            <a:ext cx="3520440" cy="2606040"/>
          </a:xfrm>
          <a:prstGeom prst="roundRect">
            <a:avLst>
              <a:gd name="adj" fmla="val 4211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icon-bg"/>
          <p:cNvSpPr/>
          <p:nvPr/>
        </p:nvSpPr>
        <p:spPr>
          <a:xfrm>
            <a:off x="868680" y="2514600"/>
            <a:ext cx="594360" cy="59436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7" name="Image 0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2657246"/>
            <a:ext cx="309067" cy="30906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3375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Код в песочнице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79476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Задачи с запуском кода и автопроверкой — самый сильный сигнал навыка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361688" y="2240280"/>
            <a:ext cx="3520440" cy="2606040"/>
          </a:xfrm>
          <a:prstGeom prst="roundRect">
            <a:avLst>
              <a:gd name="adj" fmla="val 4211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icon-bg"/>
          <p:cNvSpPr/>
          <p:nvPr/>
        </p:nvSpPr>
        <p:spPr>
          <a:xfrm>
            <a:off x="4681728" y="2514600"/>
            <a:ext cx="594360" cy="59436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12" name="Image 1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374" y="2657246"/>
            <a:ext cx="309067" cy="309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81728" y="33375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Сигнал в профиле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81728" y="379476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Результат Арены рядом с категорией, а не вместо неё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8174736" y="2240280"/>
            <a:ext cx="3520440" cy="2606040"/>
          </a:xfrm>
          <a:prstGeom prst="roundRect">
            <a:avLst>
              <a:gd name="adj" fmla="val 4211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icon-bg"/>
          <p:cNvSpPr/>
          <p:nvPr/>
        </p:nvSpPr>
        <p:spPr>
          <a:xfrm>
            <a:off x="8494776" y="2514600"/>
            <a:ext cx="594360" cy="594360"/>
          </a:xfrm>
          <a:prstGeom prst="ellipse">
            <a:avLst/>
          </a:prstGeom>
          <a:solidFill>
            <a:srgbClr val="EC1D35"/>
          </a:solidFill>
          <a:ln/>
        </p:spPr>
      </p:sp>
      <p:pic>
        <p:nvPicPr>
          <p:cNvPr id="17" name="Image 2" descr="Lu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422" y="26572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94776" y="33375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Формат ФСП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94776" y="379476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Соревновательные раунды — естественная связка с федерацией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Почему не в MVP: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песочница дороже в инфраструктуре и времени кандидата (ADR 0003).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Сейчас практику закрывают короткие задания работодателей с оценкой GigaChat по рубрике.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06 · механика тестирования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Тест, который нельзя выучить</a:t>
            </a:r>
            <a:endParaRPr lang="en-US" sz="3000" dirty="0"/>
          </a:p>
        </p:txBody>
      </p:sp>
      <p:sp>
        <p:nvSpPr>
          <p:cNvPr id="4" name="icon-bg"/>
          <p:cNvSpPr/>
          <p:nvPr/>
        </p:nvSpPr>
        <p:spPr>
          <a:xfrm>
            <a:off x="548640" y="1737360"/>
            <a:ext cx="566928" cy="566928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5" name="Image 0" descr="LuShuff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1873423"/>
            <a:ext cx="294803" cy="294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916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36 генераторов, не вопросов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14 тем: 23 семейства генеративные, 13 концептуальные. Ответ вычисляет код</a:t>
            </a:r>
            <a:endParaRPr lang="en-US" sz="1600" dirty="0"/>
          </a:p>
        </p:txBody>
      </p:sp>
      <p:sp>
        <p:nvSpPr>
          <p:cNvPr id="7" name="icon-bg"/>
          <p:cNvSpPr/>
          <p:nvPr/>
        </p:nvSpPr>
        <p:spPr>
          <a:xfrm>
            <a:off x="548640" y="3108960"/>
            <a:ext cx="566928" cy="566928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8" name="Image 1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03" y="3245023"/>
            <a:ext cx="294803" cy="2948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30632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План: 5 тем × 2 задания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Профиль сложности задан грейдом — у всех кандидатов он один</a:t>
            </a:r>
            <a:endParaRPr lang="en-US" sz="1600" dirty="0"/>
          </a:p>
        </p:txBody>
      </p:sp>
      <p:sp>
        <p:nvSpPr>
          <p:cNvPr id="10" name="icon-bg"/>
          <p:cNvSpPr/>
          <p:nvPr/>
        </p:nvSpPr>
        <p:spPr>
          <a:xfrm>
            <a:off x="548640" y="4480560"/>
            <a:ext cx="566928" cy="566928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11" name="Image 2" descr="LuSigm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03" y="4616623"/>
            <a:ext cx="294803" cy="29480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44348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Модель Раша, оценка MAP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P(верно) = σ(θ − b), априорное N(cut(g), 1) — на пороге грейда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6720840" y="1691640"/>
            <a:ext cx="4922215" cy="4160520"/>
          </a:xfrm>
          <a:prstGeom prst="roundRect">
            <a:avLst>
              <a:gd name="adj" fmla="val 2637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95160" y="192024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Пороги θ: cut(g) = order − 1.75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132320" y="3108960"/>
            <a:ext cx="4099255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691309" y="2907792"/>
            <a:ext cx="0" cy="402336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234109" y="25420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Intern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7234109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−1.75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436628" y="2907792"/>
            <a:ext cx="0" cy="402336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979428" y="25420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Junior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7979428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−0.75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181948" y="2907792"/>
            <a:ext cx="0" cy="402336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724748" y="25420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Middle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8724748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0.25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9927267" y="2907792"/>
            <a:ext cx="0" cy="402336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470067" y="25420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Senior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470067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1.25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10672586" y="2907792"/>
            <a:ext cx="0" cy="402336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10215386" y="25420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Lead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10215386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2.25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6995160" y="3749040"/>
            <a:ext cx="43735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Грейд — только большинством верных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 из 10 в полном тесте (Intern — 5, Lead — 7), 3 из 5 в экспресс-тесте. 0 верных не подтверждает ничего (FSP-61)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Тестом грейд не понижается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θ ≥ cut следующего + 0.35 — совет пройти уровень выше; пересдача через 90 дней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07 · устойчивость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Утечка ответов почти не помогает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Junior сдаёт тест Middle, %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01168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d"/>
          <p:cNvSpPr/>
          <p:nvPr/>
        </p:nvSpPr>
        <p:spPr>
          <a:xfrm>
            <a:off x="7498080" y="1691640"/>
            <a:ext cx="4144975" cy="1188720"/>
          </a:xfrm>
          <a:prstGeom prst="roundRect">
            <a:avLst>
              <a:gd name="adj" fmla="val 9231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0" y="1801368"/>
            <a:ext cx="3596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3.0%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2350008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генеративных заданий раскрыто после слива 200 попыток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7498080" y="3063240"/>
            <a:ext cx="4144975" cy="1188720"/>
          </a:xfrm>
          <a:prstGeom prst="roundRect">
            <a:avLst>
              <a:gd name="adj" fmla="val 9231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0" y="3172968"/>
            <a:ext cx="3596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0.8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721608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раскрытых заданий в попытке из 10, в среднем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7498080" y="4434840"/>
            <a:ext cx="4144975" cy="1188720"/>
          </a:xfrm>
          <a:prstGeom prst="roundRect">
            <a:avLst>
              <a:gd name="adj" fmla="val 9231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0" y="4544568"/>
            <a:ext cx="3596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≤ 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5093208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концептуальное задание в попытке; первое в теме — генеративное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08 · валидация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Грейд по тесту точнее самооценки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64592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D38A"/>
                </a:solidFill>
              </a:rPr>
              <a:t>69.5%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420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грейд по тесту совпадает с истинным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самооценка — 65.5%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361688" y="164592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36008" y="1828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EDED"/>
                </a:solidFill>
              </a:rPr>
              <a:t>98.7%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25420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ошибка не больше одной ступени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600 кандидатов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8174736" y="164592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49056" y="1828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EDED"/>
                </a:solidFill>
              </a:rPr>
              <a:t>7.0%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449056" y="25420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грейд завышен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Middle не окажется Junior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548640" y="361188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7947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EDED"/>
                </a:solidFill>
              </a:rPr>
              <a:t>0.83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5079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корреляция θ двух попыток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400 кандидатов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4361688" y="361188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6008" y="37947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EDED"/>
                </a:solidFill>
              </a:rPr>
              <a:t>0.49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4636008" y="45079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ошибка θ, логита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коридор грейда — 1 логит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8174736" y="361188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49056" y="37947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EDED"/>
                </a:solidFill>
              </a:rPr>
              <a:t>1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8449056" y="45079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профиль сложности на грейд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из 1 200 вариантов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Синтетические кандидаты с известной θ отвечают верно с вероятностью σ(θ − b). scripts/validate.py, зерно 20261010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09 · качество подбора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Подборка точнее поиска по стеку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Precision@10, среднее по 20 пулам из 150 кандидатов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01168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d"/>
          <p:cNvSpPr/>
          <p:nvPr/>
        </p:nvSpPr>
        <p:spPr>
          <a:xfrm>
            <a:off x="7818120" y="1691640"/>
            <a:ext cx="3824935" cy="4069080"/>
          </a:xfrm>
          <a:prstGeom prst="roundRect">
            <a:avLst>
              <a:gd name="adj" fmla="val 2869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92440" y="1920240"/>
            <a:ext cx="327629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0.57–0.67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поиск по стеку, как на универсальных площадках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0.90–0.96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 подтверждённой категорией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26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На Frontend Junior–Middle заявленный грейд сопоставим: узкий нижний диапазон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10 · нагрузка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Нагрузка: 0 ошибок при 50 пользователях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691640"/>
            <a:ext cx="4206240" cy="1828800"/>
          </a:xfrm>
          <a:prstGeom prst="roundRect">
            <a:avLst>
              <a:gd name="adj" fmla="val 6000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10 пользователей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378 зап/с</a:t>
            </a:r>
            <a:endParaRPr lang="en-US" sz="2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p95 ≤ 63 мс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включая подборку с объяснением</a:t>
            </a:r>
            <a:endParaRPr lang="en-US" sz="2400" dirty="0"/>
          </a:p>
        </p:txBody>
      </p:sp>
      <p:sp>
        <p:nvSpPr>
          <p:cNvPr id="7" name="card"/>
          <p:cNvSpPr/>
          <p:nvPr/>
        </p:nvSpPr>
        <p:spPr>
          <a:xfrm>
            <a:off x="548640" y="3749040"/>
            <a:ext cx="4206240" cy="1828800"/>
          </a:xfrm>
          <a:prstGeom prst="roundRect">
            <a:avLst>
              <a:gd name="adj" fmla="val 6000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50 пользователей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210 зап/с</a:t>
            </a:r>
            <a:endParaRPr lang="en-US" sz="2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B547"/>
                </a:solidFill>
              </a:rPr>
              <a:t>p95 ≈ 0.7 с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p50 ≈ 0.17 с, очередь на 2 воркерах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1645920"/>
            <a:ext cx="6568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p95, мс: 10 и 50 пользователей · ошибок 0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983480" y="2011680"/>
          <a:ext cx="665957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074920" y="5394960"/>
            <a:ext cx="6568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Стенд docker compose: PostgreSQL 16, Redis, API на двух воркерах, 120 кандидатов, машина на четырёх ядрах вместе с генератором нагрузки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11 · архитектура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Архитектура и роль GigaChat</a:t>
            </a:r>
            <a:endParaRPr lang="en-US" sz="3000" dirty="0"/>
          </a:p>
        </p:txBody>
      </p:sp>
      <p:sp>
        <p:nvSpPr>
          <p:cNvPr id="4" name="arch-React SPA"/>
          <p:cNvSpPr/>
          <p:nvPr/>
        </p:nvSpPr>
        <p:spPr>
          <a:xfrm>
            <a:off x="548640" y="1691640"/>
            <a:ext cx="2194560" cy="777240"/>
          </a:xfrm>
          <a:prstGeom prst="roundRect">
            <a:avLst>
              <a:gd name="adj" fmla="val 11765"/>
            </a:avLst>
          </a:prstGeom>
          <a:solidFill>
            <a:schemeClr val="bg2">
              <a:alpha val="90000"/>
            </a:schemeClr>
          </a:solidFill>
          <a:ln w="9525">
            <a:solidFill>
              <a:srgbClr val="3A3C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React SPA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оба кабинета, лендинг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2080260"/>
            <a:ext cx="457200" cy="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arch-nginx"/>
          <p:cNvSpPr/>
          <p:nvPr/>
        </p:nvSpPr>
        <p:spPr>
          <a:xfrm>
            <a:off x="3200400" y="1691640"/>
            <a:ext cx="1828800" cy="777240"/>
          </a:xfrm>
          <a:prstGeom prst="roundRect">
            <a:avLst>
              <a:gd name="adj" fmla="val 11765"/>
            </a:avLst>
          </a:prstGeom>
          <a:solidFill>
            <a:schemeClr val="bg2">
              <a:alpha val="90000"/>
            </a:schemeClr>
          </a:solidFill>
          <a:ln w="9525">
            <a:solidFill>
              <a:srgbClr val="3A3C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691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nginx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статика + /api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0" y="2468880"/>
            <a:ext cx="0" cy="4114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arch-FastAPI — модульный монолит"/>
          <p:cNvSpPr/>
          <p:nvPr/>
        </p:nvSpPr>
        <p:spPr>
          <a:xfrm>
            <a:off x="548640" y="2880360"/>
            <a:ext cx="630936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90000"/>
            </a:schemeClr>
          </a:solidFill>
          <a:ln w="9525">
            <a:solidFill>
              <a:srgbClr val="3A3C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88036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FastAPI — модульный монолит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models · service · router; методика — чистые функции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57300" y="3794760"/>
            <a:ext cx="0" cy="5029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arch-PostgreSQL"/>
          <p:cNvSpPr/>
          <p:nvPr/>
        </p:nvSpPr>
        <p:spPr>
          <a:xfrm>
            <a:off x="548640" y="429768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bg2">
              <a:alpha val="90000"/>
            </a:schemeClr>
          </a:solidFill>
          <a:ln w="9525">
            <a:solidFill>
              <a:srgbClr val="3A3C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297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PostgreSQL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16 · данные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887675" y="3794760"/>
            <a:ext cx="0" cy="5029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6" name="arch-Redis 7"/>
          <p:cNvSpPr/>
          <p:nvPr/>
        </p:nvSpPr>
        <p:spPr>
          <a:xfrm>
            <a:off x="2179015" y="429768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bg2">
              <a:alpha val="90000"/>
            </a:schemeClr>
          </a:solidFill>
          <a:ln w="9525">
            <a:solidFill>
              <a:srgbClr val="3A3C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70455" y="4297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Redis 7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лимиты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18050" y="3794760"/>
            <a:ext cx="0" cy="5029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arch-GigaChat"/>
          <p:cNvSpPr/>
          <p:nvPr/>
        </p:nvSpPr>
        <p:spPr>
          <a:xfrm>
            <a:off x="3809390" y="429768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accent2">
              <a:alpha val="90000"/>
            </a:schemeClr>
          </a:solidFill>
          <a:ln w="9525">
            <a:solidFill>
              <a:srgbClr val="3A3C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00830" y="4297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GigaChat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по ключу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48426" y="3794760"/>
            <a:ext cx="0" cy="5029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2" name="arch-FspProvider"/>
          <p:cNvSpPr/>
          <p:nvPr/>
        </p:nvSpPr>
        <p:spPr>
          <a:xfrm>
            <a:off x="5439766" y="429768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bg2">
              <a:alpha val="90000"/>
            </a:schemeClr>
          </a:solidFill>
          <a:ln w="9525">
            <a:solidFill>
              <a:srgbClr val="3A3C4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1206" y="4297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FspProvider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эмулятор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Docker Compose, стенд в Yandex Cloud</a:t>
            </a:r>
            <a:endParaRPr lang="en-US" sz="1100" dirty="0"/>
          </a:p>
        </p:txBody>
      </p:sp>
      <p:sp>
        <p:nvSpPr>
          <p:cNvPr id="25" name="card"/>
          <p:cNvSpPr/>
          <p:nvPr/>
        </p:nvSpPr>
        <p:spPr>
          <a:xfrm>
            <a:off x="7269480" y="1691640"/>
            <a:ext cx="4373575" cy="4069080"/>
          </a:xfrm>
          <a:prstGeom prst="roundRect">
            <a:avLst>
              <a:gd name="adj" fmla="val 2697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icon-bg"/>
          <p:cNvSpPr/>
          <p:nvPr/>
        </p:nvSpPr>
        <p:spPr>
          <a:xfrm>
            <a:off x="7543800" y="1920240"/>
            <a:ext cx="502920" cy="502920"/>
          </a:xfrm>
          <a:prstGeom prst="ellipse">
            <a:avLst/>
          </a:prstGeom>
          <a:solidFill>
            <a:srgbClr val="EC1D35"/>
          </a:solidFill>
          <a:ln/>
        </p:spPr>
      </p:sp>
      <p:pic>
        <p:nvPicPr>
          <p:cNvPr id="27" name="Image 0" descr="LuSpark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4501" y="2040941"/>
            <a:ext cx="261518" cy="26151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183880" y="1920240"/>
            <a:ext cx="3184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GigaChat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543800" y="2606040"/>
            <a:ext cx="38249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Разбор резюме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ФИО, стек, роли, стаж → JSON, сливается с правилами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Короткие задания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оценка ответа по рубрике и отзыв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5468"/>
                </a:solidFill>
              </a:rPr>
              <a:t>Тест не трогает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не генерирует и не проверяет задания — ради сопоставимости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Без ключа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всё работает на правилах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12 · доверие и интеграции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Антифейк и ATS: есть и спроектировано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691640"/>
            <a:ext cx="5400904" cy="4114800"/>
          </a:xfrm>
          <a:prstGeom prst="roundRect">
            <a:avLst>
              <a:gd name="adj" fmla="val 2667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icon-bg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rgbClr val="2FD38A"/>
          </a:solidFill>
          <a:ln/>
        </p:spPr>
      </p:sp>
      <p:pic>
        <p:nvPicPr>
          <p:cNvPr id="6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204094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920240"/>
            <a:ext cx="4212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Уже в продукте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485226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chemeClr val="tx1"/>
                </a:solidFill>
              </a:rPr>
              <a:t>Вилка зарплаты обязательна в вакансии и приглашении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chemeClr val="tx1"/>
                </a:solidFill>
              </a:rPr>
              <a:t>Повторно пригласить, пока первое не закрыто, нельзя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chemeClr val="tx1"/>
                </a:solidFill>
              </a:rPr>
              <a:t>Контакты скрыты до согласия, псевдоним «Кандидат #A1B2»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chemeClr val="tx1"/>
                </a:solidFill>
              </a:rPr>
              <a:t>Журнал согласий с редакцией текста (152-ФЗ)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chemeClr val="tx1"/>
                </a:solidFill>
              </a:rPr>
              <a:t>Лимиты: регистрация 3/мин, вход 5/мин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00" dirty="0">
                <a:solidFill>
                  <a:schemeClr val="tx1"/>
                </a:solidFill>
              </a:rPr>
              <a:t>Стандартный PDF-профиль кандидата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42152" y="1691640"/>
            <a:ext cx="5400904" cy="4114800"/>
          </a:xfrm>
          <a:prstGeom prst="roundRect">
            <a:avLst>
              <a:gd name="adj" fmla="val 2667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icon-bg"/>
          <p:cNvSpPr/>
          <p:nvPr/>
        </p:nvSpPr>
        <p:spPr>
          <a:xfrm>
            <a:off x="6516472" y="1920240"/>
            <a:ext cx="502920" cy="50292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11" name="Image 1" descr="LuWebh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172" y="204094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6552" y="1920240"/>
            <a:ext cx="4212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Спроектировано, не в MVP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516472" y="2697480"/>
            <a:ext cx="485226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○"/>
            </a:pPr>
            <a:r>
              <a:rPr lang="en-US" sz="1400" dirty="0">
                <a:solidFill>
                  <a:schemeClr val="tx1"/>
                </a:solidFill>
              </a:rPr>
              <a:t>Проверка компании по ИНН (ЕГРЮЛ) и домену почты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○"/>
            </a:pPr>
            <a:r>
              <a:rPr lang="en-US" sz="1400" dirty="0">
                <a:solidFill>
                  <a:schemeClr val="tx1"/>
                </a:solidFill>
              </a:rPr>
              <a:t>Репутация работодателя и лимит приглашений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○"/>
            </a:pPr>
            <a:r>
              <a:rPr lang="en-US" sz="1400" dirty="0">
                <a:solidFill>
                  <a:schemeClr val="tx1"/>
                </a:solidFill>
              </a:rPr>
              <a:t>Вилка против медианы категории, выбросы — на модерацию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○"/>
            </a:pPr>
            <a:r>
              <a:rPr lang="en-US" sz="1400" dirty="0">
                <a:solidFill>
                  <a:schemeClr val="tx1"/>
                </a:solidFill>
              </a:rPr>
              <a:t>ATS: вебхуки с подписью HMAC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○"/>
            </a:pPr>
            <a:r>
              <a:rPr lang="en-US" sz="1400" dirty="0">
                <a:solidFill>
                  <a:schemeClr val="tx1"/>
                </a:solidFill>
              </a:rPr>
              <a:t>ATS: API-ключ компании для вакансий и статусов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○"/>
            </a:pPr>
            <a:r>
              <a:rPr lang="en-US" sz="1400" dirty="0">
                <a:solidFill>
                  <a:schemeClr val="tx1"/>
                </a:solidFill>
              </a:rPr>
              <a:t>Экспорт профиля в JSON Resume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13 · что дальше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Что дальше вместе с ФСП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2011680" cy="2926080"/>
          </a:xfrm>
          <a:prstGeom prst="roundRect">
            <a:avLst>
              <a:gd name="adj" fmla="val 5455"/>
            </a:avLst>
          </a:prstGeom>
          <a:solidFill>
            <a:schemeClr val="accent1">
              <a:alpha val="70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icon-bg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EC1D35"/>
          </a:solidFill>
          <a:ln/>
        </p:spPr>
      </p:sp>
      <p:pic>
        <p:nvPicPr>
          <p:cNvPr id="6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13238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ФСП ID и реестр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918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Вход через Keycloak (OIDC + PKCE), реальные достижения — одна реализация FspProvider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2819324" y="1783080"/>
            <a:ext cx="2011680" cy="2926080"/>
          </a:xfrm>
          <a:prstGeom prst="roundRect">
            <a:avLst>
              <a:gd name="adj" fmla="val 5455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icon-bg"/>
          <p:cNvSpPr/>
          <p:nvPr/>
        </p:nvSpPr>
        <p:spPr>
          <a:xfrm>
            <a:off x="3047924" y="2011680"/>
            <a:ext cx="502920" cy="50292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11" name="Image 1" descr="LuFlaskConic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625" y="213238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47924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Пилот на участниках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047924" y="32918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Калибровка сложности семейств по реальным ответам и контроль дрейфа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5090008" y="1783080"/>
            <a:ext cx="2011680" cy="2926080"/>
          </a:xfrm>
          <a:prstGeom prst="roundRect">
            <a:avLst>
              <a:gd name="adj" fmla="val 5455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icon-bg"/>
          <p:cNvSpPr/>
          <p:nvPr/>
        </p:nvSpPr>
        <p:spPr>
          <a:xfrm>
            <a:off x="5318608" y="2011680"/>
            <a:ext cx="502920" cy="50292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16" name="Image 2" descr="LuTarg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308" y="2132381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8608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Адаптивный тест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318608" y="32918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Задание по текущей θ, остановка по точности — тот же банк</a:t>
            </a:r>
            <a:endParaRPr lang="en-US" sz="1200" dirty="0"/>
          </a:p>
        </p:txBody>
      </p:sp>
      <p:sp>
        <p:nvSpPr>
          <p:cNvPr id="19" name="card"/>
          <p:cNvSpPr/>
          <p:nvPr/>
        </p:nvSpPr>
        <p:spPr>
          <a:xfrm>
            <a:off x="7360691" y="1783080"/>
            <a:ext cx="2011680" cy="2926080"/>
          </a:xfrm>
          <a:prstGeom prst="roundRect">
            <a:avLst>
              <a:gd name="adj" fmla="val 5455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icon-bg"/>
          <p:cNvSpPr/>
          <p:nvPr/>
        </p:nvSpPr>
        <p:spPr>
          <a:xfrm>
            <a:off x="7589291" y="2011680"/>
            <a:ext cx="502920" cy="50292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21" name="Image 3" descr="LuTermin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9992" y="2132381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89291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Code Arena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589291" y="32918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Задачи с запуском кода и соревновательные раунды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9631375" y="1783080"/>
            <a:ext cx="2011680" cy="2926080"/>
          </a:xfrm>
          <a:prstGeom prst="roundRect">
            <a:avLst>
              <a:gd name="adj" fmla="val 5455"/>
            </a:avLst>
          </a:prstGeom>
          <a:solidFill>
            <a:schemeClr val="bg2">
              <a:alpha val="85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icon-bg"/>
          <p:cNvSpPr/>
          <p:nvPr/>
        </p:nvSpPr>
        <p:spPr>
          <a:xfrm>
            <a:off x="9859975" y="2011680"/>
            <a:ext cx="502920" cy="50292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26" name="Image 4" descr="LuShield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0676" y="2132381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859975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Модерация и ATS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9859975" y="32918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Проверка компаний, репутация, вебхуки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4983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Что нужно от ФСП: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доступ к ФСП ID и API реестра, пилотная группа участников соревнований и партнёры-работодатели.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Hyre</a:t>
            </a:r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514600" y="475488"/>
            <a:ext cx="0" cy="42062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Логотип ФС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7480" y="502920"/>
            <a:ext cx="292608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280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DAText" pitchFamily="34" charset="0"/>
                <a:ea typeface="TDAText" pitchFamily="34" charset="-122"/>
                <a:cs typeface="TDAText" pitchFamily="34" charset="-120"/>
              </a:rPr>
              <a:t>Попробуйте сами</a:t>
            </a:r>
            <a:endParaRPr lang="en-US" sz="4000" dirty="0"/>
          </a:p>
        </p:txBody>
      </p:sp>
      <p:sp>
        <p:nvSpPr>
          <p:cNvPr id="6" name="icon-bg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7" name="Image 1" descr="Lu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4633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28600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Стенд</a:t>
            </a:r>
            <a:endParaRPr lang="en-US" sz="1200" dirty="0"/>
          </a:p>
          <a:p>
            <a:pPr indent="0" marL="0">
              <a:buNone/>
            </a:pPr>
            <a:r>
              <a:rPr lang="en-US" sz="1700" b="1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hyrekit.ru</a:t>
            </a:r>
            <a:endParaRPr lang="en-US" sz="1200" dirty="0"/>
          </a:p>
        </p:txBody>
      </p:sp>
      <p:sp>
        <p:nvSpPr>
          <p:cNvPr id="9" name="icon-bg"/>
          <p:cNvSpPr/>
          <p:nvPr/>
        </p:nvSpPr>
        <p:spPr>
          <a:xfrm>
            <a:off x="548640" y="3172968"/>
            <a:ext cx="548640" cy="548640"/>
          </a:xfrm>
          <a:prstGeom prst="ellipse">
            <a:avLst/>
          </a:prstGeom>
          <a:solidFill>
            <a:srgbClr val="EC1D35"/>
          </a:solidFill>
          <a:ln/>
        </p:spPr>
      </p:sp>
      <p:pic>
        <p:nvPicPr>
          <p:cNvPr id="10" name="Image 2" descr="LuTim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3304642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1272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Экспресс-тест за 5 минут</a:t>
            </a:r>
            <a:endParaRPr lang="en-US" sz="1200" dirty="0"/>
          </a:p>
          <a:p>
            <a:pPr indent="0" marL="0">
              <a:buNone/>
            </a:pPr>
            <a:r>
              <a:rPr lang="en-US" sz="1700" b="1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hyrekit.ru/express</a:t>
            </a:r>
            <a:endParaRPr lang="en-US" sz="1200" dirty="0"/>
          </a:p>
        </p:txBody>
      </p:sp>
      <p:sp>
        <p:nvSpPr>
          <p:cNvPr id="12" name="icon-bg"/>
          <p:cNvSpPr/>
          <p:nvPr/>
        </p:nvSpPr>
        <p:spPr>
          <a:xfrm>
            <a:off x="548640" y="4014216"/>
            <a:ext cx="548640" cy="54864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13" name="Image 3" descr="LuCod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4" y="4145890"/>
            <a:ext cx="285293" cy="28529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3968496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Репозиторий</a:t>
            </a:r>
            <a:endParaRPr lang="en-US" sz="1200" dirty="0"/>
          </a:p>
          <a:p>
            <a:pPr indent="0" marL="0">
              <a:buNone/>
            </a:pPr>
            <a:r>
              <a:rPr lang="en-US" sz="1700" b="1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github.com/Fighter90/hyrekit_fsp</a:t>
            </a:r>
            <a:endParaRPr lang="en-US" sz="1200" dirty="0"/>
          </a:p>
        </p:txBody>
      </p:sp>
      <p:sp>
        <p:nvSpPr>
          <p:cNvPr id="15" name="icon-bg"/>
          <p:cNvSpPr/>
          <p:nvPr/>
        </p:nvSpPr>
        <p:spPr>
          <a:xfrm>
            <a:off x="548640" y="4855464"/>
            <a:ext cx="548640" cy="548640"/>
          </a:xfrm>
          <a:prstGeom prst="ellipse">
            <a:avLst/>
          </a:prstGeom>
          <a:solidFill>
            <a:srgbClr val="402FFF"/>
          </a:solidFill>
          <a:ln/>
        </p:spPr>
      </p:sp>
      <p:pic>
        <p:nvPicPr>
          <p:cNvPr id="16" name="Image 4" descr="LuFileTex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4" y="4987138"/>
            <a:ext cx="285293" cy="285293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4809744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Инструкция для жюри</a:t>
            </a:r>
            <a:endParaRPr lang="en-US" sz="12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docs/jury.md в репозитории</a:t>
            </a:r>
            <a:endParaRPr lang="en-US" sz="1200" dirty="0"/>
          </a:p>
        </p:txBody>
      </p:sp>
      <p:sp>
        <p:nvSpPr>
          <p:cNvPr id="18" name="accounts"/>
          <p:cNvSpPr/>
          <p:nvPr/>
        </p:nvSpPr>
        <p:spPr>
          <a:xfrm>
            <a:off x="7086600" y="2331720"/>
            <a:ext cx="4556455" cy="2377440"/>
          </a:xfrm>
          <a:prstGeom prst="roundRect">
            <a:avLst>
              <a:gd name="adj" fmla="val 5385"/>
            </a:avLst>
          </a:prstGeom>
          <a:solidFill>
            <a:srgbClr val="15161B"/>
          </a:solidFill>
          <a:ln w="9525">
            <a:solidFill>
              <a:srgbClr val="3A3C46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406640" y="256032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Демо-аккаунты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7406640" y="306324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Кандидат</a:t>
            </a:r>
            <a:endParaRPr lang="en-US" sz="11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candidate@hyrekit.ru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Работодатель</a:t>
            </a:r>
            <a:endParaRPr lang="en-US" sz="11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employer@hyrekit.ru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Пароль у обоих</a:t>
            </a:r>
            <a:endParaRPr lang="en-US" sz="11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HyreKit2026</a:t>
            </a:r>
            <a:endParaRPr lang="en-US" sz="1100" dirty="0"/>
          </a:p>
        </p:txBody>
      </p:sp>
      <p:sp>
        <p:nvSpPr>
          <p:cNvPr id="21" name="Text 14"/>
          <p:cNvSpPr txBox="1"/>
          <p:nvPr/>
        </p:nvSpPr>
        <p:spPr>
          <a:xfrm>
            <a:off x="54864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Команда 1 · Хакатон ФСП 2026 · спасибо!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yreKit FSP">
  <a:themeElements>
    <a:clrScheme name="HyreKit FSP">
      <a:dk1>
        <a:srgbClr val="EDEDED"/>
      </a:dk1>
      <a:lt1>
        <a:srgbClr val="1B1C21"/>
      </a:lt1>
      <a:dk2>
        <a:srgbClr val="A4A5A8"/>
      </a:dk2>
      <a:lt2>
        <a:srgbClr val="2D2E37"/>
      </a:lt2>
      <a:accent1>
        <a:srgbClr val="402FFF"/>
      </a:accent1>
      <a:accent2>
        <a:srgbClr val="EC1D35"/>
      </a:accent2>
      <a:accent3>
        <a:srgbClr val="8173FF"/>
      </a:accent3>
      <a:accent4>
        <a:srgbClr val="2FD38A"/>
      </a:accent4>
      <a:accent5>
        <a:srgbClr val="FFB547"/>
      </a:accent5>
      <a:accent6>
        <a:srgbClr val="26272F"/>
      </a:accent6>
      <a:hlink>
        <a:srgbClr val="8173FF"/>
      </a:hlink>
      <a:folHlink>
        <a:srgbClr val="8173FF"/>
      </a:folHlink>
    </a:clrScheme>
    <a:fontScheme name="HyreKit FSP">
      <a:majorFont>
        <a:latin typeface="TDAT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JetBrains Mon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Команда 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HyreKit — питч</dc:title>
  <dc:subject>Хакатон ФСП 2026</dc:subject>
  <dc:creator>Команда 1</dc:creator>
  <cp:lastModifiedBy>Команда 1</cp:lastModifiedBy>
  <cp:revision>1</cp:revision>
  <dcterms:created xsi:type="dcterms:W3CDTF">2026-10-10T13:47:02Z</dcterms:created>
  <dcterms:modified xsi:type="dcterms:W3CDTF">2026-10-10T13:47:02Z</dcterms:modified>
</cp:coreProperties>
</file>