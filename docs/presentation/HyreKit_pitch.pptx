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41"/>
  </p:notesMasterIdLst>
  <p:sldIdLst>
    <p:sldId id="262" r:id="rId10"/>
    <p:sldId id="263" r:id="rId11"/>
    <p:sldId id="264" r:id="rId12"/>
    <p:sldId id="265" r:id="rId13"/>
    <p:sldId id="266" r:id="rId14"/>
    <p:sldId id="279" r:id="rId27"/>
    <p:sldId id="280" r:id="rId28"/>
    <p:sldId id="282" r:id="rId30"/>
    <p:sldId id="281" r:id="rId29"/>
    <p:sldId id="274" r:id="rId22"/>
    <p:sldId id="273" r:id="rId21"/>
    <p:sldId id="276" r:id="rId24"/>
    <p:sldId id="277" r:id="rId25"/>
    <p:sldId id="278" r:id="rId26"/>
    <p:sldId id="271" r:id="rId19"/>
    <p:sldId id="268" r:id="rId16"/>
    <p:sldId id="283" r:id="rId31"/>
    <p:sldId id="272" r:id="rId20"/>
    <p:sldId id="270" r:id="rId18"/>
    <p:sldId id="284" r:id="rId32"/>
    <p:sldId id="267" r:id="rId15"/>
    <p:sldId id="275" r:id="rId23"/>
    <p:sldId id="269" r:id="rId17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91" d="100"/>
          <a:sy n="91" d="100"/>
        </p:scale>
        <p:origin x="200" y="632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tableStyles" Target="tableStyles.xml"/><Relationship Id="rId44" Type="http://schemas.openxmlformats.org/officeDocument/2006/relationships/viewProps" Target="viewProp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Relationship Id="rId2" Type="http://schemas.microsoft.com/office/2011/relationships/chartStyle" Target="style3.xml"/><Relationship Id="rId3" Type="http://schemas.microsoft.com/office/2011/relationships/chartColorStyle" Target="colors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1688"/>
          <c:y val="0.126935"/>
          <c:w val="0.926086"/>
          <c:h val="0.6674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Junior сдаёт тест Middle, %</c:v>
                </c:pt>
              </c:strCache>
            </c:strRef>
          </c:tx>
          <c:spPr bwMode="auto">
            <a:prstGeom prst="rect">
              <a:avLst/>
            </a:prstGeom>
            <a:solidFill>
              <a:schemeClr val="accent1"/>
            </a:solidFill>
            <a:ln w="63500">
              <a:noFill/>
            </a:ln>
            <a:effectLst/>
          </c:spPr>
          <c:invertIfNegative val="0"/>
          <c:dPt>
            <c:idx val="0"/>
            <c:spPr>
              <a:solidFill>
                <a:srgbClr val="8A83D1"/>
              </a:solidFill>
            </c:spPr>
          </c:dPt>
          <c:dPt>
            <c:idx val="1"/>
            <c:spPr>
              <a:solidFill>
                <a:srgbClr val="FC3777"/>
              </a:solidFill>
            </c:spPr>
          </c:dPt>
          <c:dPt>
            <c:idx val="2"/>
            <c:spPr>
              <a:solidFill>
                <a:srgbClr val="FF0053"/>
              </a:solidFill>
            </c:spPr>
          </c:dPt>
          <c:cat>
            <c:strRef>
              <c:f>Sheet1!$A$2:$A$4</c:f>
              <c:strCache>
                <c:ptCount val="3"/>
                <c:pt idx="0">
                  <c:v>Честно
19,3 %</c:v>
                </c:pt>
                <c:pt idx="1">
                  <c:v>Шпаргалка
200 попыток
29,7 %</c:v>
                </c:pt>
                <c:pt idx="2">
                  <c:v>Статичный
тест
100 %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19.3</c:v>
                </c:pt>
                <c:pt idx="1">
                  <c:v>29.7</c:v>
                </c:pt>
                <c:pt idx="2">
                  <c:v>100.0</c:v>
                </c:pt>
              </c:numCache>
            </c:numRef>
          </c:val>
        </c:ser>
        <c:dLbls>
          <c:showBubbleSize val="0"/>
          <c:showCatName val="0"/>
          <c:showLeaderLines val="0"/>
          <c:numFmt formatCode="0.0&quot;%&quot;" sourceLinked="0"/>
          <c:txPr>
            <a:bodyPr/>
            <a:lstStyle/>
            <a:p>
              <a:pPr>
                <a:defRPr sz="1400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Percent val="0"/>
          <c:showSerName val="0"/>
          <c:showVal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rgbClr val="FFFFFF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100.0"/>
          <c:min val="0.0"/>
        </c:scaling>
        <c:delete val="0"/>
        <c:axPos val="l"/>
        <c:majorGridlines>
          <c:spPr bwMode="auto">
            <a:prstGeom prst="rect">
              <a:avLst/>
            </a:prstGeom>
            <a:ln w="9525" cap="flat" cmpd="sng" algn="ctr">
              <a:solidFill>
                <a:srgbClr val="8A6BA8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>
                <a:solidFill>
                  <a:srgbClr val="FFFFFF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688540351"/>
        <c:crosses val="autoZero"/>
        <c:crossBetween val="between"/>
        <c:majorUnit val="20.0"/>
      </c:valAx>
      <c:spPr bwMode="auto">
        <a:prstGeom prst="rect">
          <a:avLst/>
        </a:prstGeom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030341"/>
          <c:y val="0.938201"/>
          <c:w val="0.947401"/>
          <c:h val="0.061799"/>
        </c:manualLayout>
      </c:layout>
      <c:overlay val="0"/>
      <c:spPr bwMode="auto"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>
              <a:solidFill>
                <a:srgbClr val="FFFFFF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 bwMode="auto">
    <a:xfrm rot="0">
      <a:off x="346075" y="1424510"/>
      <a:ext cx="5749925" cy="4401748"/>
    </a:xfrm>
    <a:prstGeom prst="rect">
      <a:avLst/>
    </a:prstGeom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1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3"/>
          <c:y val="0.126935"/>
          <c:w val="0.864242"/>
          <c:h val="0.667471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%, 600 синтетических кандидатов</c:v>
                </c:pt>
              </c:strCache>
            </c:strRef>
          </c:tx>
          <c:spPr bwMode="auto">
            <a:prstGeom prst="rect">
              <a:avLst/>
            </a:prstGeom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 bwMode="auto">
              <a:prstGeom prst="rect">
                <a:avLst/>
              </a:prstGeom>
              <a:solidFill>
                <a:srgbClr val="FC3777"/>
              </a:solidFill>
              <a:ln w="63500">
                <a:noFill/>
              </a:ln>
              <a:effectLst/>
            </c:spPr>
          </c:dPt>
          <c:dPt>
            <c:idx val="1"/>
            <c:invertIfNegative val="0"/>
            <c:bubble3D val="0"/>
            <c:spPr bwMode="auto">
              <a:prstGeom prst="rect">
                <a:avLst/>
              </a:prstGeom>
              <a:solidFill>
                <a:srgbClr val="520978"/>
              </a:solidFill>
              <a:ln w="63500">
                <a:noFill/>
              </a:ln>
              <a:effectLst/>
            </c:spPr>
          </c:dPt>
          <c:dPt>
            <c:idx val="2"/>
            <c:invertIfNegative val="0"/>
            <c:bubble3D val="0"/>
            <c:spPr bwMode="auto">
              <a:prstGeom prst="rect">
                <a:avLst/>
              </a:prstGeom>
              <a:solidFill>
                <a:srgbClr val="FF0053"/>
              </a:solidFill>
              <a:ln w="63500">
                <a:noFill/>
              </a:ln>
              <a:effectLst/>
            </c:spPr>
          </c:dPt>
          <c:dPt>
            <c:idx val="3"/>
            <c:invertIfNegative val="0"/>
            <c:bubble3D val="0"/>
            <c:spPr bwMode="auto">
              <a:prstGeom prst="rect">
                <a:avLst/>
              </a:prstGeom>
              <a:solidFill>
                <a:srgbClr val="8A83D1"/>
              </a:solidFill>
              <a:ln w="63500">
                <a:noFill/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Грейд завышен 7,0 %</c:v>
                </c:pt>
                <c:pt idx="1">
                  <c:v>Ошибка ≤ 1 ступени 98,7 %</c:v>
                </c:pt>
                <c:pt idx="2">
                  <c:v>Тест совпал 69,5 %</c:v>
                </c:pt>
                <c:pt idx="3">
                  <c:v>Самооценка 65,5 %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7.0</c:v>
                </c:pt>
                <c:pt idx="1">
                  <c:v>98.7</c:v>
                </c:pt>
                <c:pt idx="2">
                  <c:v>69.5</c:v>
                </c:pt>
                <c:pt idx="3">
                  <c:v>65.5</c:v>
                </c:pt>
              </c:numCache>
            </c:numRef>
          </c:val>
        </c:ser>
        <c:dLbls>
          <c:showBubbleSize val="0"/>
          <c:showCatName val="0"/>
          <c:showLeaderLines val="0"/>
          <c:numFmt formatCode="0.0&quot;%&quot;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Percent val="0"/>
          <c:showSerName val="0"/>
          <c:showVal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tx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100.0"/>
          <c:min val="0.0"/>
        </c:scaling>
        <c:delete val="0"/>
        <c:axPos val="b"/>
        <c:majorGridlines>
          <c:spPr bwMode="auto">
            <a:prstGeom prst="rect">
              <a:avLst/>
            </a:prstGeom>
            <a:ln w="9525" cap="flat" cmpd="sng" algn="ctr">
              <a:solidFill>
                <a:srgbClr val="D9D2E6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>
                <a:solidFill>
                  <a:schemeClr val="tx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688540351"/>
        <c:crosses val="autoZero"/>
        <c:crossBetween val="between"/>
        <c:majorUnit val="20.0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 bwMode="auto">
    <a:xfrm rot="0">
      <a:off x="346075" y="1424510"/>
      <a:ext cx="5749925" cy="4401748"/>
    </a:xfrm>
    <a:prstGeom prst="rect">
      <a:avLst/>
    </a:prstGeom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1">
    <c:autoUpdate val="1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Балл соответствия</c:v>
                </c:pt>
              </c:strCache>
            </c:strRef>
          </c:tx>
          <c:spPr bwMode="auto">
            <a:ln w="63500"/>
          </c:spPr>
          <c:dPt>
            <c:idx val="0"/>
            <c:bubble3D val="0"/>
            <c:spPr bwMode="auto">
              <a:prstGeom prst="rect">
                <a:avLst/>
              </a:prstGeom>
              <a:solidFill>
                <a:srgbClr val="FF0053"/>
              </a:solidFill>
              <a:ln w="63500" cap="rnd">
                <a:solidFill>
                  <a:schemeClr val="accent1"/>
                </a:solidFill>
              </a:ln>
              <a:effectLst/>
            </c:spPr>
          </c:dPt>
          <c:dPt>
            <c:idx val="1"/>
            <c:bubble3D val="0"/>
            <c:spPr bwMode="auto">
              <a:prstGeom prst="rect">
                <a:avLst/>
              </a:prstGeom>
              <a:solidFill>
                <a:srgbClr val="520978"/>
              </a:solidFill>
              <a:ln w="63500" cap="rnd">
                <a:solidFill>
                  <a:schemeClr val="accent5"/>
                </a:solidFill>
              </a:ln>
              <a:effectLst/>
            </c:spPr>
          </c:dPt>
          <c:dPt>
            <c:idx val="2"/>
            <c:bubble3D val="0"/>
            <c:spPr bwMode="auto">
              <a:prstGeom prst="rect">
                <a:avLst/>
              </a:prstGeom>
              <a:solidFill>
                <a:srgbClr val="8A83D1"/>
              </a:solidFill>
              <a:ln w="63500" cap="rnd">
                <a:solidFill>
                  <a:schemeClr val="accent4"/>
                </a:solidFill>
              </a:ln>
              <a:effectLst/>
            </c:spPr>
          </c:dPt>
          <c:dPt>
            <c:idx val="3"/>
            <c:bubble3D val="0"/>
            <c:spPr bwMode="auto">
              <a:prstGeom prst="rect">
                <a:avLst/>
              </a:prstGeom>
              <a:solidFill>
                <a:srgbClr val="FC3777"/>
              </a:solidFill>
              <a:ln w="63500" cap="rnd">
                <a:solidFill>
                  <a:schemeClr val="accent2"/>
                </a:solidFill>
              </a:ln>
              <a:effectLst/>
            </c:spPr>
          </c:dPt>
          <c:dPt>
            <c:idx val="4"/>
            <c:spPr>
              <a:solidFill>
                <a:srgbClr val="FFD6E4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520978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Категория 30 %</c:v>
                </c:pt>
                <c:pt idx="1">
                  <c:v>Стек 30 %</c:v>
                </c:pt>
                <c:pt idx="2">
                  <c:v>Тест 25 %</c:v>
                </c:pt>
                <c:pt idx="3">
                  <c:v>ФСП и Arena 10 %</c:v>
                </c:pt>
                <c:pt idx="4">
                  <c:v>Свежесть 5 %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30</c:v>
                </c:pt>
                <c:pt idx="2">
                  <c:v>25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3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 bwMode="auto">
    <a:xfrm rot="0">
      <a:off x="625096" y="1360288"/>
      <a:ext cx="5125748" cy="4385667"/>
    </a:xfrm>
    <a:prstGeom prst="rect">
      <a:avLst/>
    </a:prstGeom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1">
    <c:autoUpdate val="1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 symbol="circle" size="5"/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 symbol="circle" size="5"/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Wirefram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 symbol="circle" size="5"/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442555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40205659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02.10.2026</a:t>
            </a:fld>
            <a:endParaRPr lang="ru-RU"/>
          </a:p>
        </p:txBody>
      </p:sp>
      <p:sp>
        <p:nvSpPr>
          <p:cNvPr id="101586460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494777508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9824572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22875561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Здравствуйте! Мы — Команда 1, проект HyreKit: агрегатор ИТ-вакансий с верифицированным профилем достижений участника ФСП. Наш принцип — «Не ищи работу. Покажи уровень»: кандидат один раз подтверждает грейд тестом, а работодатели сами приходят к нему с приглашением и зарплатой. Всё, что покажем, работает на боевом стенде hyrekit.ru.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7C7F50-47BB-A5B7-6A81-657000D83E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Коротко о нас и о решении. Нас четверо: два продакт-менеджера, аналитик и разработчик. Работали как продуктовая команда: каждая задача в Linear, спецификация до кода и тест на каждый критерий. Суть решения: кандидат подтверждает грейд тестом и получает категорию, работодатель видит подборку с объяснимым баллом. Уникальность — тест, который нельзя выучить, и подтверждённый сигнал ФСП.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15B052-8E3A-D002-54A5-882A735414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939269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14520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Команда. Яков Дятлов и Ирина Живова — продукт: ТЗ, сценарии кандидата и работодателя, приоритеты. Алиса Живова — аналитик: методика оценки и валидация. Сергей Емельянов — backend: API, тест, подбор, Code Arena и выкатка. Контакты в Telegram — на слайде.</a:t>
            </a:r>
          </a:p>
        </p:txBody>
      </p:sp>
      <p:sp>
        <p:nvSpPr>
          <p:cNvPr id="123049416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924985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7023864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Почему эта задача: она соединяет две вещи, которые нам близки, — найм и спортивное программирование. Победы в соревнованиях ФСП — сильный сигнал, но работодатель его не видит. Главные сложности: сделать объективный тест без размеченных данных, безопасно запускать чужой код и обойтись без API ФСП — для этого мы сделали интерфейсы, эмулятор и тестовый OIDC-провайдер.</a:t>
            </a:r>
          </a:p>
        </p:txBody>
      </p:sp>
      <p:sp>
        <p:nvSpPr>
          <p:cNvPr id="1636410124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Техническая суть: монолит FastAPI и React, генераторы заданий и модель Раша, подбор с объяснимым баллом, Code Arena с песочницей, LLM с резервом и вход через ФСП ID. Маркетинговая суть — обратный найм: работодатель приходит к проверенному кандидату с зарплатой, кандидату всё бесплатно, а ФСП получает канал трудоустройства своих участников.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5E8383-C48A-37A2-7134-E5BB559CB7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Надёжность. Под нагрузкой пятьдесят одновременных пользователей — ноль ошибок. Пятьдесят одновременных отправок кода в Arena тоже проходят без ошибок. 276 тестов бэкенда с покрытием 83 процента, тесты фронтенда и сквозной браузерный сценарий на 23 шага; всё это гоняет CI на каждый PR. Персональные данные — по 152-ФЗ.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1570D6-FFF2-E2C0-7809-F85D819B0A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Архитектура — модульный монолит, как допускает ТЗ. Запрос идёт через Caddy с HTTPS и nginx в FastAPI. Внутри модули: авторизация, кандидаты, тест, подбор, Arena, ФСП и LLM. Данные в PostgreSQL, лимиты в Redis. Внешние сервисы — GigaChat, YandexGPT, ФСП ID и реестр — подключены через интерфейсы: при отказе любого из них продукт продолжает работать.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605621-4A9B-D9D0-D33B-BF66BB25B7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697289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4575547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Спасибо! Всё можно проверить самим. Самый быстрый путь — верхний QR-код справа: экспресс-тест без регистрации, пять заданий за пять минут. После теста войдите работодателем — employer@hyrekit.ru, пароль HyreKit2026 — и найдите себя в подборке. Код и документация — по нижнему QR-коду. Готовы ответить на вопросы.</a:t>
            </a:r>
          </a:p>
        </p:txBody>
      </p:sp>
      <p:sp>
        <p:nvSpPr>
          <p:cNvPr id="13241684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14</a:t>
            </a:fld>
            <a:endParaRPr 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Бизнес-модель. Платит работодатель — за подборки и за раскрытие контактов, то есть за результат. Для кандидата всё бесплатно, иначе не будет банка. Канал привлечения — сообщество ФСП: участники приходят с подтверждённым профилем. Раунды компаний в Arena — найм через задачу. Эксплуатация дешёвая: одна виртуальная машина и отечественные сервисы.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1B4F41-F1D8-7E94-53EF-C335970C1A7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Стек — открытое ПО и отечественные сервисы. Бэкенд на FastAPI с PostgreSQL и Redis, фронтенд на React. Модель подключена цепочкой: GigaChat, при отказе YandexGPT, без обоих — правила, так что продукт работает всегда. Код кандидатов исполняется в песочнице на Landlock и seccomp.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D4B7C-B630-53A7-579C-2BC09B7AD5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Чем мы отличаемся. Первое — тест, который нельзя выучить: слив ответов почти ничего не даёт. Второе — объяснимый балл: работодатель видит, за что кандидат в подборке. Третье — сигнал ФСП: подтверждённый участник и его достижения, включая Code Arena, напрямую влияют на подбор.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0B729D-EF1E-329E-866E-62F925602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Механика теста. Банк хранит не вопросы, а 36 генераторов: условие собирается из случайных данных, правильный ответ вычисляет код. План одинаков для всех — пять тем по два задания. Оценка — модель Раша. Порог грейда стоит так, что подтвердить его можно только большинством верных ответов: шесть из десяти, в экспресс-тесте три из пяти. Тест никогда не понижает грейд.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C903DA-94C2-9054-7201-1D6EF8DE826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Code Arena — практическая проверка. Кандидат пишет код прямо в браузере, решение проверяется на скрытых тестах в песочнице, по каждому тесту видны вердикт и время. Справа разбор неверного решения: его написала модель — здесь YandexGPT, резерв после GigaChat. Внизу таблица раунда; рейтинг Glicko-2 входит в балл подборки, а компании проводят свои раунды для найма.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627408-DE6F-2E14-F852-3B8C217C3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Что дальше. Подключить боевой ФСП ID и реестр — это настройка, а не разработка. Запустить пилот на участниках и откалибровать трудность заданий по реальным ответам. Сделать тест адаптивным. Добавить модерацию работодателей и интеграцию с ATS. От ФСП нам нужны доступ к ФСП ID и реестру, пилотная группа и партнёры-работодатели.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D69307-93C0-1AB9-27E9-A75B20977C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Проверяем атакой. Сливаем двести чужих попыток Middle с ответами и даём шпаргалку слабому кандидату уровня Junior. Честно он сдаёт Middle в 19,3 процента случаев, со шпаргалкой — в 29,7. У статичного теста — во всех ста. Из генеративных заданий совпадают только три процента: выученное число не переносится, переносится только понимание.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4B0B19-62E6-A075-90FA-20A9CDDF48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Разметки в хакатоне нет, поэтому валидируем на синтетических кандидатах с известной способностью; скрипт воспроизводим и запускается в CI. Тест даёт верный грейд в 69,5 процента против 65,5 у самооценки, в пределах ступени — 98,7, завышение всего семь процентов. Две независимые попытки согласуются с корреляцией 0,83.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5BF976-6EEA-CA80-CB7A-A2275F4ECA7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Балл соответствия складывается из пяти компонентов: категория и стек по тридцать процентов, тест — двадцать пять, ФСП и Arena — десять, свежесть — пять. На трёх демо-вакансиях доля релевантных в первой десятке — от 0,90 до 0,96 против 0,57–0,67 у поиска по стеку. И у каждого кандидата видно, почему он в подборке.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31AB2D-1409-7D40-74A3-296065CA0E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Проблема у трёх сторон. Работодатель тонет в откликах и отбирает по словам в резюме. Кандидат откликается вслепую и не может подтвердить уровень. Участник ФСП не может показать свои победы. Наше решение для каждой стороны: подборка с объяснением, категория по тесту с зарплатой в приглашении и подтверждённый сигнал ФСП в балле.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412981-6D2D-9B24-4AEC-0756E2A397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Путь в пять шагов. Кандидат заполняет профиль — можно загрузить резюме, его разберёт модель. Проходит тест на свой грейд и получает категорию, например Backend Middle. Работодатель описывает потребность и сразу видит подборку по убыванию балла. Приглашение всегда с вилкой зарплаты, а контакты открываются только после согласия кандидата.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658BF5-30BA-BFDB-0A8A-C5DE82A624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Работодатель. Описал потребность — получил подборку: у каждого кандидата балл, причины и стек, которого не хватает. Можно собрать тест под вакансию: два варианта одинаковой сложности. Понравился кандидат — приглашение с вилкой, после согласия открываются контакты.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C07520-52D4-C112-9100-6BDCA5FE178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Демо кандидата на стенде. Слева — задание экспресс-теста: числа в условии случайные, ответ вычисляет код, поэтому у соседа по столу задание будет другим. Справа — результат: оценка способности, балл, разбор по темам и решение. Здесь пять из пяти, категория Backend Middle присвоена.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B95A32-330E-D804-1D8F-FCFD39519E1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Вход через ФСП ID. Реализован стандартный OpenID Connect с PKCE: участник входит в ФСП ID, и мы получаем подтверждённый идентификатор. Профиль помечается как подтверждённый, один участник — один профиль. Сейчас работает встроенный тестовый провайдер; Keycloak ФСП подключается переменными окружения без изменения кода.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F13436-DB1D-660C-F100-3C8A1E44A44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Всё работает с телефона: интерфейс адаптивный от 360 пикселей. Кандидат может пройти экспресс-тест прямо со смартфона, работодатель — посмотреть подборку. Это реальные экраны стенда.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5DA04-D338-5C15-92A7-64A94DAF65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итульны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1230750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/>
            </a:r>
            <a:endParaRPr/>
          </a:p>
        </p:txBody>
      </p:sp>
      <p:sp>
        <p:nvSpPr>
          <p:cNvPr id="128400284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745799927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/>
            </a:r>
            <a:endParaRPr/>
          </a:p>
        </p:txBody>
      </p:sp>
      <p:sp>
        <p:nvSpPr>
          <p:cNvPr id="624269255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528747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/>
            </a:r>
            <a:endParaRPr/>
          </a:p>
        </p:txBody>
      </p:sp>
      <p:sp>
        <p:nvSpPr>
          <p:cNvPr id="806579967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98332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05.10.2026</a:t>
            </a:fld>
            <a:endParaRPr lang="ru-RU"/>
          </a:p>
        </p:txBody>
      </p:sp>
      <p:sp>
        <p:nvSpPr>
          <p:cNvPr id="16825143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401845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4</a:t>
            </a:fld>
            <a:endParaRPr lang="ru-RU"/>
          </a:p>
        </p:txBody>
      </p:sp>
      <p:sp>
        <p:nvSpPr>
          <p:cNvPr id="526975293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280968425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  <a:p>
            <a:pPr lvl="0">
              <a:defRPr/>
            </a:pPr>
            <a:r>
              <a:rPr lang="en-US"/>
              <a:t/>
            </a:r>
            <a:endParaRPr/>
          </a:p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88244593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  <a:p>
            <a:pPr lvl="0">
              <a:defRPr/>
            </a:pPr>
            <a:r>
              <a:rPr lang="en-US"/>
              <a:t/>
            </a:r>
            <a:endParaRPr/>
          </a:p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768116864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  <a:p>
            <a:pPr lvl="0">
              <a:defRPr/>
            </a:pPr>
            <a:r>
              <a:rPr lang="en-US"/>
              <a:t/>
            </a:r>
            <a:endParaRPr/>
          </a:p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436504523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  <a:p>
            <a:pPr lvl="0">
              <a:defRPr/>
            </a:pPr>
            <a:r>
              <a:rPr lang="en-US"/>
              <a:t/>
            </a:r>
            <a:endParaRPr/>
          </a:p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201816790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  <a:p>
            <a:pPr lvl="0">
              <a:defRPr/>
            </a:pPr>
            <a:r>
              <a:rPr lang="en-US"/>
              <a:t/>
            </a:r>
            <a:endParaRPr/>
          </a:p>
          <a:p>
            <a:pPr lvl="0">
              <a:defRPr/>
            </a:pPr>
            <a:r>
              <a:rPr lang="ru-RU"/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43011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05.10.2026</a:t>
            </a:fld>
            <a:endParaRPr lang="ru-RU"/>
          </a:p>
        </p:txBody>
      </p:sp>
      <p:sp>
        <p:nvSpPr>
          <p:cNvPr id="16508334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3085876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6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676041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  <p:sp>
        <p:nvSpPr>
          <p:cNvPr id="136522043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05.10.2026</a:t>
            </a:fld>
            <a:endParaRPr lang="ru-RU"/>
          </a:p>
        </p:txBody>
      </p:sp>
      <p:sp>
        <p:nvSpPr>
          <p:cNvPr id="161564055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5195453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05487752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91916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  <p:sp>
        <p:nvSpPr>
          <p:cNvPr id="1012904163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  <p:sp>
        <p:nvSpPr>
          <p:cNvPr id="1921319658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05.10.2026</a:t>
            </a:fld>
            <a:endParaRPr lang="ru-RU"/>
          </a:p>
        </p:txBody>
      </p:sp>
      <p:sp>
        <p:nvSpPr>
          <p:cNvPr id="15578837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9364633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480647771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3537049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605624599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 lang="ru-RU"/>
          </a:p>
        </p:txBody>
      </p:sp>
      <p:sp>
        <p:nvSpPr>
          <p:cNvPr id="1519601007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160767082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  <p:sp>
        <p:nvSpPr>
          <p:cNvPr id="176978700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05.10.2026</a:t>
            </a:fld>
            <a:endParaRPr lang="ru-RU"/>
          </a:p>
        </p:txBody>
      </p:sp>
      <p:sp>
        <p:nvSpPr>
          <p:cNvPr id="1130298307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31603352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90691807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98886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05.10.2026</a:t>
            </a:fld>
            <a:endParaRPr lang="ru-RU"/>
          </a:p>
        </p:txBody>
      </p:sp>
      <p:sp>
        <p:nvSpPr>
          <p:cNvPr id="9964211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3004831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856433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91640029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  <p:sp>
        <p:nvSpPr>
          <p:cNvPr id="194280763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64100154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05.10.2026</a:t>
            </a:fld>
            <a:endParaRPr lang="ru-RU"/>
          </a:p>
        </p:txBody>
      </p:sp>
      <p:sp>
        <p:nvSpPr>
          <p:cNvPr id="88018597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14272845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96378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05.10.2026</a:t>
            </a:fld>
            <a:endParaRPr lang="ru-RU"/>
          </a:p>
        </p:txBody>
      </p:sp>
      <p:sp>
        <p:nvSpPr>
          <p:cNvPr id="1657602083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19932234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8403393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761634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05.10.2026</a:t>
            </a:fld>
            <a:endParaRPr lang="ru-RU"/>
          </a:p>
        </p:txBody>
      </p:sp>
      <p:sp>
        <p:nvSpPr>
          <p:cNvPr id="209387367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62743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31064776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2116146953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/>
            </a:r>
            <a:endParaRPr/>
          </a:p>
        </p:txBody>
      </p:sp>
      <p:sp>
        <p:nvSpPr>
          <p:cNvPr id="103907020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996399044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/>
            </a:r>
            <a:endParaRPr/>
          </a:p>
        </p:txBody>
      </p:sp>
      <p:sp>
        <p:nvSpPr>
          <p:cNvPr id="1181683335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921846606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/>
            </a:r>
            <a:endParaRPr/>
          </a:p>
        </p:txBody>
      </p:sp>
      <p:sp>
        <p:nvSpPr>
          <p:cNvPr id="230245054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75299988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/>
            </a:r>
            <a:endParaRPr/>
          </a:p>
        </p:txBody>
      </p:sp>
      <p:sp>
        <p:nvSpPr>
          <p:cNvPr id="343931103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918766546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/>
            </a:r>
            <a:endParaRPr/>
          </a:p>
        </p:txBody>
      </p:sp>
      <p:sp>
        <p:nvSpPr>
          <p:cNvPr id="87914276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204043971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/>
            </a:r>
            <a:endParaRPr/>
          </a:p>
        </p:txBody>
      </p:sp>
      <p:sp>
        <p:nvSpPr>
          <p:cNvPr id="213822891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9762684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733122533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87265193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067182099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584704613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235801084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99166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05.10.2026</a:t>
            </a:fld>
            <a:endParaRPr lang="ru-RU"/>
          </a:p>
        </p:txBody>
      </p:sp>
      <p:sp>
        <p:nvSpPr>
          <p:cNvPr id="9434437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908586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892528108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16014041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92145981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111779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85185841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29233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05.10.2026</a:t>
            </a:fld>
            <a:endParaRPr lang="ru-RU"/>
          </a:p>
        </p:txBody>
      </p:sp>
      <p:sp>
        <p:nvSpPr>
          <p:cNvPr id="210220971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63949484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5951718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738447127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844059043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402864043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754638441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2122334314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302925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05.10.2026</a:t>
            </a:fld>
            <a:endParaRPr lang="ru-RU"/>
          </a:p>
        </p:txBody>
      </p:sp>
      <p:sp>
        <p:nvSpPr>
          <p:cNvPr id="158933760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0058155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8952597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46855490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859430107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788393022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971080005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68350753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20636270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23827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05.10.2026</a:t>
            </a:fld>
            <a:endParaRPr lang="ru-RU"/>
          </a:p>
        </p:txBody>
      </p:sp>
      <p:sp>
        <p:nvSpPr>
          <p:cNvPr id="86153914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5831293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4507962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54339335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77045655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12151777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356836484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287335961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255286152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878558117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2028030087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869561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05.10.2026</a:t>
            </a:fld>
            <a:endParaRPr lang="ru-RU"/>
          </a:p>
        </p:txBody>
      </p:sp>
      <p:sp>
        <p:nvSpPr>
          <p:cNvPr id="9610657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250865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68387700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790310106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754399957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665297602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208071610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535692110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630589189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97209832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691621367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43899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05.10.2026</a:t>
            </a:fld>
            <a:endParaRPr lang="ru-RU"/>
          </a:p>
        </p:txBody>
      </p:sp>
      <p:sp>
        <p:nvSpPr>
          <p:cNvPr id="154817306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4413036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2101762150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217314577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938626295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464533556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009256887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911593297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340088427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724886314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967177247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317280403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638626946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6800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05.10.2026</a:t>
            </a:fld>
            <a:endParaRPr lang="ru-RU"/>
          </a:p>
        </p:txBody>
      </p:sp>
      <p:sp>
        <p:nvSpPr>
          <p:cNvPr id="184445362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3332977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354716514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469606909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494867265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158798729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816225530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484604665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529473459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708227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  <p:txBody>
          <a:bodyPr/>
          <a:p/>
        </p:txBody>
      </p:sp>
      <p:sp>
        <p:nvSpPr>
          <p:cNvPr id="165071454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05.10.2026</a:t>
            </a:fld>
            <a:endParaRPr lang="ru-RU"/>
          </a:p>
        </p:txBody>
      </p:sp>
      <p:sp>
        <p:nvSpPr>
          <p:cNvPr id="74443542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1014953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567647523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78347779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  <p:sp>
        <p:nvSpPr>
          <p:cNvPr id="1280089088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  <p:sp>
        <p:nvSpPr>
          <p:cNvPr id="748893530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49400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05.10.2026</a:t>
            </a:fld>
            <a:endParaRPr lang="ru-RU"/>
          </a:p>
        </p:txBody>
      </p:sp>
      <p:sp>
        <p:nvSpPr>
          <p:cNvPr id="137964502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4489039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445391472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20445874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  <p:sp>
        <p:nvSpPr>
          <p:cNvPr id="103566827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  <p:sp>
        <p:nvSpPr>
          <p:cNvPr id="142223535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  <p:txBody>
          <a:bodyPr/>
          <a:p/>
        </p:txBody>
      </p:sp>
      <p:sp>
        <p:nvSpPr>
          <p:cNvPr id="989449854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  <p:txBody>
          <a:bodyPr/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577137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  <p:txBody>
          <a:bodyPr/>
          <a:p/>
        </p:txBody>
      </p:sp>
      <p:sp>
        <p:nvSpPr>
          <p:cNvPr id="645487069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211528363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97346509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26506726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772846799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653357129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2125416824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963687377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cxnSp>
        <p:nvCxnSpPr>
          <p:cNvPr id="593459651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8140899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72294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9824442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7074335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568548148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05.10.2026</a:t>
            </a:fld>
            <a:endParaRPr lang="ru-RU"/>
          </a:p>
        </p:txBody>
      </p:sp>
      <p:sp>
        <p:nvSpPr>
          <p:cNvPr id="1325214265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9915319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947286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  <p:txBody>
          <a:bodyPr/>
          <a:p/>
        </p:txBody>
      </p:sp>
      <p:sp>
        <p:nvSpPr>
          <p:cNvPr id="470160539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  <p:txBody>
          <a:bodyPr/>
          <a:p/>
        </p:txBody>
      </p:sp>
      <p:sp>
        <p:nvSpPr>
          <p:cNvPr id="922768613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  <p:txBody>
          <a:bodyPr/>
          <a:p/>
        </p:txBody>
      </p:sp>
      <p:sp>
        <p:nvSpPr>
          <p:cNvPr id="88593559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  <p:txBody>
          <a:bodyPr/>
          <a:p/>
        </p:txBody>
      </p:sp>
      <p:sp>
        <p:nvSpPr>
          <p:cNvPr id="77714386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05.10.2026</a:t>
            </a:fld>
            <a:endParaRPr lang="ru-RU"/>
          </a:p>
        </p:txBody>
      </p:sp>
      <p:sp>
        <p:nvSpPr>
          <p:cNvPr id="87887933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2392030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690150807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  <p:sp>
        <p:nvSpPr>
          <p:cNvPr id="1745772321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  <p:sp>
        <p:nvSpPr>
          <p:cNvPr id="1067389159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  <p:sp>
        <p:nvSpPr>
          <p:cNvPr id="71881442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  <p:sp>
        <p:nvSpPr>
          <p:cNvPr id="60543915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25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7812001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04705926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6457201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05.10.2026</a:t>
            </a:fld>
            <a:endParaRPr lang="ru-RU"/>
          </a:p>
        </p:txBody>
      </p:sp>
      <p:sp>
        <p:nvSpPr>
          <p:cNvPr id="49740993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417868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6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1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80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807.png"/><Relationship Id="rId5" Type="http://schemas.openxmlformats.org/officeDocument/2006/relationships/image" Target="../media/image808.png"/><Relationship Id="rId6" Type="http://schemas.openxmlformats.org/officeDocument/2006/relationships/image" Target="../media/image809.png"/><Relationship Id="rId7" Type="http://schemas.openxmlformats.org/officeDocument/2006/relationships/image" Target="../media/image8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8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jpg"/><Relationship Id="rId4" Type="http://schemas.openxmlformats.org/officeDocument/2006/relationships/image" Target="../media/image814.jpg"/><Relationship Id="rId5" Type="http://schemas.openxmlformats.org/officeDocument/2006/relationships/image" Target="../media/image815.jpg"/><Relationship Id="rId6" Type="http://schemas.openxmlformats.org/officeDocument/2006/relationships/image" Target="../media/image816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Relationship Id="rId4" Type="http://schemas.openxmlformats.org/officeDocument/2006/relationships/chart" Target="../charts/char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jpg"/><Relationship Id="rId4" Type="http://schemas.openxmlformats.org/officeDocument/2006/relationships/chart" Target="../charts/char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chart" Target="../charts/char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jpg"/><Relationship Id="rId4" Type="http://schemas.openxmlformats.org/officeDocument/2006/relationships/image" Target="../media/image12.png"/><Relationship Id="rId5" Type="http://schemas.openxmlformats.org/officeDocument/2006/relationships/image" Target="../media/image81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jpg"/><Relationship Id="rId4" Type="http://schemas.openxmlformats.org/officeDocument/2006/relationships/image" Target="../media/image811.jpg"/><Relationship Id="rId5" Type="http://schemas.openxmlformats.org/officeDocument/2006/relationships/image" Target="../media/image812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jpg"/><Relationship Id="rId4" Type="http://schemas.openxmlformats.org/officeDocument/2006/relationships/image" Target="../media/image13.png"/><Relationship Id="rId5" Type="http://schemas.openxmlformats.org/officeDocument/2006/relationships/image" Target="../media/image81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Relationship Id="rId4" Type="http://schemas.openxmlformats.org/officeDocument/2006/relationships/image" Target="../media/image13.png"/><Relationship Id="rId5" Type="http://schemas.openxmlformats.org/officeDocument/2006/relationships/image" Target="../media/image818.jpg"/><Relationship Id="rId6" Type="http://schemas.openxmlformats.org/officeDocument/2006/relationships/image" Target="../media/image819.jpg"/><Relationship Id="rId7" Type="http://schemas.openxmlformats.org/officeDocument/2006/relationships/image" Target="../media/image820.jpg"/><Relationship Id="rId8" Type="http://schemas.openxmlformats.org/officeDocument/2006/relationships/image" Target="../media/image821.jp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3396760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rPr lang="ru-RU" sz="4800"/>
              <a:t>HyreKit</a:t>
            </a:r>
            <a:endParaRPr lang="ru-RU" sz="4800"/>
          </a:p>
          <a:p>
            <a:pPr marL="268288" indent="0">
              <a:defRPr/>
            </a:pPr>
            <a:r>
              <a:rPr lang="ru-RU" sz="1600"/>
              <a:t>Команда 1 · Хакатон ФСП 2026</a:t>
            </a:r>
            <a:endParaRPr lang="ru-RU" sz="4800"/>
          </a:p>
        </p:txBody>
      </p:sp>
      <p:sp>
        <p:nvSpPr>
          <p:cNvPr id="548569884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>
            <a:normAutofit lnSpcReduction="10000"/>
          </a:bodyPr>
          <a:lstStyle/>
          <a:p>
            <a:pPr marL="271463" indent="-3175">
              <a:defRPr/>
            </a:pPr>
            <a:r>
              <a:rPr lang="ru-RU"/>
              <a:t>Цифровая платформа-агрегатор ИТ-вакансий с верифицированным профилем достижений участника Федерации спортивного программирования (ФСП) · hyrekit.ru</a:t>
            </a:r>
            <a:endParaRPr/>
          </a:p>
        </p:txBody>
      </p:sp>
      <p:sp>
        <p:nvSpPr>
          <p:cNvPr id="1816077419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488907923" name="Рисунок 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46075" y="631174"/>
            <a:ext cx="4905194" cy="6200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286890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pic>
        <p:nvPicPr>
          <p:cNvPr id="209069767" name="Рисунок 1" descr="landing.jp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13177" b="13177"/>
          <a:stretch>
            <a:fillRect/>
          </a:stretch>
        </p:blipFill>
        <p:spPr>
          <a:xfrm>
            <a:off x="0" y="335267"/>
            <a:ext cx="6456363" cy="2971784"/>
          </a:xfrm>
        </p:spPr>
      </p:pic>
      <p:sp>
        <p:nvSpPr>
          <p:cNvPr id="861096068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1183313271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Задания — генераторы, а не список вопросов; оценка по модели Раша; ФСП ID, достижения и Code Arena входят в балл подборки.</a:t>
            </a:r>
            <a:endParaRPr/>
          </a:p>
        </p:txBody>
      </p:sp>
      <p:sp>
        <p:nvSpPr>
          <p:cNvPr id="1222889797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sz="1200">
                <a:solidFill>
                  <a:schemeClr val="tx1"/>
                </a:solidFill>
              </a:rPr>
              <a:t>Команда:</a:t>
            </a:r>
            <a:r>
              <a:rPr lang="ru-RU" sz="1200">
                <a:solidFill>
                  <a:schemeClr val="tx1"/>
                </a:solidFill>
              </a:rPr>
              <a:t> «Команда 1», 4 человека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sz="1200">
                <a:solidFill>
                  <a:schemeClr val="tx1"/>
                </a:solidFill>
              </a:rPr>
              <a:t>Роли:</a:t>
            </a:r>
            <a:r>
              <a:rPr lang="ru-RU" sz="1200">
                <a:solidFill>
                  <a:schemeClr val="tx1"/>
                </a:solidFill>
              </a:rPr>
              <a:t> 2 продакт-менеджера, аналитик, backend-разработчик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sz="1200">
                <a:solidFill>
                  <a:schemeClr val="tx1"/>
                </a:solidFill>
              </a:rPr>
              <a:t>Как работали:</a:t>
            </a:r>
            <a:r>
              <a:rPr lang="ru-RU" sz="1200">
                <a:solidFill>
                  <a:schemeClr val="tx1"/>
                </a:solidFill>
              </a:rPr>
              <a:t> задачи в Linear, спецификация до кода, тест на каждый критерий приёмки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sz="1200">
                <a:solidFill>
                  <a:schemeClr val="tx1"/>
                </a:solidFill>
              </a:rPr>
              <a:t>Результат:</a:t>
            </a:r>
            <a:r>
              <a:rPr lang="ru-RU" sz="1200">
                <a:solidFill>
                  <a:schemeClr val="tx1"/>
                </a:solidFill>
              </a:rPr>
              <a:t> боевой стенд hyrekit.ru в Yandex Cloud, код и документация на GitHub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sz="1200">
                <a:solidFill>
                  <a:schemeClr val="tx1"/>
                </a:solidFill>
              </a:rPr>
              <a:t>Город:</a:t>
            </a:r>
            <a:r>
              <a:rPr lang="ru-RU" sz="1200">
                <a:solidFill>
                  <a:schemeClr val="tx1"/>
                </a:solidFill>
              </a:rPr>
              <a:t> Москва</a:t>
            </a:r>
            <a:endParaRPr/>
          </a:p>
        </p:txBody>
      </p:sp>
      <p:sp>
        <p:nvSpPr>
          <p:cNvPr id="160104336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932249048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rPr lang="ru-RU" sz="2400">
                <a:solidFill>
                  <a:schemeClr val="accent5"/>
                </a:solidFill>
                <a:latin typeface="Montserrat"/>
              </a:rPr>
              <a:t>HyreKit</a:t>
            </a:r>
            <a:endParaRPr lang="ru-RU" sz="2400">
              <a:solidFill>
                <a:schemeClr val="accent5"/>
              </a:solidFill>
              <a:latin typeface="Montserrat"/>
            </a:endParaRPr>
          </a:p>
        </p:txBody>
      </p:sp>
      <p:cxnSp>
        <p:nvCxnSpPr>
          <p:cNvPr id="1436480058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48642817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6419572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5453812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1377956225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Кандидат подтверждает грейд тестом, который нельзя выучить, и получает категорию «направление · грейд». Работодатель получает подборку с объяснимым баллом и приглашает с вилкой зарплаты.</a:t>
            </a:r>
            <a:endParaRPr/>
          </a:p>
        </p:txBody>
      </p:sp>
      <p:sp>
        <p:nvSpPr>
          <p:cNvPr id="120055118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8</a:t>
            </a:fld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143227" name="Скругленный прямоугольник 55"/>
          <p:cNvSpPr/>
          <p:nvPr/>
        </p:nvSpPr>
        <p:spPr bwMode="auto">
          <a:xfrm>
            <a:off x="3855201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3566999" name="Текст 8"/>
          <p:cNvSpPr txBox="1"/>
          <p:nvPr/>
        </p:nvSpPr>
        <p:spPr bwMode="auto">
          <a:xfrm>
            <a:off x="402748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Product manager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Telegram: @IrinaZhivova</a:t>
            </a:r>
            <a:endParaRPr/>
          </a:p>
        </p:txBody>
      </p:sp>
      <p:sp>
        <p:nvSpPr>
          <p:cNvPr id="74111567" name="Текст 8"/>
          <p:cNvSpPr txBox="1"/>
          <p:nvPr/>
        </p:nvSpPr>
        <p:spPr bwMode="auto">
          <a:xfrm>
            <a:off x="402748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>
                <a:solidFill>
                  <a:schemeClr val="accent5"/>
                </a:solidFill>
              </a:rPr>
              <a:t>Ирина</a:t>
            </a:r>
            <a:endParaRPr/>
          </a:p>
          <a:p>
            <a:pPr marL="0" indent="0">
              <a:buNone/>
              <a:defRPr/>
            </a:pPr>
            <a:r>
              <a:rPr lang="ru-RU" sz="1600">
                <a:solidFill>
                  <a:schemeClr val="accent5"/>
                </a:solidFill>
              </a:rPr>
              <a:t>Живова</a:t>
            </a:r>
            <a:endParaRPr/>
          </a:p>
        </p:txBody>
      </p:sp>
      <p:sp>
        <p:nvSpPr>
          <p:cNvPr id="199093803" name="Скругленный прямоугольник 58"/>
          <p:cNvSpPr/>
          <p:nvPr/>
        </p:nvSpPr>
        <p:spPr bwMode="auto">
          <a:xfrm>
            <a:off x="6160519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30696585" name="Текст 8"/>
          <p:cNvSpPr txBox="1"/>
          <p:nvPr/>
        </p:nvSpPr>
        <p:spPr bwMode="auto">
          <a:xfrm>
            <a:off x="633280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Backend developer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Telegram: @sergey_in_job</a:t>
            </a:r>
            <a:endParaRPr/>
          </a:p>
        </p:txBody>
      </p:sp>
      <p:sp>
        <p:nvSpPr>
          <p:cNvPr id="1217255183" name="Текст 8"/>
          <p:cNvSpPr txBox="1"/>
          <p:nvPr/>
        </p:nvSpPr>
        <p:spPr bwMode="auto">
          <a:xfrm>
            <a:off x="633280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>
                <a:solidFill>
                  <a:schemeClr val="accent5"/>
                </a:solidFill>
              </a:rPr>
              <a:t>Сергей</a:t>
            </a:r>
            <a:endParaRPr/>
          </a:p>
          <a:p>
            <a:pPr marL="0" indent="0">
              <a:buNone/>
              <a:defRPr/>
            </a:pPr>
            <a:r>
              <a:rPr lang="ru-RU" sz="1600">
                <a:solidFill>
                  <a:schemeClr val="accent5"/>
                </a:solidFill>
              </a:rPr>
              <a:t>Емельянов</a:t>
            </a:r>
            <a:endParaRPr/>
          </a:p>
        </p:txBody>
      </p:sp>
      <p:sp>
        <p:nvSpPr>
          <p:cNvPr id="1094121021" name="Скругленный прямоугольник 61"/>
          <p:cNvSpPr/>
          <p:nvPr/>
        </p:nvSpPr>
        <p:spPr bwMode="auto">
          <a:xfrm>
            <a:off x="8465838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27394055" name="Текст 8"/>
          <p:cNvSpPr txBox="1"/>
          <p:nvPr/>
        </p:nvSpPr>
        <p:spPr bwMode="auto">
          <a:xfrm>
            <a:off x="8638122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Аналитик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Telegram: @AlisaZhivova</a:t>
            </a:r>
            <a:endParaRPr/>
          </a:p>
        </p:txBody>
      </p:sp>
      <p:sp>
        <p:nvSpPr>
          <p:cNvPr id="688223502" name="Текст 8"/>
          <p:cNvSpPr txBox="1"/>
          <p:nvPr/>
        </p:nvSpPr>
        <p:spPr bwMode="auto">
          <a:xfrm>
            <a:off x="8638121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>
                <a:solidFill>
                  <a:schemeClr val="accent5"/>
                </a:solidFill>
              </a:rPr>
              <a:t>Алиса</a:t>
            </a:r>
            <a:endParaRPr/>
          </a:p>
          <a:p>
            <a:pPr marL="0" indent="0">
              <a:buNone/>
              <a:defRPr/>
            </a:pPr>
            <a:r>
              <a:rPr lang="ru-RU" sz="1600">
                <a:solidFill>
                  <a:schemeClr val="accent5"/>
                </a:solidFill>
              </a:rPr>
              <a:t>Живова</a:t>
            </a:r>
            <a:endParaRPr/>
          </a:p>
        </p:txBody>
      </p:sp>
      <p:sp>
        <p:nvSpPr>
          <p:cNvPr id="2137008208" name="Скругленный прямоугольник 16"/>
          <p:cNvSpPr/>
          <p:nvPr/>
        </p:nvSpPr>
        <p:spPr bwMode="auto">
          <a:xfrm>
            <a:off x="1549883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73083957" name="Скругленный прямоугольник 12"/>
          <p:cNvSpPr/>
          <p:nvPr/>
        </p:nvSpPr>
        <p:spPr bwMode="auto">
          <a:xfrm>
            <a:off x="346075" y="324562"/>
            <a:ext cx="21945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16536657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9</a:t>
            </a:fld>
            <a:endParaRPr lang="ru-RU">
              <a:solidFill>
                <a:schemeClr val="bg1"/>
              </a:solidFill>
            </a:endParaRPr>
          </a:p>
        </p:txBody>
      </p:sp>
      <p:pic>
        <p:nvPicPr>
          <p:cNvPr id="1614199069" name="Рисунок 1" descr="avatar1.png"/>
          <p:cNvPicPr>
            <a:picLocks noGrp="1" noChangeAspect="1"/>
          </p:cNvPicPr>
          <p:nvPr>
            <p:ph type="pic" sz="quarter" idx="4294967295"/>
          </p:nvPr>
        </p:nvPicPr>
        <p:blipFill>
          <a:blip r:embed="rId4"/>
          <a:srcRect l="83" r="83"/>
          <a:stretch>
            <a:fillRect/>
          </a:stretch>
        </p:blipFill>
        <p:spPr>
          <a:xfrm>
            <a:off x="1785204" y="1816054"/>
            <a:ext cx="1722566" cy="1552901"/>
          </a:xfrm>
        </p:spPr>
      </p:pic>
      <p:pic>
        <p:nvPicPr>
          <p:cNvPr id="942313662" name="Рисунок 2" descr="avatar2.png"/>
          <p:cNvPicPr>
            <a:picLocks noGrp="1" noChangeAspect="1"/>
          </p:cNvPicPr>
          <p:nvPr>
            <p:ph type="pic" sz="quarter" idx="4294967295"/>
          </p:nvPr>
        </p:nvPicPr>
        <p:blipFill>
          <a:blip r:embed="rId5"/>
          <a:srcRect t="255" b="255"/>
          <a:stretch>
            <a:fillRect/>
          </a:stretch>
        </p:blipFill>
        <p:spPr>
          <a:xfrm>
            <a:off x="4090274" y="1826554"/>
            <a:ext cx="1722566" cy="1542401"/>
          </a:xfrm>
        </p:spPr>
      </p:pic>
      <p:pic>
        <p:nvPicPr>
          <p:cNvPr id="1224475940" name="Рисунок 3" descr="avatar3.png"/>
          <p:cNvPicPr>
            <a:picLocks noGrp="1" noChangeAspect="1"/>
          </p:cNvPicPr>
          <p:nvPr>
            <p:ph type="pic" sz="quarter" idx="4294967295"/>
          </p:nvPr>
        </p:nvPicPr>
        <p:blipFill>
          <a:blip r:embed="rId6"/>
          <a:srcRect l="302" r="302"/>
          <a:stretch>
            <a:fillRect/>
          </a:stretch>
        </p:blipFill>
        <p:spPr>
          <a:xfrm>
            <a:off x="6395591" y="1809238"/>
            <a:ext cx="1722567" cy="1559717"/>
          </a:xfrm>
        </p:spPr>
      </p:pic>
      <p:pic>
        <p:nvPicPr>
          <p:cNvPr id="169339798" name="Рисунок 4" descr="avatar4.png"/>
          <p:cNvPicPr>
            <a:picLocks noGrp="1" noChangeAspect="1"/>
          </p:cNvPicPr>
          <p:nvPr>
            <p:ph type="pic" sz="quarter" idx="4294967295"/>
          </p:nvPr>
        </p:nvPicPr>
        <p:blipFill>
          <a:blip r:embed="rId7"/>
          <a:srcRect l="302" r="302"/>
          <a:stretch>
            <a:fillRect/>
          </a:stretch>
        </p:blipFill>
        <p:spPr>
          <a:xfrm>
            <a:off x="8724015" y="1809238"/>
            <a:ext cx="1722567" cy="1559717"/>
          </a:xfrm>
        </p:spPr>
      </p:pic>
      <p:sp>
        <p:nvSpPr>
          <p:cNvPr id="1210655799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КОМАНДА</a:t>
            </a:r>
            <a:endParaRPr lang="ru-RU">
              <a:latin typeface="Montserrat"/>
            </a:endParaRPr>
          </a:p>
        </p:txBody>
      </p:sp>
      <p:sp>
        <p:nvSpPr>
          <p:cNvPr id="52492066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1722167" y="4250028"/>
            <a:ext cx="1894354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Product manager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Telegram: @iakov_is</a:t>
            </a:r>
            <a:endParaRPr/>
          </a:p>
        </p:txBody>
      </p:sp>
      <p:sp>
        <p:nvSpPr>
          <p:cNvPr id="918106529" name="Текст 8"/>
          <p:cNvSpPr txBox="1"/>
          <p:nvPr/>
        </p:nvSpPr>
        <p:spPr bwMode="auto">
          <a:xfrm>
            <a:off x="1722166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>
                <a:solidFill>
                  <a:schemeClr val="accent5"/>
                </a:solidFill>
              </a:rPr>
              <a:t>Яков</a:t>
            </a:r>
            <a:endParaRPr/>
          </a:p>
          <a:p>
            <a:pPr marL="0" indent="0">
              <a:buNone/>
              <a:defRPr/>
            </a:pPr>
            <a:r>
              <a:rPr lang="ru-RU" sz="1600">
                <a:solidFill>
                  <a:schemeClr val="accent5"/>
                </a:solidFill>
              </a:rPr>
              <a:t>Дятлов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303606" name="Скругленный прямоугольник 1"/>
          <p:cNvSpPr/>
          <p:nvPr/>
        </p:nvSpPr>
        <p:spPr bwMode="auto">
          <a:xfrm>
            <a:off x="346075" y="324562"/>
            <a:ext cx="4059935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77794155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0474163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О КОМАНДЕ И ЗАДАЧЕ</a:t>
            </a:r>
            <a:endParaRPr lang="ru-RU">
              <a:latin typeface="Montserrat"/>
            </a:endParaRPr>
          </a:p>
        </p:txBody>
      </p:sp>
      <p:sp>
        <p:nvSpPr>
          <p:cNvPr id="498730998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300">
                <a:solidFill>
                  <a:schemeClr val="tx1"/>
                </a:solidFill>
              </a:rPr>
              <a:t>Собрались под трек ФСП: продукт, аналитика и разработка. С первого часа работали как продуктовая команда — задачи и критерии в Linear, каждый результат сразу на стенде.</a:t>
            </a:r>
            <a:endParaRPr/>
          </a:p>
        </p:txBody>
      </p:sp>
      <p:sp>
        <p:nvSpPr>
          <p:cNvPr id="117205049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274008993" name="Текст 8"/>
          <p:cNvSpPr txBox="1"/>
          <p:nvPr/>
        </p:nvSpPr>
        <p:spPr bwMode="auto">
          <a:xfrm>
            <a:off x="533607" y="5139255"/>
            <a:ext cx="10241280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300">
                <a:solidFill>
                  <a:schemeClr val="tx1"/>
                </a:solidFill>
              </a:rPr>
              <a:t>Объективный тест без разметки: задания-генераторы, модель Раша и проверка на синтетических кандидатах.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ru-RU" sz="1300">
                <a:solidFill>
                  <a:schemeClr val="tx1"/>
                </a:solidFill>
              </a:rPr>
              <a:t>Безопасный запуск чужого кода в Arena: песочница Landlock + seccomp без сети и новых процессов.</a:t>
            </a:r>
            <a:endParaRPr/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ru-RU" sz="1300">
                <a:solidFill>
                  <a:schemeClr val="tx1"/>
                </a:solidFill>
              </a:rPr>
              <a:t>Нет API ФСП: интерфейс FspProvider, эмулятор реестра и OIDC-вход ФСП ID с тестовым провайдером.</a:t>
            </a:r>
            <a:endParaRPr/>
          </a:p>
        </p:txBody>
      </p:sp>
      <p:sp>
        <p:nvSpPr>
          <p:cNvPr id="1794633205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1444342796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200">
                <a:solidFill>
                  <a:schemeClr val="tx1"/>
                </a:solidFill>
              </a:rPr>
              <a:t>Задача соединяет найм ИТ-специалистов и спортивное программирование. Победа в соревновании — сильный сигнал навыка, но рынок труда его не видит, а резюме уровень не подтверждает.</a:t>
            </a:r>
            <a:endParaRPr/>
          </a:p>
        </p:txBody>
      </p:sp>
      <p:sp>
        <p:nvSpPr>
          <p:cNvPr id="2130970903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cxnSp>
        <p:nvCxnSpPr>
          <p:cNvPr id="251539420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9563110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41745035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3218269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270752830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728963888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37872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67869406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41403403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379136807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791302048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300">
                <a:solidFill>
                  <a:schemeClr val="tx1"/>
                </a:solidFill>
              </a:rPr>
              <a:t>FastAPI + React, PostgreSQL, Redis; стенд hyrekit.ru в Yandex Cloud</a:t>
            </a:r>
            <a:endParaRPr/>
          </a:p>
          <a:p>
            <a:pPr>
              <a:defRPr/>
            </a:pPr>
            <a:r>
              <a:rPr lang="ru-RU" sz="1300">
                <a:solidFill>
                  <a:schemeClr val="tx1"/>
                </a:solidFill>
              </a:rPr>
              <a:t>Тест: 36 генераторов заданий по 14 темам, оценка θ по модели Раша</a:t>
            </a:r>
            <a:endParaRPr/>
          </a:p>
          <a:p>
            <a:pPr>
              <a:defRPr/>
            </a:pPr>
            <a:r>
              <a:rPr lang="ru-RU" sz="1300">
                <a:solidFill>
                  <a:schemeClr val="tx1"/>
                </a:solidFill>
              </a:rPr>
              <a:t>Подбор: балл 0–100 из пяти компонентов с объяснением</a:t>
            </a:r>
            <a:endParaRPr/>
          </a:p>
          <a:p>
            <a:pPr>
              <a:defRPr/>
            </a:pPr>
            <a:r>
              <a:rPr lang="ru-RU" sz="1300">
                <a:solidFill>
                  <a:schemeClr val="tx1"/>
                </a:solidFill>
              </a:rPr>
              <a:t>Code Arena: код на Python и JavaScript в песочнице, автопроверка, рейтинг Glicko-2</a:t>
            </a:r>
            <a:endParaRPr/>
          </a:p>
          <a:p>
            <a:pPr>
              <a:defRPr/>
            </a:pPr>
            <a:r>
              <a:rPr lang="ru-RU" sz="1300">
                <a:solidFill>
                  <a:schemeClr val="tx1"/>
                </a:solidFill>
              </a:rPr>
              <a:t>LLM: GigaChat, резерв YandexGPT, без ключей — правила</a:t>
            </a:r>
            <a:endParaRPr/>
          </a:p>
          <a:p>
            <a:pPr>
              <a:defRPr/>
            </a:pPr>
            <a:r>
              <a:rPr lang="ru-RU" sz="1300">
                <a:solidFill>
                  <a:schemeClr val="tx1"/>
                </a:solidFill>
              </a:rPr>
              <a:t>ФСП ID по OpenID Connect + PKCE</a:t>
            </a:r>
            <a:endParaRPr/>
          </a:p>
        </p:txBody>
      </p:sp>
      <p:sp>
        <p:nvSpPr>
          <p:cNvPr id="111290938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300">
                <a:solidFill>
                  <a:schemeClr val="tx1"/>
                </a:solidFill>
              </a:rPr>
              <a:t>Обратный найм: работодатель находит кандидата, а не наоборот</a:t>
            </a:r>
            <a:endParaRPr/>
          </a:p>
          <a:p>
            <a:pPr>
              <a:defRPr/>
            </a:pPr>
            <a:r>
              <a:rPr lang="ru-RU" sz="1300">
                <a:solidFill>
                  <a:schemeClr val="tx1"/>
                </a:solidFill>
              </a:rPr>
              <a:t>Зарплата в каждом приглашении, контакты — только после согласия</a:t>
            </a:r>
            <a:endParaRPr/>
          </a:p>
          <a:p>
            <a:pPr>
              <a:defRPr/>
            </a:pPr>
            <a:r>
              <a:rPr lang="ru-RU" sz="1300">
                <a:solidFill>
                  <a:schemeClr val="tx1"/>
                </a:solidFill>
              </a:rPr>
              <a:t>Кандидату бесплатно: тест, категория, PDF-профиль, разбор ошибок</a:t>
            </a:r>
            <a:endParaRPr/>
          </a:p>
          <a:p>
            <a:pPr>
              <a:defRPr/>
            </a:pPr>
            <a:r>
              <a:rPr lang="ru-RU" sz="1300">
                <a:solidFill>
                  <a:schemeClr val="tx1"/>
                </a:solidFill>
              </a:rPr>
              <a:t>Работодателю — подборка проверенных кандидатов вместо сотен откликов</a:t>
            </a:r>
            <a:endParaRPr/>
          </a:p>
          <a:p>
            <a:pPr>
              <a:defRPr/>
            </a:pPr>
            <a:r>
              <a:rPr lang="ru-RU" sz="1300">
                <a:solidFill>
                  <a:schemeClr val="tx1"/>
                </a:solidFill>
              </a:rPr>
              <a:t>Для ФСП — канал трудоустройства участников и раунды компаний в Arena</a:t>
            </a:r>
            <a:endParaRPr/>
          </a:p>
        </p:txBody>
      </p:sp>
      <p:sp>
        <p:nvSpPr>
          <p:cNvPr id="221594254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1015139144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1046193471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>
            <a:pPr>
              <a:lnSpc>
                <a:spcPct val="100000"/>
              </a:lnSpc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364081" name="Прямоугольник 29"/>
          <p:cNvSpPr/>
          <p:nvPr/>
        </p:nvSpPr>
        <p:spPr bwMode="auto"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49544422" name="Объект 28"/>
          <p:cNvSpPr>
            <a:spLocks noGrp="1"/>
          </p:cNvSpPr>
          <p:nvPr>
            <p:ph idx="1"/>
          </p:nvPr>
        </p:nvSpPr>
        <p:spPr bwMode="auto">
          <a:xfrm>
            <a:off x="521133" y="1263123"/>
            <a:ext cx="5574868" cy="4937652"/>
          </a:xfrm>
        </p:spPr>
        <p:txBody>
          <a:bodyPr/>
          <a:lstStyle/>
          <a:p>
            <a:pPr>
              <a:defRPr/>
            </a:pPr>
            <a:r>
              <a:rPr lang="ru-RU" b="1" sz="1500">
                <a:solidFill>
                  <a:schemeClr val="tx1"/>
                </a:solidFill>
              </a:rPr>
              <a:t>Нагрузка:</a:t>
            </a:r>
            <a:r>
              <a:rPr lang="ru-RU" sz="1500">
                <a:solidFill>
                  <a:schemeClr val="tx1"/>
                </a:solidFill>
              </a:rPr>
              <a:t> 10 пользователей — 378 запросов/с, p95 ≤ 65 мс; 50 пользователей — 210 запросов/с, 0 ошибок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b="1" sz="1500">
                <a:solidFill>
                  <a:schemeClr val="tx1"/>
                </a:solidFill>
              </a:rPr>
              <a:t>Code Arena:</a:t>
            </a:r>
            <a:r>
              <a:rPr lang="ru-RU" sz="1500">
                <a:solidFill>
                  <a:schemeClr val="tx1"/>
                </a:solidFill>
              </a:rPr>
              <a:t> 50 одновременных отправок без ошибок; тест в песочнице ≤ 220 мс при лимите 2 с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b="1" sz="1500">
                <a:solidFill>
                  <a:schemeClr val="tx1"/>
                </a:solidFill>
              </a:rPr>
              <a:t>Тесты:</a:t>
            </a:r>
            <a:r>
              <a:rPr lang="ru-RU" sz="1500">
                <a:solidFill>
                  <a:schemeClr val="tx1"/>
                </a:solidFill>
              </a:rPr>
              <a:t> 276 тестов бэкенда (покрытие 83 %), 43 теста фронтенда, браузерный e2e — 23 шага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b="1" sz="1500">
                <a:solidFill>
                  <a:schemeClr val="tx1"/>
                </a:solidFill>
              </a:rPr>
              <a:t>CI на каждый PR:</a:t>
            </a:r>
            <a:r>
              <a:rPr lang="ru-RU" sz="1500">
                <a:solidFill>
                  <a:schemeClr val="tx1"/>
                </a:solidFill>
              </a:rPr>
              <a:t> линтер, тесты, валидация методики, актуальность OpenAPI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b="1" sz="1500">
                <a:solidFill>
                  <a:schemeClr val="tx1"/>
                </a:solidFill>
              </a:rPr>
              <a:t>152-ФЗ:</a:t>
            </a:r>
            <a:r>
              <a:rPr lang="ru-RU" sz="1500">
                <a:solidFill>
                  <a:schemeClr val="tx1"/>
                </a:solidFill>
              </a:rPr>
              <a:t> журнал согласий, псевдоним до раскрытия, контакты только после согласия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b="1" sz="1500">
                <a:solidFill>
                  <a:schemeClr val="tx1"/>
                </a:solidFill>
              </a:rPr>
              <a:t>Прод:</a:t>
            </a:r>
            <a:r>
              <a:rPr lang="ru-RU" sz="1500">
                <a:solidFill>
                  <a:schemeClr val="tx1"/>
                </a:solidFill>
              </a:rPr>
              <a:t> hyrekit.ru в Yandex Cloud, ежедневные снимки диска, дымовая проверка после выкатки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13084168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12</a:t>
            </a:fld>
            <a:endParaRPr lang="ru-RU"/>
          </a:p>
        </p:txBody>
      </p:sp>
      <p:sp>
        <p:nvSpPr>
          <p:cNvPr id="1035099804" name="Заголовок 27"/>
          <p:cNvSpPr>
            <a:spLocks noGrp="1"/>
          </p:cNvSpPr>
          <p:nvPr>
            <p:ph type="title"/>
          </p:nvPr>
        </p:nvSpPr>
        <p:spPr bwMode="auto">
          <a:xfrm>
            <a:off x="527444" y="395288"/>
            <a:ext cx="5574868" cy="425729"/>
          </a:xfrm>
        </p:spPr>
        <p:txBody>
          <a:bodyPr/>
          <a:lstStyle/>
          <a:p>
            <a:pPr>
              <a:defRPr/>
            </a:pPr>
            <a:r>
              <a:rPr lang="ru-RU" sz="2000">
                <a:solidFill>
                  <a:schemeClr val="accent5"/>
                </a:solidFill>
              </a:rPr>
              <a:t>НАДЁЖНОСТЬ И КАЧЕСТВО</a:t>
            </a:r>
            <a:endParaRPr lang="ru-RU" sz="2000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4916152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50415483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361738264" name="Заголовок 1"/>
          <p:cNvSpPr>
            <a:spLocks noGrp="1"/>
          </p:cNvSpPr>
          <p:nvPr>
            <p:ph type="title"/>
          </p:nvPr>
        </p:nvSpPr>
        <p:spPr bwMode="auto">
          <a:xfrm>
            <a:off x="533104" y="414049"/>
            <a:ext cx="5994696" cy="552061"/>
          </a:xfrm>
        </p:spPr>
        <p:txBody>
          <a:bodyPr/>
          <a:lstStyle/>
          <a:p>
            <a:pPr>
              <a:defRPr/>
            </a:pPr>
            <a:r>
              <a:rPr lang="ru-RU" sz="3600">
                <a:solidFill>
                  <a:schemeClr val="bg1"/>
                </a:solidFill>
              </a:rPr>
              <a:t>АРХИТЕКТУРА</a:t>
            </a:r>
            <a:endParaRPr lang="ru-RU" sz="3600">
              <a:solidFill>
                <a:schemeClr val="bg1"/>
              </a:solidFill>
            </a:endParaRPr>
          </a:p>
        </p:txBody>
      </p:sp>
      <p:sp>
        <p:nvSpPr>
          <p:cNvPr id="1550415484" name="Rounded Rectangle 1550415483"/>
          <p:cNvSpPr/>
          <p:nvPr/>
        </p:nvSpPr>
        <p:spPr>
          <a:xfrm>
            <a:off x="640080" y="1600200"/>
            <a:ext cx="2011680" cy="868680"/>
          </a:xfrm>
          <a:prstGeom prst="roundRect">
            <a:avLst>
              <a:gd name="adj" fmla="val 12631"/>
            </a:avLst>
          </a:prstGeom>
          <a:solidFill>
            <a:srgbClr val="8A8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0415485" name="TextBox 1550415484"/>
          <p:cNvSpPr txBox="1"/>
          <p:nvPr/>
        </p:nvSpPr>
        <p:spPr>
          <a:xfrm>
            <a:off x="731519" y="1655064"/>
            <a:ext cx="1828800" cy="7589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</a:rPr>
              <a:t>Браузер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FFFFFF"/>
                </a:solidFill>
              </a:rPr>
              <a:t>React SPA, оба кабинета</a:t>
            </a:r>
          </a:p>
        </p:txBody>
      </p:sp>
      <p:sp>
        <p:nvSpPr>
          <p:cNvPr id="1550415486" name="Rounded Rectangle 1550415485"/>
          <p:cNvSpPr/>
          <p:nvPr/>
        </p:nvSpPr>
        <p:spPr>
          <a:xfrm>
            <a:off x="3108960" y="1600200"/>
            <a:ext cx="2011680" cy="868680"/>
          </a:xfrm>
          <a:prstGeom prst="roundRect">
            <a:avLst>
              <a:gd name="adj" fmla="val 12631"/>
            </a:avLst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0415487" name="TextBox 1550415486"/>
          <p:cNvSpPr txBox="1"/>
          <p:nvPr/>
        </p:nvSpPr>
        <p:spPr>
          <a:xfrm>
            <a:off x="3200400" y="1655064"/>
            <a:ext cx="1828800" cy="7589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</a:rPr>
              <a:t>Caddy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FFFFFF"/>
                </a:solidFill>
              </a:rPr>
              <a:t>HTTPS, Let’s Encrypt</a:t>
            </a:r>
          </a:p>
        </p:txBody>
      </p:sp>
      <p:sp>
        <p:nvSpPr>
          <p:cNvPr id="1550415488" name="Rounded Rectangle 1550415487"/>
          <p:cNvSpPr/>
          <p:nvPr/>
        </p:nvSpPr>
        <p:spPr>
          <a:xfrm>
            <a:off x="5577840" y="1600200"/>
            <a:ext cx="2011680" cy="868680"/>
          </a:xfrm>
          <a:prstGeom prst="roundRect">
            <a:avLst>
              <a:gd name="adj" fmla="val 12631"/>
            </a:avLst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0415489" name="TextBox 1550415488"/>
          <p:cNvSpPr txBox="1"/>
          <p:nvPr/>
        </p:nvSpPr>
        <p:spPr>
          <a:xfrm>
            <a:off x="5669279" y="1655064"/>
            <a:ext cx="1828800" cy="7589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</a:rPr>
              <a:t>nginx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FFFFFF"/>
                </a:solidFill>
              </a:rPr>
              <a:t>статика + /api</a:t>
            </a:r>
          </a:p>
        </p:txBody>
      </p:sp>
      <p:sp>
        <p:nvSpPr>
          <p:cNvPr id="1550415490" name="Rounded Rectangle 1550415489"/>
          <p:cNvSpPr/>
          <p:nvPr/>
        </p:nvSpPr>
        <p:spPr>
          <a:xfrm>
            <a:off x="8046720" y="1554480"/>
            <a:ext cx="3474720" cy="960120"/>
          </a:xfrm>
          <a:prstGeom prst="roundRect">
            <a:avLst>
              <a:gd name="adj" fmla="val 11428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0415491" name="TextBox 1550415490"/>
          <p:cNvSpPr txBox="1"/>
          <p:nvPr/>
        </p:nvSpPr>
        <p:spPr>
          <a:xfrm>
            <a:off x="8138160" y="1609344"/>
            <a:ext cx="3291839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</a:rPr>
              <a:t>FastAPI — модульный монолит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FFFFFF"/>
                </a:solidFill>
              </a:rPr>
              <a:t>auth · candidates · assessment · matching · arena · fsp · llm</a:t>
            </a:r>
          </a:p>
        </p:txBody>
      </p:sp>
      <p:cxnSp>
        <p:nvCxnSpPr>
          <p:cNvPr id="1550415492" name="Connector 1550415491"/>
          <p:cNvCxnSpPr/>
          <p:nvPr/>
        </p:nvCxnSpPr>
        <p:spPr>
          <a:xfrm>
            <a:off x="2651760" y="2034540"/>
            <a:ext cx="457200" cy="0"/>
          </a:xfrm>
          <a:prstGeom prst="line">
            <a:avLst/>
          </a:prstGeom>
          <a:ln w="19050">
            <a:solidFill>
              <a:srgbClr val="6B6C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0415493" name="Connector 1550415492"/>
          <p:cNvCxnSpPr/>
          <p:nvPr/>
        </p:nvCxnSpPr>
        <p:spPr>
          <a:xfrm>
            <a:off x="5120640" y="2034540"/>
            <a:ext cx="457200" cy="0"/>
          </a:xfrm>
          <a:prstGeom prst="line">
            <a:avLst/>
          </a:prstGeom>
          <a:ln w="19050">
            <a:solidFill>
              <a:srgbClr val="6B6C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0415494" name="Connector 1550415493"/>
          <p:cNvCxnSpPr/>
          <p:nvPr/>
        </p:nvCxnSpPr>
        <p:spPr>
          <a:xfrm>
            <a:off x="7589520" y="2034540"/>
            <a:ext cx="457200" cy="0"/>
          </a:xfrm>
          <a:prstGeom prst="line">
            <a:avLst/>
          </a:prstGeom>
          <a:ln w="19050">
            <a:solidFill>
              <a:srgbClr val="6B6C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0415495" name="Rounded Rectangle 1550415494"/>
          <p:cNvSpPr/>
          <p:nvPr/>
        </p:nvSpPr>
        <p:spPr>
          <a:xfrm>
            <a:off x="640080" y="3246120"/>
            <a:ext cx="2103120" cy="868680"/>
          </a:xfrm>
          <a:prstGeom prst="roundRect">
            <a:avLst>
              <a:gd name="adj" fmla="val 12631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0415496" name="TextBox 1550415495"/>
          <p:cNvSpPr txBox="1"/>
          <p:nvPr/>
        </p:nvSpPr>
        <p:spPr>
          <a:xfrm>
            <a:off x="731519" y="3300984"/>
            <a:ext cx="1920239" cy="7589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</a:rPr>
              <a:t>PostgreSQL 16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FFFFFF"/>
                </a:solidFill>
              </a:rPr>
              <a:t>данные</a:t>
            </a:r>
          </a:p>
        </p:txBody>
      </p:sp>
      <p:sp>
        <p:nvSpPr>
          <p:cNvPr id="1550415497" name="Rounded Rectangle 1550415496"/>
          <p:cNvSpPr/>
          <p:nvPr/>
        </p:nvSpPr>
        <p:spPr>
          <a:xfrm>
            <a:off x="2971800" y="3246120"/>
            <a:ext cx="2103120" cy="868680"/>
          </a:xfrm>
          <a:prstGeom prst="roundRect">
            <a:avLst>
              <a:gd name="adj" fmla="val 12631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0415498" name="TextBox 1550415497"/>
          <p:cNvSpPr txBox="1"/>
          <p:nvPr/>
        </p:nvSpPr>
        <p:spPr>
          <a:xfrm>
            <a:off x="3063240" y="3300984"/>
            <a:ext cx="1920239" cy="7589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</a:rPr>
              <a:t>Redis 7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FFFFFF"/>
                </a:solidFill>
              </a:rPr>
              <a:t>лимиты</a:t>
            </a:r>
          </a:p>
        </p:txBody>
      </p:sp>
      <p:sp>
        <p:nvSpPr>
          <p:cNvPr id="1550415499" name="Rounded Rectangle 1550415498"/>
          <p:cNvSpPr/>
          <p:nvPr/>
        </p:nvSpPr>
        <p:spPr>
          <a:xfrm>
            <a:off x="5303520" y="3246120"/>
            <a:ext cx="2103120" cy="868680"/>
          </a:xfrm>
          <a:prstGeom prst="roundRect">
            <a:avLst>
              <a:gd name="adj" fmla="val 12631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0415500" name="TextBox 1550415499"/>
          <p:cNvSpPr txBox="1"/>
          <p:nvPr/>
        </p:nvSpPr>
        <p:spPr>
          <a:xfrm>
            <a:off x="5394959" y="3300984"/>
            <a:ext cx="1920239" cy="7589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</a:rPr>
              <a:t>Песочница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FFFFFF"/>
                </a:solidFill>
              </a:rPr>
              <a:t>Landlock + seccomp</a:t>
            </a:r>
          </a:p>
        </p:txBody>
      </p:sp>
      <p:sp>
        <p:nvSpPr>
          <p:cNvPr id="1550415501" name="Rounded Rectangle 1550415500"/>
          <p:cNvSpPr/>
          <p:nvPr/>
        </p:nvSpPr>
        <p:spPr>
          <a:xfrm>
            <a:off x="7635240" y="3246120"/>
            <a:ext cx="2103120" cy="868680"/>
          </a:xfrm>
          <a:prstGeom prst="roundRect">
            <a:avLst>
              <a:gd name="adj" fmla="val 12631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0415502" name="TextBox 1550415501"/>
          <p:cNvSpPr txBox="1"/>
          <p:nvPr/>
        </p:nvSpPr>
        <p:spPr>
          <a:xfrm>
            <a:off x="7726679" y="3300984"/>
            <a:ext cx="1920239" cy="7589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</a:rPr>
              <a:t>SMTP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FFFFFF"/>
                </a:solidFill>
              </a:rPr>
              <a:t>подтверждение почты</a:t>
            </a:r>
          </a:p>
        </p:txBody>
      </p:sp>
      <p:sp>
        <p:nvSpPr>
          <p:cNvPr id="1550415503" name="Rounded Rectangle 1550415502"/>
          <p:cNvSpPr/>
          <p:nvPr/>
        </p:nvSpPr>
        <p:spPr>
          <a:xfrm>
            <a:off x="640080" y="4846320"/>
            <a:ext cx="2103120" cy="868680"/>
          </a:xfrm>
          <a:prstGeom prst="roundRect">
            <a:avLst>
              <a:gd name="adj" fmla="val 12631"/>
            </a:avLst>
          </a:prstGeom>
          <a:solidFill>
            <a:srgbClr val="F4EEF8"/>
          </a:solidFill>
          <a:ln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0415504" name="TextBox 1550415503"/>
          <p:cNvSpPr txBox="1"/>
          <p:nvPr/>
        </p:nvSpPr>
        <p:spPr>
          <a:xfrm>
            <a:off x="731519" y="4901183"/>
            <a:ext cx="1920239" cy="7589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C1D22"/>
                </a:solidFill>
              </a:rPr>
              <a:t>GigaChat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1C1D22"/>
                </a:solidFill>
              </a:rPr>
              <a:t>основная LLM</a:t>
            </a:r>
          </a:p>
        </p:txBody>
      </p:sp>
      <p:sp>
        <p:nvSpPr>
          <p:cNvPr id="1550415505" name="Rounded Rectangle 1550415504"/>
          <p:cNvSpPr/>
          <p:nvPr/>
        </p:nvSpPr>
        <p:spPr>
          <a:xfrm>
            <a:off x="2971800" y="4846320"/>
            <a:ext cx="2103120" cy="868680"/>
          </a:xfrm>
          <a:prstGeom prst="roundRect">
            <a:avLst>
              <a:gd name="adj" fmla="val 12631"/>
            </a:avLst>
          </a:prstGeom>
          <a:solidFill>
            <a:srgbClr val="F4EEF8"/>
          </a:solidFill>
          <a:ln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0415506" name="TextBox 1550415505"/>
          <p:cNvSpPr txBox="1"/>
          <p:nvPr/>
        </p:nvSpPr>
        <p:spPr>
          <a:xfrm>
            <a:off x="3063240" y="4901183"/>
            <a:ext cx="1920239" cy="7589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C1D22"/>
                </a:solidFill>
              </a:rPr>
              <a:t>YandexGPT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1C1D22"/>
                </a:solidFill>
              </a:rPr>
              <a:t>резерв LLM</a:t>
            </a:r>
          </a:p>
        </p:txBody>
      </p:sp>
      <p:sp>
        <p:nvSpPr>
          <p:cNvPr id="1550415507" name="Rounded Rectangle 1550415506"/>
          <p:cNvSpPr/>
          <p:nvPr/>
        </p:nvSpPr>
        <p:spPr>
          <a:xfrm>
            <a:off x="5303520" y="4846320"/>
            <a:ext cx="2103120" cy="868680"/>
          </a:xfrm>
          <a:prstGeom prst="roundRect">
            <a:avLst>
              <a:gd name="adj" fmla="val 12631"/>
            </a:avLst>
          </a:prstGeom>
          <a:solidFill>
            <a:srgbClr val="F4EEF8"/>
          </a:solidFill>
          <a:ln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0415508" name="TextBox 1550415507"/>
          <p:cNvSpPr txBox="1"/>
          <p:nvPr/>
        </p:nvSpPr>
        <p:spPr>
          <a:xfrm>
            <a:off x="5394959" y="4901183"/>
            <a:ext cx="1920239" cy="7589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C1D22"/>
                </a:solidFill>
              </a:rPr>
              <a:t>ФСП ID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1C1D22"/>
                </a:solidFill>
              </a:rPr>
              <a:t>OIDC + PKCE</a:t>
            </a:r>
          </a:p>
        </p:txBody>
      </p:sp>
      <p:sp>
        <p:nvSpPr>
          <p:cNvPr id="1550415509" name="Rounded Rectangle 1550415508"/>
          <p:cNvSpPr/>
          <p:nvPr/>
        </p:nvSpPr>
        <p:spPr>
          <a:xfrm>
            <a:off x="7635240" y="4846320"/>
            <a:ext cx="2103120" cy="868680"/>
          </a:xfrm>
          <a:prstGeom prst="roundRect">
            <a:avLst>
              <a:gd name="adj" fmla="val 12631"/>
            </a:avLst>
          </a:prstGeom>
          <a:solidFill>
            <a:srgbClr val="F4EEF8"/>
          </a:solidFill>
          <a:ln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0415510" name="TextBox 1550415509"/>
          <p:cNvSpPr txBox="1"/>
          <p:nvPr/>
        </p:nvSpPr>
        <p:spPr>
          <a:xfrm>
            <a:off x="7726679" y="4901183"/>
            <a:ext cx="1920239" cy="7589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C1D22"/>
                </a:solidFill>
              </a:rPr>
              <a:t>Реестр ФСП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1C1D22"/>
                </a:solidFill>
              </a:rPr>
              <a:t>FspProvider</a:t>
            </a:r>
          </a:p>
        </p:txBody>
      </p:sp>
      <p:cxnSp>
        <p:nvCxnSpPr>
          <p:cNvPr id="1550415511" name="Connector 1550415510"/>
          <p:cNvCxnSpPr/>
          <p:nvPr/>
        </p:nvCxnSpPr>
        <p:spPr>
          <a:xfrm>
            <a:off x="9784080" y="2514600"/>
            <a:ext cx="0" cy="3200400"/>
          </a:xfrm>
          <a:prstGeom prst="line">
            <a:avLst/>
          </a:prstGeom>
          <a:ln w="19050">
            <a:solidFill>
              <a:srgbClr val="6B6C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0415512" name="TextBox 1550415511"/>
          <p:cNvSpPr txBox="1"/>
          <p:nvPr/>
        </p:nvSpPr>
        <p:spPr>
          <a:xfrm>
            <a:off x="9921240" y="2926080"/>
            <a:ext cx="1920240" cy="2834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520978"/>
                </a:solidFill>
              </a:rPr>
              <a:t>Один сервер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1C1D22"/>
                </a:solidFill>
              </a:rPr>
              <a:t>ВМ Compute Cloud в Yandex Cloud, Docker Compose, образы в Container Registry, ежедневный снимок диска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200" b="1">
                <a:solidFill>
                  <a:srgbClr val="520978"/>
                </a:solidFill>
              </a:rPr>
              <a:t>Внешние сервисы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1C1D22"/>
                </a:solidFill>
              </a:rPr>
              <a:t>нижний ряд: при отказе работают резерв, эмулятор или правила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419048" name="Скругленный прямоугольник 8"/>
          <p:cNvSpPr/>
          <p:nvPr/>
        </p:nvSpPr>
        <p:spPr bwMode="auto"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33226037" name="Номер слайда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14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919072065" name="Заголовок 2"/>
          <p:cNvSpPr>
            <a:spLocks noGrp="1"/>
          </p:cNvSpPr>
          <p:nvPr>
            <p:ph type="title"/>
          </p:nvPr>
        </p:nvSpPr>
        <p:spPr bwMode="auto">
          <a:xfrm>
            <a:off x="622040" y="496888"/>
            <a:ext cx="4781233" cy="415925"/>
          </a:xfrm>
        </p:spPr>
        <p:txBody>
          <a:bodyPr/>
          <a:lstStyle/>
          <a:p>
            <a:pPr>
              <a:defRPr/>
            </a:pPr>
            <a:r>
              <a:rPr lang="ru-RU" sz="2000">
                <a:solidFill>
                  <a:schemeClr val="accent5"/>
                </a:solidFill>
              </a:rPr>
              <a:t>ПОПРОБУЙТЕ САМИ</a:t>
            </a:r>
            <a:endParaRPr lang="ru-RU" sz="2000">
              <a:solidFill>
                <a:schemeClr val="accent5"/>
              </a:solidFill>
            </a:endParaRPr>
          </a:p>
        </p:txBody>
      </p:sp>
      <p:pic>
        <p:nvPicPr>
          <p:cNvPr id="2133195127" name="Рисунок 3" descr="qr-panel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17" r="17"/>
          <a:stretch>
            <a:fillRect/>
          </a:stretch>
        </p:blipFill>
        <p:spPr>
          <a:xfrm>
            <a:off x="6096001" y="0"/>
            <a:ext cx="6096000" cy="6857999"/>
          </a:xfrm>
        </p:spPr>
      </p:pic>
      <p:sp>
        <p:nvSpPr>
          <p:cNvPr id="928178147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595433" y="1143695"/>
            <a:ext cx="4807840" cy="471735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b="1" sz="1700">
                <a:solidFill>
                  <a:schemeClr val="tx1"/>
                </a:solidFill>
              </a:rPr>
              <a:t>Стенд:</a:t>
            </a:r>
            <a:r>
              <a:rPr lang="ru-RU" sz="1700">
                <a:solidFill>
                  <a:schemeClr val="tx1"/>
                </a:solidFill>
              </a:rPr>
              <a:t> hyrekit.ru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b="1" sz="1700">
                <a:solidFill>
                  <a:schemeClr val="tx1"/>
                </a:solidFill>
              </a:rPr>
              <a:t>Экспресс-тест без регистрации:</a:t>
            </a:r>
            <a:r>
              <a:rPr lang="ru-RU" sz="1700">
                <a:solidFill>
                  <a:schemeClr val="tx1"/>
                </a:solidFill>
              </a:rPr>
              <a:t> hyrekit.ru/express — 5 заданий за 5 минут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b="1" sz="1700">
                <a:solidFill>
                  <a:schemeClr val="tx1"/>
                </a:solidFill>
              </a:rPr>
              <a:t>Работодатель:</a:t>
            </a:r>
            <a:r>
              <a:rPr lang="ru-RU" sz="1700">
                <a:solidFill>
                  <a:schemeClr val="tx1"/>
                </a:solidFill>
              </a:rPr>
              <a:t> employer@hyrekit.ru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b="1" sz="1700">
                <a:solidFill>
                  <a:schemeClr val="tx1"/>
                </a:solidFill>
              </a:rPr>
              <a:t>Кандидат:</a:t>
            </a:r>
            <a:r>
              <a:rPr lang="ru-RU" sz="1700">
                <a:solidFill>
                  <a:schemeClr val="tx1"/>
                </a:solidFill>
              </a:rPr>
              <a:t> candidate@hyrekit.ru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b="1" sz="1700">
                <a:solidFill>
                  <a:schemeClr val="tx1"/>
                </a:solidFill>
              </a:rPr>
              <a:t>Пароль:</a:t>
            </a:r>
            <a:r>
              <a:rPr lang="ru-RU" sz="1700">
                <a:solidFill>
                  <a:schemeClr val="tx1"/>
                </a:solidFill>
              </a:rPr>
              <a:t> HyreKit2026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b="1" sz="1700">
                <a:solidFill>
                  <a:schemeClr val="tx1"/>
                </a:solidFill>
              </a:rPr>
              <a:t>API:</a:t>
            </a:r>
            <a:r>
              <a:rPr lang="ru-RU" sz="1700">
                <a:solidFill>
                  <a:schemeClr val="tx1"/>
                </a:solidFill>
              </a:rPr>
              <a:t> hyrekit.ru/docs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b="1" sz="1700">
                <a:solidFill>
                  <a:schemeClr val="tx1"/>
                </a:solidFill>
              </a:rPr>
              <a:t>Код:</a:t>
            </a:r>
            <a:r>
              <a:rPr lang="ru-RU" sz="1700">
                <a:solidFill>
                  <a:schemeClr val="tx1"/>
                </a:solidFill>
              </a:rPr>
              <a:t> github.com/Fighter90/hyrekit_fsp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b="1" sz="1700">
                <a:solidFill>
                  <a:schemeClr val="tx1"/>
                </a:solidFill>
              </a:rPr>
              <a:t>Инструкция для жюри:</a:t>
            </a:r>
            <a:r>
              <a:rPr lang="ru-RU" sz="1700">
                <a:solidFill>
                  <a:schemeClr val="tx1"/>
                </a:solidFill>
              </a:rPr>
              <a:t> docs/jury.md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spcBef>
                <a:spcPts val="1800"/>
              </a:spcBef>
              <a:buNone/>
              <a:defRPr/>
            </a:pPr>
            <a:r>
              <a:rPr lang="ru-RU" b="1" sz="2000">
                <a:solidFill>
                  <a:srgbClr val="520978"/>
                </a:solidFill>
              </a:rPr>
              <a:t>Спасибо! Готовы ответить на вопросы.</a:t>
            </a:r>
            <a:endParaRPr lang="ru-RU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85195" name="Заголовок 5"/>
          <p:cNvSpPr>
            <a:spLocks noGrp="1"/>
          </p:cNvSpPr>
          <p:nvPr>
            <p:ph type="title"/>
          </p:nvPr>
        </p:nvSpPr>
        <p:spPr bwMode="auto">
          <a:xfrm>
            <a:off x="533490" y="370426"/>
            <a:ext cx="5562510" cy="442374"/>
          </a:xfrm>
        </p:spPr>
        <p:txBody>
          <a:bodyPr/>
          <a:lstStyle/>
          <a:p>
            <a:pPr>
              <a:defRPr/>
            </a:pPr>
            <a:r>
              <a:rPr lang="ru-RU" sz="2000">
                <a:solidFill>
                  <a:schemeClr val="accent5"/>
                </a:solidFill>
              </a:rPr>
              <a:t>БИЗНЕС И МАРКЕТИНГ</a:t>
            </a:r>
            <a:endParaRPr lang="ru-RU" sz="2000">
              <a:solidFill>
                <a:schemeClr val="accent5"/>
              </a:solidFill>
            </a:endParaRPr>
          </a:p>
        </p:txBody>
      </p:sp>
      <p:sp>
        <p:nvSpPr>
          <p:cNvPr id="363261204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521133" y="1695025"/>
            <a:ext cx="11155680" cy="712587"/>
          </a:xfrm>
        </p:spPr>
        <p:txBody>
          <a:bodyPr/>
          <a:lstStyle/>
          <a:p>
            <a:pPr>
              <a:defRPr/>
            </a:pPr>
            <a:r>
              <a:rPr lang="ru-RU" b="1" sz="1300">
                <a:solidFill>
                  <a:schemeClr val="tx1"/>
                </a:solidFill>
              </a:rPr>
              <a:t>Работодатель платит за результат:</a:t>
            </a:r>
            <a:r>
              <a:rPr lang="ru-RU" sz="1300">
                <a:solidFill>
                  <a:schemeClr val="tx1"/>
                </a:solidFill>
              </a:rPr>
              <a:t> подписка на подборки и плата за раскрытие контактов принявшего приглашение кандидата.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789047725" name="Текст 8"/>
          <p:cNvSpPr>
            <a:spLocks noGrp="1"/>
          </p:cNvSpPr>
          <p:nvPr>
            <p:ph type="body" sz="quarter" idx="16"/>
          </p:nvPr>
        </p:nvSpPr>
        <p:spPr bwMode="auto">
          <a:xfrm>
            <a:off x="521133" y="2552035"/>
            <a:ext cx="11155680" cy="712587"/>
          </a:xfrm>
        </p:spPr>
        <p:txBody>
          <a:bodyPr/>
          <a:lstStyle/>
          <a:p>
            <a:pPr>
              <a:defRPr/>
            </a:pPr>
            <a:r>
              <a:rPr lang="ru-RU" b="1" sz="1300">
                <a:solidFill>
                  <a:schemeClr val="tx1"/>
                </a:solidFill>
              </a:rPr>
              <a:t>Кандидату — бесплатно:</a:t>
            </a:r>
            <a:r>
              <a:rPr lang="ru-RU" sz="1300">
                <a:solidFill>
                  <a:schemeClr val="tx1"/>
                </a:solidFill>
              </a:rPr>
              <a:t> тест, категория, PDF-профиль, разбор ошибок и приглашения с зарплатой.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330874850" name="Текст 9"/>
          <p:cNvSpPr>
            <a:spLocks noGrp="1"/>
          </p:cNvSpPr>
          <p:nvPr>
            <p:ph type="body" sz="quarter" idx="17"/>
          </p:nvPr>
        </p:nvSpPr>
        <p:spPr bwMode="auto">
          <a:xfrm>
            <a:off x="521133" y="3409044"/>
            <a:ext cx="11155680" cy="712587"/>
          </a:xfrm>
        </p:spPr>
        <p:txBody>
          <a:bodyPr/>
          <a:lstStyle/>
          <a:p>
            <a:pPr>
              <a:defRPr/>
            </a:pPr>
            <a:r>
              <a:rPr lang="ru-RU" b="1" sz="1300">
                <a:solidFill>
                  <a:schemeClr val="tx1"/>
                </a:solidFill>
              </a:rPr>
              <a:t>Канал через ФСП:</a:t>
            </a:r>
            <a:r>
              <a:rPr lang="ru-RU" sz="1300">
                <a:solidFill>
                  <a:schemeClr val="tx1"/>
                </a:solidFill>
              </a:rPr>
              <a:t> участники соревнований приходят с подтверждённым профилем — без затрат на привлечение.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38723555" name="Текст 10"/>
          <p:cNvSpPr>
            <a:spLocks noGrp="1"/>
          </p:cNvSpPr>
          <p:nvPr>
            <p:ph type="body" sz="quarter" idx="18"/>
          </p:nvPr>
        </p:nvSpPr>
        <p:spPr bwMode="auto">
          <a:xfrm>
            <a:off x="521133" y="4266053"/>
            <a:ext cx="11155680" cy="712587"/>
          </a:xfrm>
        </p:spPr>
        <p:txBody>
          <a:bodyPr/>
          <a:lstStyle/>
          <a:p>
            <a:pPr>
              <a:defRPr/>
            </a:pPr>
            <a:r>
              <a:rPr lang="ru-RU" b="1" sz="1300">
                <a:solidFill>
                  <a:schemeClr val="tx1"/>
                </a:solidFill>
              </a:rPr>
              <a:t>Найм через задачу:</a:t>
            </a:r>
            <a:r>
              <a:rPr lang="ru-RU" sz="1300">
                <a:solidFill>
                  <a:schemeClr val="tx1"/>
                </a:solidFill>
              </a:rPr>
              <a:t> компании проводят свои раунды Code Arena и приглашают лучших прямо из таблицы.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934002390" name="Текст 11"/>
          <p:cNvSpPr>
            <a:spLocks noGrp="1"/>
          </p:cNvSpPr>
          <p:nvPr>
            <p:ph type="body" sz="quarter" idx="19"/>
          </p:nvPr>
        </p:nvSpPr>
        <p:spPr bwMode="auto">
          <a:xfrm>
            <a:off x="521133" y="5123063"/>
            <a:ext cx="11155680" cy="712587"/>
          </a:xfrm>
        </p:spPr>
        <p:txBody>
          <a:bodyPr/>
          <a:lstStyle/>
          <a:p>
            <a:pPr>
              <a:defRPr/>
            </a:pPr>
            <a:r>
              <a:rPr lang="ru-RU" b="1" sz="1300">
                <a:solidFill>
                  <a:schemeClr val="tx1"/>
                </a:solidFill>
              </a:rPr>
              <a:t>Дешёвая эксплуатация:</a:t>
            </a:r>
            <a:r>
              <a:rPr lang="ru-RU" sz="1300">
                <a:solidFill>
                  <a:schemeClr val="tx1"/>
                </a:solidFill>
              </a:rPr>
              <a:t> одна ВМ, Docker Compose, отечественные облако и модели.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089038638" name="Номер слайда 2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41475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15</a:t>
            </a:fld>
            <a:endParaRPr lang="ru-RU">
              <a:solidFill>
                <a:schemeClr val="accent5"/>
              </a:solidFill>
            </a:endParaRPr>
          </a:p>
        </p:txBody>
      </p:sp>
      <p:cxnSp>
        <p:nvCxnSpPr>
          <p:cNvPr id="613526618" name="Прямая соединительная линия 1"/>
          <p:cNvCxnSpPr/>
          <p:nvPr/>
        </p:nvCxnSpPr>
        <p:spPr bwMode="auto"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20366626" name="Прямая соединительная линия 3"/>
          <p:cNvCxnSpPr/>
          <p:nvPr/>
        </p:nvCxnSpPr>
        <p:spPr bwMode="auto"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74578540" name="Прямая соединительная линия 12"/>
          <p:cNvCxnSpPr/>
          <p:nvPr/>
        </p:nvCxnSpPr>
        <p:spPr bwMode="auto"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08720826" name="Прямая соединительная линия 13"/>
          <p:cNvCxnSpPr/>
          <p:nvPr/>
        </p:nvCxnSpPr>
        <p:spPr bwMode="auto"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09645614" name="Прямая соединительная линия 14"/>
          <p:cNvCxnSpPr/>
          <p:nvPr/>
        </p:nvCxnSpPr>
        <p:spPr bwMode="auto"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569845" name="Скругленный прямоугольник 9"/>
          <p:cNvSpPr/>
          <p:nvPr/>
        </p:nvSpPr>
        <p:spPr bwMode="auto">
          <a:xfrm>
            <a:off x="346075" y="324562"/>
            <a:ext cx="256032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66135334" name="Скругленный прямоугольник 22"/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378487792" name="Скругленный прямоугольник 23"/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372335286" name="Скругленный прямоугольник 24"/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49603306" name="Скругленный прямоугольник 26"/>
          <p:cNvSpPr/>
          <p:nvPr/>
        </p:nvSpPr>
        <p:spPr bwMode="auto"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04715299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16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653950628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0913" y="2339783"/>
            <a:ext cx="2284071" cy="4236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rgbClr val="F92571"/>
                </a:solidFill>
              </a:rPr>
              <a:t>Backend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543069878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128740"/>
            <a:ext cx="2284071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FastAPI, async SQLAlchemy, PostgreSQL 16, Redis 7, Alembic. Методика — чистые функции без базы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449512060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457903" y="2373557"/>
            <a:ext cx="2337416" cy="40375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rgbClr val="F92571"/>
                </a:solidFill>
              </a:rPr>
              <a:t>Frontend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52209309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134070"/>
            <a:ext cx="2337416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React 19, TypeScript, Vite, CodeMirror. Адаптив от 360 px, фирменный стиль ФСП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75366265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56363" y="2379657"/>
            <a:ext cx="2268537" cy="4039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rgbClr val="F92571"/>
                </a:solidFill>
              </a:rPr>
              <a:t>LLM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593121416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136604"/>
            <a:ext cx="2268537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GigaChat → YandexGPT → правила: разбор резюме, оценка заданий, разбор решений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035673556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339783"/>
            <a:ext cx="2263553" cy="4236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rgbClr val="F92571"/>
                </a:solidFill>
              </a:rPr>
              <a:t>Песочница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016739151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128739"/>
            <a:ext cx="2263553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Landlock, seccomp, rlimit: без сети и новых процессов, 2 с и 256 МБ на тест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775053925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ТЕХНОЛОГИИ</a:t>
            </a:r>
            <a:endParaRPr lang="ru-RU"/>
          </a:p>
        </p:txBody>
      </p:sp>
      <p:sp>
        <p:nvSpPr>
          <p:cNvPr id="2017695717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771003" cy="42362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accent5"/>
                </a:solidFill>
              </a:rPr>
              <a:t>01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910845727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771003" cy="403756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accent5"/>
                </a:solidFill>
              </a:rPr>
              <a:t>02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942005142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771003" cy="403913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accent5"/>
                </a:solidFill>
              </a:rPr>
              <a:t>03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564574875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771003" cy="42362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accent5"/>
                </a:solidFill>
              </a:rPr>
              <a:t>04</a:t>
            </a: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1298020" name="Скругленный прямоугольник 7"/>
          <p:cNvSpPr/>
          <p:nvPr/>
        </p:nvSpPr>
        <p:spPr bwMode="auto"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99756032" name="Скругленный прямоугольник 8"/>
          <p:cNvSpPr/>
          <p:nvPr/>
        </p:nvSpPr>
        <p:spPr bwMode="auto">
          <a:xfrm>
            <a:off x="8365957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82862879" name="Скругленный прямоугольник 9"/>
          <p:cNvSpPr/>
          <p:nvPr/>
        </p:nvSpPr>
        <p:spPr bwMode="auto"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63097482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17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340350921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780565" y="2493074"/>
            <a:ext cx="2965634" cy="4236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800">
                <a:solidFill>
                  <a:srgbClr val="F92571"/>
                </a:solidFill>
              </a:rPr>
              <a:t>Тест нельзя выучить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2038059990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780565" y="3128740"/>
            <a:ext cx="2965633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Задания — генераторы. Шпаргалка из 200 попыток почти не помогает, статичный тест она ломает полностью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042246398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4623178" y="2493074"/>
            <a:ext cx="3034896" cy="40375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800">
                <a:solidFill>
                  <a:srgbClr val="F92571"/>
                </a:solidFill>
              </a:rPr>
              <a:t>Объяснимый балл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751555904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4623178" y="3128740"/>
            <a:ext cx="3034896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Пять компонентов с весами, причины и недостающий стек у каждого кандидата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402637261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8547959" y="2493074"/>
            <a:ext cx="2945464" cy="4039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800">
                <a:solidFill>
                  <a:srgbClr val="F92571"/>
                </a:solidFill>
              </a:rPr>
              <a:t>Сигнал ФСП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95029424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8547959" y="3128740"/>
            <a:ext cx="2945464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ФСП ID подтверждает участника, достижения и рейтинг Code Arena входят в подбор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846250097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6" y="335426"/>
            <a:ext cx="11331221" cy="37613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accent5"/>
                </a:solidFill>
              </a:rPr>
              <a:t>УНИКАЛЬНОСТЬ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2071632005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780565" y="1772415"/>
            <a:ext cx="1311031" cy="601141"/>
          </a:xfrm>
        </p:spPr>
        <p:txBody>
          <a:bodyPr/>
          <a:lstStyle/>
          <a:p>
            <a:pPr>
              <a:defRPr/>
            </a:pPr>
            <a:r>
              <a:rPr lang="ru-RU" sz="4400">
                <a:solidFill>
                  <a:schemeClr val="accent5"/>
                </a:solidFill>
              </a:rPr>
              <a:t>01</a:t>
            </a: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2007726482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4615219" y="1766200"/>
            <a:ext cx="1311031" cy="572942"/>
          </a:xfrm>
        </p:spPr>
        <p:txBody>
          <a:bodyPr/>
          <a:lstStyle/>
          <a:p>
            <a:pPr>
              <a:defRPr/>
            </a:pPr>
            <a:r>
              <a:rPr lang="ru-RU" sz="4400">
                <a:solidFill>
                  <a:schemeClr val="accent5"/>
                </a:solidFill>
              </a:rPr>
              <a:t>02</a:t>
            </a: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529616915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8547959" y="1766043"/>
            <a:ext cx="1311031" cy="573165"/>
          </a:xfrm>
        </p:spPr>
        <p:txBody>
          <a:bodyPr/>
          <a:lstStyle/>
          <a:p>
            <a:pPr>
              <a:defRPr/>
            </a:pPr>
            <a:r>
              <a:rPr lang="ru-RU" sz="4400">
                <a:solidFill>
                  <a:schemeClr val="accent5"/>
                </a:solidFill>
              </a:rPr>
              <a:t>03</a:t>
            </a:r>
            <a:endParaRPr lang="ru-RU" sz="4400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585735" name="Скругленный прямоугольник 22"/>
          <p:cNvSpPr/>
          <p:nvPr/>
        </p:nvSpPr>
        <p:spPr bwMode="auto">
          <a:xfrm>
            <a:off x="346075" y="324562"/>
            <a:ext cx="3310127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08152949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18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15785089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1615961" y="1428776"/>
            <a:ext cx="3866856" cy="4236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rgbClr val="F92571"/>
                </a:solidFill>
              </a:rPr>
              <a:t>Генераторы, а не вопросы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634297687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1615964" y="1996388"/>
            <a:ext cx="3866856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36 семейств по 14 темам: 23 собирают условие из случайных данных, ответ считает код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721281768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1596604" y="3032761"/>
            <a:ext cx="3866856" cy="40375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rgbClr val="F92571"/>
                </a:solidFill>
              </a:rPr>
              <a:t>Равная сложность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28248022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1596604" y="3580500"/>
            <a:ext cx="3866856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5 тем × 2 задания; профиль сложности задан грейдом — один на 1 200 вариантов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966167299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1596604" y="4616873"/>
            <a:ext cx="3866856" cy="4039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rgbClr val="F92571"/>
                </a:solidFill>
              </a:rPr>
              <a:t>Модель Раша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711916396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1596604" y="5164612"/>
            <a:ext cx="3866856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P(верно) = σ(θ − b); θ — оценка MAP с априорным N(cut(g), 1)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55582710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7289068" y="1428776"/>
            <a:ext cx="3866856" cy="4236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rgbClr val="F92571"/>
                </a:solidFill>
              </a:rPr>
              <a:t>Пороги грейдов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714580888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7289071" y="1996388"/>
            <a:ext cx="3866856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cut(g) = order − 1,75: Intern −1,75 … Lead 2,25; коридор — 1 логит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182760884" name="Текст 9"/>
          <p:cNvSpPr>
            <a:spLocks noGrp="1"/>
          </p:cNvSpPr>
          <p:nvPr>
            <p:ph type="body" sz="quarter" idx="45"/>
          </p:nvPr>
        </p:nvSpPr>
        <p:spPr bwMode="auto">
          <a:xfrm>
            <a:off x="7269712" y="3032761"/>
            <a:ext cx="3866856" cy="40375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rgbClr val="F92571"/>
                </a:solidFill>
              </a:rPr>
              <a:t>Только большинство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318947528" name="Текст 10"/>
          <p:cNvSpPr>
            <a:spLocks noGrp="1"/>
          </p:cNvSpPr>
          <p:nvPr>
            <p:ph type="body" sz="quarter" idx="46"/>
          </p:nvPr>
        </p:nvSpPr>
        <p:spPr bwMode="auto">
          <a:xfrm>
            <a:off x="7269712" y="3580500"/>
            <a:ext cx="3866856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6 верных из 10 (Intern — 5, Lead — 7), в экспресс-тесте 3 из 5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397893143" name="Текст 11"/>
          <p:cNvSpPr>
            <a:spLocks noGrp="1"/>
          </p:cNvSpPr>
          <p:nvPr>
            <p:ph type="body" sz="quarter" idx="47"/>
          </p:nvPr>
        </p:nvSpPr>
        <p:spPr bwMode="auto">
          <a:xfrm>
            <a:off x="7269712" y="4616873"/>
            <a:ext cx="3866856" cy="4039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rgbClr val="F92571"/>
                </a:solidFill>
              </a:rPr>
              <a:t>Грейд не понижается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272025898" name="Текст 12"/>
          <p:cNvSpPr>
            <a:spLocks noGrp="1"/>
          </p:cNvSpPr>
          <p:nvPr>
            <p:ph type="body" sz="quarter" idx="48"/>
          </p:nvPr>
        </p:nvSpPr>
        <p:spPr bwMode="auto">
          <a:xfrm>
            <a:off x="7269712" y="5164612"/>
            <a:ext cx="3866856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Не сдал — совет уровнем ниже, уверенно сдал (+0,35) — выше; пересдача через 90 дней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764457667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МЕХАНИКА ТЕСТА</a:t>
            </a:r>
            <a:endParaRPr lang="ru-RU"/>
          </a:p>
        </p:txBody>
      </p:sp>
      <p:sp>
        <p:nvSpPr>
          <p:cNvPr id="1286860599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394052"/>
            <a:ext cx="771003" cy="42362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accent5"/>
                </a:solidFill>
              </a:rPr>
              <a:t>01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608993464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501557" y="2998036"/>
            <a:ext cx="771003" cy="403756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accent5"/>
                </a:solidFill>
              </a:rPr>
              <a:t>02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84567983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501557" y="4582148"/>
            <a:ext cx="771003" cy="403913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accent5"/>
                </a:solidFill>
              </a:rPr>
              <a:t>03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784020994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6194020" y="1394052"/>
            <a:ext cx="771003" cy="42362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accent5"/>
                </a:solidFill>
              </a:rPr>
              <a:t>04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466494975" name="Текст 18"/>
          <p:cNvSpPr>
            <a:spLocks noGrp="1"/>
          </p:cNvSpPr>
          <p:nvPr>
            <p:ph type="body" sz="quarter" idx="53"/>
          </p:nvPr>
        </p:nvSpPr>
        <p:spPr bwMode="auto">
          <a:xfrm>
            <a:off x="6174664" y="2998036"/>
            <a:ext cx="771003" cy="403756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accent5"/>
                </a:solidFill>
              </a:rPr>
              <a:t>05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188466958" name="Текст 19"/>
          <p:cNvSpPr>
            <a:spLocks noGrp="1"/>
          </p:cNvSpPr>
          <p:nvPr>
            <p:ph type="body" sz="quarter" idx="54"/>
          </p:nvPr>
        </p:nvSpPr>
        <p:spPr bwMode="auto">
          <a:xfrm>
            <a:off x="6174664" y="4582148"/>
            <a:ext cx="771003" cy="403913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accent5"/>
                </a:solidFill>
              </a:rPr>
              <a:t>06</a:t>
            </a: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987048" name="Скругленный прямоугольник 1"/>
          <p:cNvSpPr/>
          <p:nvPr/>
        </p:nvSpPr>
        <p:spPr bwMode="auto">
          <a:xfrm>
            <a:off x="346075" y="324562"/>
            <a:ext cx="256032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30749743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19</a:t>
            </a:fld>
            <a:endParaRPr lang="ru-RU">
              <a:solidFill>
                <a:schemeClr val="accent5"/>
              </a:solidFill>
            </a:endParaRPr>
          </a:p>
        </p:txBody>
      </p:sp>
      <p:pic>
        <p:nvPicPr>
          <p:cNvPr id="304001307" name="Рисунок 2" descr="arena-feedback.jpg"/>
          <p:cNvPicPr>
            <a:picLocks noGrp="1" noChangeAspect="1"/>
          </p:cNvPicPr>
          <p:nvPr>
            <p:ph type="pic" sz="quarter" idx="10"/>
          </p:nvPr>
        </p:nvPicPr>
        <p:blipFill>
          <a:blip r:embed="rId5"/>
          <a:srcRect t="23727" b="23727"/>
          <a:stretch>
            <a:fillRect/>
          </a:stretch>
        </p:blipFill>
        <p:spPr>
          <a:xfrm>
            <a:off x="7440147" y="1016001"/>
            <a:ext cx="4405777" cy="3078479"/>
          </a:xfrm>
        </p:spPr>
      </p:pic>
      <p:pic>
        <p:nvPicPr>
          <p:cNvPr id="1254799570" name="Рисунок 3" descr="arena-board.jpg"/>
          <p:cNvPicPr>
            <a:picLocks noGrp="1" noChangeAspect="1"/>
          </p:cNvPicPr>
          <p:nvPr>
            <p:ph type="pic" sz="quarter" idx="11"/>
          </p:nvPr>
        </p:nvPicPr>
        <p:blipFill>
          <a:blip r:embed="rId6"/>
          <a:srcRect t="8621" b="8621"/>
          <a:stretch>
            <a:fillRect/>
          </a:stretch>
        </p:blipFill>
        <p:spPr>
          <a:xfrm>
            <a:off x="7440149" y="4389108"/>
            <a:ext cx="4405775" cy="1811668"/>
          </a:xfrm>
        </p:spPr>
      </p:pic>
      <p:pic>
        <p:nvPicPr>
          <p:cNvPr id="232594802" name="Рисунок 4" descr="arena-editor.jpg"/>
          <p:cNvPicPr>
            <a:picLocks noGrp="1" noChangeAspect="1"/>
          </p:cNvPicPr>
          <p:nvPr>
            <p:ph type="pic" sz="quarter" idx="12"/>
          </p:nvPr>
        </p:nvPicPr>
        <p:blipFill>
          <a:blip r:embed="rId4"/>
          <a:srcRect t="15010" b="15010"/>
          <a:stretch>
            <a:fillRect/>
          </a:stretch>
        </p:blipFill>
        <p:spPr>
          <a:xfrm>
            <a:off x="346075" y="3223948"/>
            <a:ext cx="6806142" cy="2976827"/>
          </a:xfrm>
        </p:spPr>
      </p:pic>
      <p:sp>
        <p:nvSpPr>
          <p:cNvPr id="1979099497" name="Текст 5"/>
          <p:cNvSpPr>
            <a:spLocks noGrp="1"/>
          </p:cNvSpPr>
          <p:nvPr>
            <p:ph type="body" sz="quarter" idx="14"/>
          </p:nvPr>
        </p:nvSpPr>
        <p:spPr bwMode="auto">
          <a:prstGeom prst="roundRect">
            <a:avLst>
              <a:gd name="adj" fmla="val 10128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/>
          <a:lstStyle/>
          <a:p>
            <a:pPr>
              <a:defRPr/>
            </a:pPr>
            <a:r>
              <a:rPr lang="ru-RU" b="1" sz="1100">
                <a:solidFill>
                  <a:schemeClr val="tx1"/>
                </a:solidFill>
              </a:rPr>
              <a:t>Задачи по коду в браузере</a:t>
            </a:r>
            <a:r>
              <a:rPr lang="ru-RU" sz="1100">
                <a:solidFill>
                  <a:schemeClr val="tx1"/>
                </a:solidFill>
              </a:rPr>
              <a:t> на Python и JavaScript: 8 задач трёх уровней, свой вариант у каждого.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b="1" sz="1100">
                <a:solidFill>
                  <a:schemeClr val="tx1"/>
                </a:solidFill>
              </a:rPr>
              <a:t>Автопроверка</a:t>
            </a:r>
            <a:r>
              <a:rPr lang="ru-RU" sz="1100">
                <a:solidFill>
                  <a:schemeClr val="tx1"/>
                </a:solidFill>
              </a:rPr>
              <a:t> на скрытых тестах в песочнице: вердикт и время по каждому тесту.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b="1" sz="1100">
                <a:solidFill>
                  <a:schemeClr val="tx1"/>
                </a:solidFill>
              </a:rPr>
              <a:t>Обратная связь:</a:t>
            </a:r>
            <a:r>
              <a:rPr lang="ru-RU" sz="1100">
                <a:solidFill>
                  <a:schemeClr val="tx1"/>
                </a:solidFill>
              </a:rPr>
              <a:t> разбор решения пишет GigaChat или YandexGPT, без ключей — правила.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b="1" sz="1100">
                <a:solidFill>
                  <a:schemeClr val="tx1"/>
                </a:solidFill>
              </a:rPr>
              <a:t>Рейтинг Glicko-2</a:t>
            </a:r>
            <a:r>
              <a:rPr lang="ru-RU" sz="1100">
                <a:solidFill>
                  <a:schemeClr val="tx1"/>
                </a:solidFill>
              </a:rPr>
              <a:t> и таблица раунда в реальном времени; раунды компаний для найма.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12119537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2775523" cy="376138"/>
          </a:xfrm>
        </p:spPr>
        <p:txBody>
          <a:bodyPr/>
          <a:lstStyle/>
          <a:p>
            <a:pPr>
              <a:defRPr/>
            </a:pPr>
            <a:r>
              <a:rPr lang="ru-RU"/>
              <a:t>CODE ARENA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092809" name="Скругленный прямоугольник 1"/>
          <p:cNvSpPr/>
          <p:nvPr/>
        </p:nvSpPr>
        <p:spPr bwMode="auto">
          <a:xfrm>
            <a:off x="346075" y="324562"/>
            <a:ext cx="3310127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18189597" name="Скругленный прямоугольник 16"/>
          <p:cNvSpPr/>
          <p:nvPr/>
        </p:nvSpPr>
        <p:spPr bwMode="auto"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699627039" name="Скругленный прямоугольник 17"/>
          <p:cNvSpPr/>
          <p:nvPr/>
        </p:nvSpPr>
        <p:spPr bwMode="auto"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754832188" name="Скругленный прямоугольник 18"/>
          <p:cNvSpPr/>
          <p:nvPr/>
        </p:nvSpPr>
        <p:spPr bwMode="auto"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039480093" name="Скругленный прямоугольник 22"/>
          <p:cNvSpPr/>
          <p:nvPr/>
        </p:nvSpPr>
        <p:spPr bwMode="auto"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994976057" name="Скругленный прямоугольник 23"/>
          <p:cNvSpPr/>
          <p:nvPr/>
        </p:nvSpPr>
        <p:spPr bwMode="auto"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76266836" name="Скругленный прямоугольник 14"/>
          <p:cNvSpPr/>
          <p:nvPr/>
        </p:nvSpPr>
        <p:spPr bwMode="auto"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032318927" name="Текст 3"/>
          <p:cNvSpPr>
            <a:spLocks noGrp="1"/>
          </p:cNvSpPr>
          <p:nvPr>
            <p:ph type="body" sz="quarter" idx="14"/>
          </p:nvPr>
        </p:nvSpPr>
        <p:spPr bwMode="auto">
          <a:xfrm>
            <a:off x="623887" y="1732103"/>
            <a:ext cx="4734174" cy="4139307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l">
              <a:defRPr/>
            </a:pPr>
            <a:r>
              <a:rPr lang="ru-RU" sz="1600" b="1">
                <a:solidFill>
                  <a:schemeClr val="tx1"/>
                </a:solidFill>
              </a:rPr>
              <a:t>Что нужно от ФСП</a:t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defRPr/>
            </a:pPr>
            <a:r>
              <a:rPr lang="ru-RU" sz="1300">
                <a:solidFill>
                  <a:schemeClr val="tx1"/>
                </a:solidFill>
              </a:rPr>
              <a:t>Доступ к Keycloak ФСП ID и API реестра достижений</a:t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defRPr/>
            </a:pPr>
            <a:r>
              <a:rPr lang="ru-RU" sz="1300">
                <a:solidFill>
                  <a:schemeClr val="tx1"/>
                </a:solidFill>
              </a:rPr>
              <a:t>Пилотная группа участников соревнований</a:t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defRPr/>
            </a:pPr>
            <a:r>
              <a:rPr lang="ru-RU" sz="1300">
                <a:solidFill>
                  <a:schemeClr val="tx1"/>
                </a:solidFill>
              </a:rPr>
              <a:t>Партнёры-работодатели для первых раундов Code Arena</a:t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spcBef>
                <a:spcPts val="1400"/>
              </a:spcBef>
              <a:defRPr/>
            </a:pPr>
            <a:r>
              <a:rPr lang="ru-RU" sz="1600" b="1">
                <a:solidFill>
                  <a:schemeClr val="tx1"/>
                </a:solidFill>
              </a:rPr>
              <a:t>Что получает ФСП</a:t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defRPr/>
            </a:pPr>
            <a:r>
              <a:rPr lang="ru-RU" sz="1300">
                <a:solidFill>
                  <a:schemeClr val="tx1"/>
                </a:solidFill>
              </a:rPr>
              <a:t>Канал трудоустройства участников с подтверждённым уровнем</a:t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defRPr/>
            </a:pPr>
            <a:r>
              <a:rPr lang="ru-RU" sz="1300">
                <a:solidFill>
                  <a:schemeClr val="tx1"/>
                </a:solidFill>
              </a:rPr>
              <a:t>Данные о спросе на навыки для программ подготовки</a:t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defRPr/>
            </a:pPr>
            <a:r>
              <a:rPr lang="ru-RU" sz="1300">
                <a:solidFill>
                  <a:schemeClr val="tx1"/>
                </a:solidFill>
              </a:rPr>
              <a:t>Раунды Code Arena от компаний — новые соревнования</a:t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spcBef>
                <a:spcPts val="1400"/>
              </a:spcBef>
              <a:defRPr/>
            </a:pPr>
            <a:r>
              <a:rPr lang="ru-RU" sz="1600" b="1">
                <a:solidFill>
                  <a:schemeClr val="tx1"/>
                </a:solidFill>
              </a:rPr>
              <a:t>Метрики пилота</a:t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defRPr/>
            </a:pPr>
            <a:r>
              <a:rPr lang="ru-RU" sz="1300">
                <a:solidFill>
                  <a:schemeClr val="tx1"/>
                </a:solidFill>
              </a:rPr>
              <a:t>Доля прошедших тест, приглашений на кандидата, принятых приглашений</a:t>
            </a:r>
            <a:endParaRPr lang="ru-RU" sz="3600" b="1">
              <a:solidFill>
                <a:schemeClr val="tx1"/>
              </a:solidFill>
            </a:endParaRPr>
          </a:p>
        </p:txBody>
      </p:sp>
      <p:sp>
        <p:nvSpPr>
          <p:cNvPr id="709867102" name="Текст 4"/>
          <p:cNvSpPr>
            <a:spLocks noGrp="1"/>
          </p:cNvSpPr>
          <p:nvPr>
            <p:ph type="body" sz="quarter" idx="15"/>
          </p:nvPr>
        </p:nvSpPr>
        <p:spPr bwMode="auto"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ru-RU" b="1" sz="1200">
                <a:solidFill>
                  <a:schemeClr val="tx1"/>
                </a:solidFill>
              </a:rPr>
              <a:t>ФСП ID и реестр:</a:t>
            </a:r>
            <a:r>
              <a:rPr lang="ru-RU" sz="1200">
                <a:solidFill>
                  <a:schemeClr val="tx1"/>
                </a:solidFill>
              </a:rPr>
              <a:t> переключение переменными окружения, код не меняется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044455620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ru-RU" b="1" sz="1200">
                <a:solidFill>
                  <a:schemeClr val="tx1"/>
                </a:solidFill>
              </a:rPr>
              <a:t>Пилот:</a:t>
            </a:r>
            <a:r>
              <a:rPr lang="ru-RU" sz="1200">
                <a:solidFill>
                  <a:schemeClr val="tx1"/>
                </a:solidFill>
              </a:rPr>
              <a:t> калибровка трудности по реальным ответам — мониторинг утечек уже работает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448541156" name="Текст 6"/>
          <p:cNvSpPr>
            <a:spLocks noGrp="1"/>
          </p:cNvSpPr>
          <p:nvPr>
            <p:ph type="body" sz="quarter" idx="17"/>
          </p:nvPr>
        </p:nvSpPr>
        <p:spPr bwMode="auto"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ru-RU" b="1" sz="1200">
                <a:solidFill>
                  <a:schemeClr val="tx1"/>
                </a:solidFill>
              </a:rPr>
              <a:t>Адаптивный тест:</a:t>
            </a:r>
            <a:r>
              <a:rPr lang="ru-RU" sz="1200">
                <a:solidFill>
                  <a:schemeClr val="tx1"/>
                </a:solidFill>
              </a:rPr>
              <a:t> задание по текущей θ, остановка по точности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09121368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ru-RU" b="1" sz="1200">
                <a:solidFill>
                  <a:schemeClr val="tx1"/>
                </a:solidFill>
              </a:rPr>
              <a:t>Модерация работодателей:</a:t>
            </a:r>
            <a:r>
              <a:rPr lang="ru-RU" sz="1200">
                <a:solidFill>
                  <a:schemeClr val="tx1"/>
                </a:solidFill>
              </a:rPr>
              <a:t> проверка по ИНН, репутация, вилка против медианы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01995226" name="Текст 8"/>
          <p:cNvSpPr>
            <a:spLocks noGrp="1"/>
          </p:cNvSpPr>
          <p:nvPr>
            <p:ph type="body" sz="quarter" idx="19"/>
          </p:nvPr>
        </p:nvSpPr>
        <p:spPr bwMode="auto"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ru-RU" b="1" sz="1200">
                <a:solidFill>
                  <a:schemeClr val="tx1"/>
                </a:solidFill>
              </a:rPr>
              <a:t>ATS:</a:t>
            </a:r>
            <a:r>
              <a:rPr lang="ru-RU" sz="1200">
                <a:solidFill>
                  <a:schemeClr val="tx1"/>
                </a:solidFill>
              </a:rPr>
              <a:t> вебхуки с подписью, API-ключ компании, экспорт JSON Resume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6735973" name="Номер слайда 9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63959839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ПЛАНЫ РАЗВИТИЯ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8010398" name="Скругленный прямоугольник 13"/>
          <p:cNvSpPr/>
          <p:nvPr/>
        </p:nvSpPr>
        <p:spPr bwMode="auto"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453814995" name="Скругленный прямоугольник 11"/>
          <p:cNvSpPr/>
          <p:nvPr/>
        </p:nvSpPr>
        <p:spPr bwMode="auto"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553996970" name="Скругленный прямоугольник 10"/>
          <p:cNvSpPr/>
          <p:nvPr/>
        </p:nvSpPr>
        <p:spPr bwMode="auto"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873996417" name="Скругленный прямоугольник 1"/>
          <p:cNvSpPr/>
          <p:nvPr/>
        </p:nvSpPr>
        <p:spPr bwMode="auto">
          <a:xfrm>
            <a:off x="346075" y="324562"/>
            <a:ext cx="4059935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38577271" name="Номер слайда 8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21</a:t>
            </a:fld>
            <a:endParaRPr lang="ru-RU"/>
          </a:p>
        </p:txBody>
      </p:sp>
      <p:sp>
        <p:nvSpPr>
          <p:cNvPr id="1252990650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2600">
                <a:solidFill>
                  <a:schemeClr val="tx1"/>
                </a:solidFill>
              </a:rPr>
              <a:t>3,0 %</a:t>
            </a:r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1375069465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591637" y="1649793"/>
            <a:ext cx="4790314" cy="77960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генеративных заданий раскрыто после слива 200 попыток с ответами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12101329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2600">
                <a:solidFill>
                  <a:schemeClr val="tx1"/>
                </a:solidFill>
              </a:rPr>
              <a:t>0,8</a:t>
            </a:r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1478175661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591637" y="3515862"/>
            <a:ext cx="4790314" cy="869021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раскрытых заданий в одной попытке из 10, в среднем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408547004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2600">
                <a:solidFill>
                  <a:schemeClr val="tx1"/>
                </a:solidFill>
              </a:rPr>
              <a:t>≤ 1</a:t>
            </a:r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214696937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591637" y="5471798"/>
            <a:ext cx="4790314" cy="84801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концептуальное задание в попытке; первое задание темы — всегда генеративное</a:t>
            </a:r>
            <a:endParaRPr lang="ru-RU">
              <a:solidFill>
                <a:schemeClr val="tx1"/>
              </a:solidFill>
            </a:endParaRPr>
          </a:p>
        </p:txBody>
      </p:sp>
      <p:graphicFrame>
        <p:nvGraphicFramePr>
          <p:cNvPr id="1802836279" name="Диаграмма 9"/>
          <p:cNvGraphicFramePr>
            <a:graphicFrameLocks xmlns:a="http://schemas.openxmlformats.org/drawingml/2006/main"/>
          </p:cNvGraphicFramePr>
          <p:nvPr/>
        </p:nvGraphicFramePr>
        <p:xfrm rot="0"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266611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3785615" cy="376138"/>
          </a:xfrm>
        </p:spPr>
        <p:txBody>
          <a:bodyPr/>
          <a:lstStyle/>
          <a:p>
            <a:pPr>
              <a:defRPr/>
            </a:pPr>
            <a:r>
              <a:rPr lang="ru-RU"/>
              <a:t>УТЕЧКА НЕ ПОМОГАЕТ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521852" name="Скругленный прямоугольник 1"/>
          <p:cNvSpPr/>
          <p:nvPr/>
        </p:nvSpPr>
        <p:spPr bwMode="auto">
          <a:xfrm>
            <a:off x="346075" y="324562"/>
            <a:ext cx="368503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90589764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22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338232238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accent5"/>
                </a:solidFill>
              </a:rPr>
              <a:t>69,5 %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442496620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755267" y="1722800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accent5"/>
                </a:solidFill>
              </a:rPr>
              <a:t>грейд по тесту совпадает с истинным; самооценка — 65,5 %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164011918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accent5"/>
                </a:solidFill>
              </a:rPr>
              <a:t>98,7 %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2081051805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755267" y="2991361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accent5"/>
                </a:solidFill>
              </a:rPr>
              <a:t>ошибка не больше одной ступени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466767708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accent5"/>
                </a:solidFill>
              </a:rPr>
              <a:t>7,0 %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410398499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755267" y="4259922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accent5"/>
                </a:solidFill>
              </a:rPr>
              <a:t>грейд завышен: работодатель не получит Junior вместо Middle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745550398" name="Текст 8"/>
          <p:cNvSpPr>
            <a:spLocks noGrp="1"/>
          </p:cNvSpPr>
          <p:nvPr>
            <p:ph type="body" sz="quarter" idx="26"/>
          </p:nvPr>
        </p:nvSpPr>
        <p:spPr bwMode="auto">
          <a:xfrm>
            <a:off x="6755267" y="5148947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accent5"/>
                </a:solidFill>
              </a:rPr>
              <a:t>r = 0,83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111270175" name="Текст 9"/>
          <p:cNvSpPr>
            <a:spLocks noGrp="1"/>
          </p:cNvSpPr>
          <p:nvPr>
            <p:ph type="body" sz="quarter" idx="27"/>
          </p:nvPr>
        </p:nvSpPr>
        <p:spPr bwMode="auto">
          <a:xfrm>
            <a:off x="6755267" y="5528484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accent5"/>
                </a:solidFill>
              </a:rPr>
              <a:t>согласованность θ двух независимых попыток, ошибка θ — 0,49 логита</a:t>
            </a:r>
            <a:endParaRPr lang="ru-RU">
              <a:solidFill>
                <a:schemeClr val="accent5"/>
              </a:solidFill>
            </a:endParaRPr>
          </a:p>
        </p:txBody>
      </p:sp>
      <p:graphicFrame>
        <p:nvGraphicFramePr>
          <p:cNvPr id="1360161244" name="Диаграмма 11"/>
          <p:cNvGraphicFramePr>
            <a:graphicFrameLocks xmlns:a="http://schemas.openxmlformats.org/drawingml/2006/main"/>
          </p:cNvGraphicFramePr>
          <p:nvPr/>
        </p:nvGraphicFramePr>
        <p:xfrm rot="0"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01809687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ВАЛИДАЦИЯ ГРЕЙДА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3457330" name="Скругленный прямоугольник 1"/>
          <p:cNvSpPr/>
          <p:nvPr/>
        </p:nvSpPr>
        <p:spPr bwMode="auto">
          <a:xfrm>
            <a:off x="346075" y="324562"/>
            <a:ext cx="3872483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898974139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6"/>
                </a:solidFill>
              </a:rPr>
              <a:t>23</a:t>
            </a:fld>
            <a:endParaRPr lang="ru-RU">
              <a:solidFill>
                <a:schemeClr val="accent6"/>
              </a:solidFill>
            </a:endParaRPr>
          </a:p>
        </p:txBody>
      </p:sp>
      <p:sp>
        <p:nvSpPr>
          <p:cNvPr id="1574993172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776590" y="1360288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accent6"/>
                </a:solidFill>
              </a:rPr>
              <a:t>0,90–0,96</a:t>
            </a:r>
            <a:endParaRPr lang="ru-RU" b="0">
              <a:solidFill>
                <a:schemeClr val="accent6"/>
              </a:solidFill>
            </a:endParaRPr>
          </a:p>
        </p:txBody>
      </p:sp>
      <p:sp>
        <p:nvSpPr>
          <p:cNvPr id="1632718589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776590" y="1739825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accent6"/>
                </a:solidFill>
              </a:rPr>
              <a:t>Precision@10 с подтверждённой категорией, 20 пулов по 150 кандидатов</a:t>
            </a:r>
            <a:endParaRPr lang="ru-RU">
              <a:solidFill>
                <a:schemeClr val="accent6"/>
              </a:solidFill>
            </a:endParaRPr>
          </a:p>
        </p:txBody>
      </p:sp>
      <p:sp>
        <p:nvSpPr>
          <p:cNvPr id="1339313146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776590" y="2628849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accent5"/>
                </a:solidFill>
              </a:rPr>
              <a:t>0,57–0,67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459702745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776590" y="3008386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accent5"/>
                </a:solidFill>
              </a:rPr>
              <a:t>поиск только по стеку, как на универсальных площадках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622911662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776590" y="3897410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accent6"/>
                </a:solidFill>
              </a:rPr>
              <a:t>Причины</a:t>
            </a:r>
            <a:endParaRPr lang="ru-RU" b="0">
              <a:solidFill>
                <a:schemeClr val="accent6"/>
              </a:solidFill>
            </a:endParaRPr>
          </a:p>
        </p:txBody>
      </p:sp>
      <p:sp>
        <p:nvSpPr>
          <p:cNvPr id="197457055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776590" y="4276947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accent6"/>
                </a:solidFill>
              </a:rPr>
              <a:t>у каждого кандидата: за что балл и какого стека не хватает</a:t>
            </a:r>
            <a:endParaRPr lang="ru-RU">
              <a:solidFill>
                <a:schemeClr val="accent6"/>
              </a:solidFill>
            </a:endParaRPr>
          </a:p>
        </p:txBody>
      </p:sp>
      <p:sp>
        <p:nvSpPr>
          <p:cNvPr id="634044403" name="Текст 8"/>
          <p:cNvSpPr>
            <a:spLocks noGrp="1"/>
          </p:cNvSpPr>
          <p:nvPr>
            <p:ph type="body" sz="quarter" idx="26"/>
          </p:nvPr>
        </p:nvSpPr>
        <p:spPr bwMode="auto">
          <a:xfrm>
            <a:off x="6776590" y="5165972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accent5"/>
                </a:solidFill>
              </a:rPr>
              <a:t>Фильтры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032372002" name="Текст 9"/>
          <p:cNvSpPr>
            <a:spLocks noGrp="1"/>
          </p:cNvSpPr>
          <p:nvPr>
            <p:ph type="body" sz="quarter" idx="27"/>
          </p:nvPr>
        </p:nvSpPr>
        <p:spPr bwMode="auto">
          <a:xfrm>
            <a:off x="6776590" y="5545509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accent5"/>
                </a:solidFill>
              </a:rPr>
              <a:t>грейд, стек, участники ФСП, минимальный балл — без пересчёта балла</a:t>
            </a:r>
            <a:endParaRPr lang="ru-RU">
              <a:solidFill>
                <a:schemeClr val="accent5"/>
              </a:solidFill>
            </a:endParaRPr>
          </a:p>
        </p:txBody>
      </p:sp>
      <p:graphicFrame>
        <p:nvGraphicFramePr>
          <p:cNvPr id="601470956" name="Диаграмма 11"/>
          <p:cNvGraphicFramePr>
            <a:graphicFrameLocks xmlns:a="http://schemas.openxmlformats.org/drawingml/2006/main"/>
          </p:cNvGraphicFramePr>
          <p:nvPr/>
        </p:nvGraphicFramePr>
        <p:xfrm rot="0">
          <a:off x="625096" y="1360288"/>
          <a:ext cx="5125748" cy="4385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0312354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ОБЪЯСНИМЫЙ ПОДБОР</a:t>
            </a:r>
            <a:endParaRPr lang="ru-RU"/>
          </a:p>
        </p:txBody>
      </p:sp>
      <p:sp>
        <p:nvSpPr>
          <p:cNvPr id="2103457331" name="Rounded Rectangle 2103457330"/>
          <p:cNvSpPr/>
          <p:nvPr/>
        </p:nvSpPr>
        <p:spPr>
          <a:xfrm>
            <a:off x="411480" y="5870448"/>
            <a:ext cx="164592" cy="164592"/>
          </a:xfrm>
          <a:prstGeom prst="roundRect">
            <a:avLst>
              <a:gd name="adj" fmla="val 16666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3457332" name="TextBox 2103457331"/>
          <p:cNvSpPr txBox="1"/>
          <p:nvPr/>
        </p:nvSpPr>
        <p:spPr>
          <a:xfrm>
            <a:off x="630936" y="5815584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C1D22"/>
                </a:solidFill>
              </a:rPr>
              <a:t>Категория</a:t>
            </a:r>
          </a:p>
        </p:txBody>
      </p:sp>
      <p:sp>
        <p:nvSpPr>
          <p:cNvPr id="2103457333" name="Rounded Rectangle 2103457332"/>
          <p:cNvSpPr/>
          <p:nvPr/>
        </p:nvSpPr>
        <p:spPr>
          <a:xfrm>
            <a:off x="1600200" y="5870448"/>
            <a:ext cx="164592" cy="164592"/>
          </a:xfrm>
          <a:prstGeom prst="roundRect">
            <a:avLst>
              <a:gd name="adj" fmla="val 16666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3457334" name="TextBox 2103457333"/>
          <p:cNvSpPr txBox="1"/>
          <p:nvPr/>
        </p:nvSpPr>
        <p:spPr>
          <a:xfrm>
            <a:off x="1819656" y="5815584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C1D22"/>
                </a:solidFill>
              </a:rPr>
              <a:t>Стек</a:t>
            </a:r>
          </a:p>
        </p:txBody>
      </p:sp>
      <p:sp>
        <p:nvSpPr>
          <p:cNvPr id="2103457335" name="Rounded Rectangle 2103457334"/>
          <p:cNvSpPr/>
          <p:nvPr/>
        </p:nvSpPr>
        <p:spPr>
          <a:xfrm>
            <a:off x="2788920" y="5870448"/>
            <a:ext cx="164592" cy="164592"/>
          </a:xfrm>
          <a:prstGeom prst="roundRect">
            <a:avLst>
              <a:gd name="adj" fmla="val 16666"/>
            </a:avLst>
          </a:prstGeom>
          <a:solidFill>
            <a:srgbClr val="8A8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3457336" name="TextBox 2103457335"/>
          <p:cNvSpPr txBox="1"/>
          <p:nvPr/>
        </p:nvSpPr>
        <p:spPr>
          <a:xfrm>
            <a:off x="3008376" y="5815584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C1D22"/>
                </a:solidFill>
              </a:rPr>
              <a:t>Тест</a:t>
            </a:r>
          </a:p>
        </p:txBody>
      </p:sp>
      <p:sp>
        <p:nvSpPr>
          <p:cNvPr id="2103457337" name="Rounded Rectangle 2103457336"/>
          <p:cNvSpPr/>
          <p:nvPr/>
        </p:nvSpPr>
        <p:spPr>
          <a:xfrm>
            <a:off x="3977640" y="5870448"/>
            <a:ext cx="164592" cy="164592"/>
          </a:xfrm>
          <a:prstGeom prst="roundRect">
            <a:avLst>
              <a:gd name="adj" fmla="val 16666"/>
            </a:avLst>
          </a:prstGeom>
          <a:solidFill>
            <a:srgbClr val="FC3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3457338" name="TextBox 2103457337"/>
          <p:cNvSpPr txBox="1"/>
          <p:nvPr/>
        </p:nvSpPr>
        <p:spPr>
          <a:xfrm>
            <a:off x="4197096" y="5815584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C1D22"/>
                </a:solidFill>
              </a:rPr>
              <a:t>ФСП и Arena</a:t>
            </a:r>
          </a:p>
        </p:txBody>
      </p:sp>
      <p:sp>
        <p:nvSpPr>
          <p:cNvPr id="2103457339" name="Rounded Rectangle 2103457338"/>
          <p:cNvSpPr/>
          <p:nvPr/>
        </p:nvSpPr>
        <p:spPr>
          <a:xfrm>
            <a:off x="5394960" y="5870448"/>
            <a:ext cx="164592" cy="164592"/>
          </a:xfrm>
          <a:prstGeom prst="roundRect">
            <a:avLst>
              <a:gd name="adj" fmla="val 16666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3457340" name="TextBox 2103457339"/>
          <p:cNvSpPr txBox="1"/>
          <p:nvPr/>
        </p:nvSpPr>
        <p:spPr>
          <a:xfrm>
            <a:off x="5614416" y="5815584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C1D22"/>
                </a:solidFill>
              </a:rPr>
              <a:t>Свежесть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640590" name="Скругленный прямоугольник 7"/>
          <p:cNvSpPr/>
          <p:nvPr/>
        </p:nvSpPr>
        <p:spPr bwMode="auto"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048734566" name="Скругленный прямоугольник 9"/>
          <p:cNvSpPr/>
          <p:nvPr/>
        </p:nvSpPr>
        <p:spPr bwMode="auto"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028106329" name="Скругленный прямоугольник 10"/>
          <p:cNvSpPr/>
          <p:nvPr/>
        </p:nvSpPr>
        <p:spPr bwMode="auto"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625941864" name="Скругленный прямоугольник 1"/>
          <p:cNvSpPr/>
          <p:nvPr/>
        </p:nvSpPr>
        <p:spPr bwMode="auto">
          <a:xfrm>
            <a:off x="346075" y="324562"/>
            <a:ext cx="4059935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47906099" name="Скругленный прямоугольник 16"/>
          <p:cNvSpPr/>
          <p:nvPr/>
        </p:nvSpPr>
        <p:spPr bwMode="auto">
          <a:xfrm>
            <a:off x="5340262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44364244" name="Скругленный прямоугольник 6"/>
          <p:cNvSpPr/>
          <p:nvPr/>
        </p:nvSpPr>
        <p:spPr bwMode="auto">
          <a:xfrm>
            <a:off x="1541018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82123373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13869127" name="Текст 2"/>
          <p:cNvSpPr>
            <a:spLocks noGrp="1"/>
          </p:cNvSpPr>
          <p:nvPr>
            <p:ph type="body" sz="quarter" idx="26"/>
          </p:nvPr>
        </p:nvSpPr>
        <p:spPr bwMode="auto"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1" sz="1300">
                <a:solidFill>
                  <a:schemeClr val="tx1"/>
                </a:solidFill>
              </a:rPr>
              <a:t>Работодатель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300">
                <a:solidFill>
                  <a:schemeClr val="tx1"/>
                </a:solidFill>
              </a:rPr>
              <a:t>Сотни откликов, отбор по ключевым словам ведут дорогие инженеры.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b="1" sz="1300">
                <a:solidFill>
                  <a:srgbClr val="FF0053"/>
                </a:solidFill>
              </a:rPr>
              <a:t>→ Подборка с баллом и причинами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927394647" name="Текст 3"/>
          <p:cNvSpPr>
            <a:spLocks noGrp="1"/>
          </p:cNvSpPr>
          <p:nvPr>
            <p:ph type="body" sz="quarter" idx="31"/>
          </p:nvPr>
        </p:nvSpPr>
        <p:spPr bwMode="auto"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1" sz="1300">
                <a:solidFill>
                  <a:schemeClr val="tx1"/>
                </a:solidFill>
              </a:rPr>
              <a:t>Кандидат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300">
                <a:solidFill>
                  <a:schemeClr val="tx1"/>
                </a:solidFill>
              </a:rPr>
              <a:t>Откликается вслепую: заявленный Middle ничем не подтверждён, зарплата неизвестна.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b="1" sz="1300">
                <a:solidFill>
                  <a:srgbClr val="FF0053"/>
                </a:solidFill>
              </a:rPr>
              <a:t>→ Категория по тесту и вилка в приглашении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28903949" name="Текст 4"/>
          <p:cNvSpPr>
            <a:spLocks noGrp="1"/>
          </p:cNvSpPr>
          <p:nvPr>
            <p:ph type="body" sz="quarter" idx="32"/>
          </p:nvPr>
        </p:nvSpPr>
        <p:spPr bwMode="auto"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1" sz="1300">
                <a:solidFill>
                  <a:schemeClr val="tx1"/>
                </a:solidFill>
              </a:rPr>
              <a:t>Участник ФСП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300">
                <a:solidFill>
                  <a:schemeClr val="tx1"/>
                </a:solidFill>
              </a:rPr>
              <a:t>Победы в соревнованиях не видны на рынке труда.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b="1" sz="1300">
                <a:solidFill>
                  <a:srgbClr val="FF0053"/>
                </a:solidFill>
              </a:rPr>
              <a:t>→ ФСП ID, достижения и Arena в балле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1548461275" name="Google Shape;2799;p94"/>
          <p:cNvCxnSpPr/>
          <p:nvPr/>
        </p:nvCxnSpPr>
        <p:spPr bwMode="auto"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48190524" name="Google Shape;2829;p94"/>
          <p:cNvGrpSpPr/>
          <p:nvPr/>
        </p:nvGrpSpPr>
        <p:grpSpPr bwMode="auto">
          <a:xfrm>
            <a:off x="1899087" y="1753233"/>
            <a:ext cx="738531" cy="687909"/>
            <a:chOff x="3385733" y="2233242"/>
            <a:chExt cx="340504" cy="319542"/>
          </a:xfrm>
        </p:grpSpPr>
        <p:sp>
          <p:nvSpPr>
            <p:cNvPr id="63" name="Google Shape;2830;p94"/>
            <p:cNvSpPr/>
            <p:nvPr/>
          </p:nvSpPr>
          <p:spPr bwMode="auto">
            <a:xfrm>
              <a:off x="3385733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fill="norm" stroke="1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4" name="Google Shape;2831;p94"/>
            <p:cNvSpPr/>
            <p:nvPr/>
          </p:nvSpPr>
          <p:spPr bwMode="auto">
            <a:xfrm>
              <a:off x="3420988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fill="norm" stroke="1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5" name="Google Shape;2832;p94"/>
            <p:cNvSpPr/>
            <p:nvPr/>
          </p:nvSpPr>
          <p:spPr bwMode="auto"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fill="norm" stroke="1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6" name="Google Shape;2833;p94"/>
            <p:cNvSpPr/>
            <p:nvPr/>
          </p:nvSpPr>
          <p:spPr bwMode="auto"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7" name="Google Shape;2834;p94"/>
            <p:cNvSpPr/>
            <p:nvPr/>
          </p:nvSpPr>
          <p:spPr bwMode="auto"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fill="norm" stroke="1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8" name="Google Shape;2835;p94"/>
            <p:cNvSpPr/>
            <p:nvPr/>
          </p:nvSpPr>
          <p:spPr bwMode="auto">
            <a:xfrm>
              <a:off x="3420988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fill="norm" stroke="1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9" name="Google Shape;2836;p94"/>
            <p:cNvSpPr/>
            <p:nvPr/>
          </p:nvSpPr>
          <p:spPr bwMode="auto">
            <a:xfrm>
              <a:off x="3420988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fill="norm" stroke="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0" name="Google Shape;2837;p94"/>
            <p:cNvSpPr/>
            <p:nvPr/>
          </p:nvSpPr>
          <p:spPr bwMode="auto"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fill="norm" stroke="1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1" name="Google Shape;2838;p94"/>
            <p:cNvSpPr/>
            <p:nvPr/>
          </p:nvSpPr>
          <p:spPr bwMode="auto"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fill="norm" stroke="1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2" name="Google Shape;2839;p94"/>
            <p:cNvSpPr/>
            <p:nvPr/>
          </p:nvSpPr>
          <p:spPr bwMode="auto"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fill="norm" stroke="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3" name="Google Shape;2840;p94"/>
            <p:cNvSpPr/>
            <p:nvPr/>
          </p:nvSpPr>
          <p:spPr bwMode="auto"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fill="norm" stroke="1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4" name="Google Shape;2841;p94"/>
            <p:cNvSpPr/>
            <p:nvPr/>
          </p:nvSpPr>
          <p:spPr bwMode="auto"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fill="norm" stroke="1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5" name="Google Shape;2842;p94"/>
            <p:cNvSpPr/>
            <p:nvPr/>
          </p:nvSpPr>
          <p:spPr bwMode="auto">
            <a:xfrm>
              <a:off x="3646108" y="2379063"/>
              <a:ext cx="19275" cy="9873"/>
            </a:xfrm>
            <a:custGeom>
              <a:avLst/>
              <a:gdLst/>
              <a:ahLst/>
              <a:cxnLst/>
              <a:rect l="l" t="t" r="r" b="b"/>
              <a:pathLst>
                <a:path w="573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6" name="Google Shape;2843;p94"/>
            <p:cNvSpPr/>
            <p:nvPr/>
          </p:nvSpPr>
          <p:spPr bwMode="auto"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fill="norm" stroke="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646408294" name="Google Shape;2818;p94"/>
          <p:cNvGrpSpPr/>
          <p:nvPr/>
        </p:nvGrpSpPr>
        <p:grpSpPr bwMode="auto"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/>
            <p:cNvSpPr/>
            <p:nvPr/>
          </p:nvSpPr>
          <p:spPr bwMode="auto"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fill="norm" stroke="1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5" name="Google Shape;2820;p94"/>
            <p:cNvSpPr/>
            <p:nvPr/>
          </p:nvSpPr>
          <p:spPr bwMode="auto"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fill="norm" stroke="1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6" name="Google Shape;2821;p94"/>
            <p:cNvSpPr/>
            <p:nvPr/>
          </p:nvSpPr>
          <p:spPr bwMode="auto"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fill="norm" stroke="1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7" name="Google Shape;2822;p94"/>
            <p:cNvSpPr/>
            <p:nvPr/>
          </p:nvSpPr>
          <p:spPr bwMode="auto"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fill="norm" stroke="1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8" name="Google Shape;2823;p94"/>
            <p:cNvSpPr/>
            <p:nvPr/>
          </p:nvSpPr>
          <p:spPr bwMode="auto"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fill="norm" stroke="1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9" name="Google Shape;2824;p94"/>
            <p:cNvSpPr/>
            <p:nvPr/>
          </p:nvSpPr>
          <p:spPr bwMode="auto"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fill="norm" stroke="1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0" name="Google Shape;2825;p94"/>
            <p:cNvSpPr/>
            <p:nvPr/>
          </p:nvSpPr>
          <p:spPr bwMode="auto"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fill="norm" stroke="1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1" name="Google Shape;2826;p94"/>
            <p:cNvSpPr/>
            <p:nvPr/>
          </p:nvSpPr>
          <p:spPr bwMode="auto"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2" name="Google Shape;2827;p94"/>
            <p:cNvSpPr/>
            <p:nvPr/>
          </p:nvSpPr>
          <p:spPr bwMode="auto"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739311709" name="Google Shape;2805;p94"/>
          <p:cNvGrpSpPr/>
          <p:nvPr/>
        </p:nvGrpSpPr>
        <p:grpSpPr bwMode="auto"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/>
            <p:cNvSpPr/>
            <p:nvPr/>
          </p:nvSpPr>
          <p:spPr bwMode="auto"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fill="norm" stroke="1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9" name="Google Shape;2807;p94"/>
            <p:cNvSpPr/>
            <p:nvPr/>
          </p:nvSpPr>
          <p:spPr bwMode="auto"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fill="norm" stroke="1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0" name="Google Shape;2808;p94"/>
            <p:cNvSpPr/>
            <p:nvPr/>
          </p:nvSpPr>
          <p:spPr bwMode="auto"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1" name="Google Shape;2809;p94"/>
            <p:cNvSpPr/>
            <p:nvPr/>
          </p:nvSpPr>
          <p:spPr bwMode="auto"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fill="norm" stroke="1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2" name="Google Shape;2810;p94"/>
            <p:cNvSpPr/>
            <p:nvPr/>
          </p:nvSpPr>
          <p:spPr bwMode="auto"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fill="norm" stroke="1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3" name="Google Shape;2811;p94"/>
            <p:cNvSpPr/>
            <p:nvPr/>
          </p:nvSpPr>
          <p:spPr bwMode="auto"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4" name="Google Shape;2812;p94"/>
            <p:cNvSpPr/>
            <p:nvPr/>
          </p:nvSpPr>
          <p:spPr bwMode="auto"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fill="norm" stroke="1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5" name="Google Shape;2813;p94"/>
            <p:cNvSpPr/>
            <p:nvPr/>
          </p:nvSpPr>
          <p:spPr bwMode="auto">
            <a:xfrm>
              <a:off x="4789296" y="2294680"/>
              <a:ext cx="168266" cy="172068"/>
            </a:xfrm>
            <a:custGeom>
              <a:avLst/>
              <a:gdLst/>
              <a:ahLst/>
              <a:cxnLst/>
              <a:rect l="l" t="t" r="r" b="b"/>
              <a:pathLst>
                <a:path w="5002" h="5002" fill="norm" stroke="1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6" name="Google Shape;2814;p94"/>
            <p:cNvSpPr/>
            <p:nvPr/>
          </p:nvSpPr>
          <p:spPr bwMode="auto"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fill="norm" stroke="1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7" name="Google Shape;2815;p94"/>
            <p:cNvSpPr/>
            <p:nvPr/>
          </p:nvSpPr>
          <p:spPr bwMode="auto">
            <a:xfrm>
              <a:off x="4883051" y="2382744"/>
              <a:ext cx="24052" cy="16856"/>
            </a:xfrm>
            <a:custGeom>
              <a:avLst/>
              <a:gdLst/>
              <a:ahLst/>
              <a:cxnLst/>
              <a:rect l="l" t="t" r="r" b="b"/>
              <a:pathLst>
                <a:path w="715" h="490" fill="norm" stroke="1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8" name="Google Shape;2816;p94"/>
            <p:cNvSpPr/>
            <p:nvPr/>
          </p:nvSpPr>
          <p:spPr bwMode="auto"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fill="norm" stroke="1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sp>
        <p:nvSpPr>
          <p:cNvPr id="1433704879" name="Скругленный прямоугольник 17"/>
          <p:cNvSpPr/>
          <p:nvPr/>
        </p:nvSpPr>
        <p:spPr bwMode="auto">
          <a:xfrm>
            <a:off x="9337010" y="1396603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3826874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ПРОБЛЕМА И РЕШЕНИЕ</a:t>
            </a:r>
            <a:endParaRPr lang="ru-RU"/>
          </a:p>
        </p:txBody>
      </p:sp>
      <p:cxnSp>
        <p:nvCxnSpPr>
          <p:cNvPr id="2063409099" name="Google Shape;2799;p94"/>
          <p:cNvCxnSpPr/>
          <p:nvPr/>
        </p:nvCxnSpPr>
        <p:spPr bwMode="auto"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267196" name="Скругленный прямоугольник 11"/>
          <p:cNvSpPr/>
          <p:nvPr/>
        </p:nvSpPr>
        <p:spPr bwMode="auto">
          <a:xfrm>
            <a:off x="346075" y="324562"/>
            <a:ext cx="3685031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67082798" name="Номер слайда 12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25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185253148" name="Текст 1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accent5"/>
                </a:solidFill>
              </a:rPr>
              <a:t>Профиль и опрос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106791426" name="Текст 2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814077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Вручную или из PDF/DOCX-резюме; направление, стаж, стек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656249512" name="Текст 3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accent5"/>
                </a:solidFill>
              </a:rPr>
              <a:t>Категория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616429921" name="Текст 4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814077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«Backend · Middle» — только большинством верных ответов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739419951" name="Текст 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accent5"/>
                </a:solidFill>
              </a:rPr>
              <a:t>Приглашение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735602472" name="Текст 6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814077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С вилкой зарплаты; контакты — после согласия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092750771" name="Текст 7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accent5"/>
                </a:solidFill>
              </a:rPr>
              <a:t>Тест на грейд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071115008" name="Текст 8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5181340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10 заданий за 20 минут или экспресс: 5 за 5 минут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81027824" name="Текст 9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accent5"/>
                </a:solidFill>
              </a:rPr>
              <a:t>Подборка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795515738" name="Текст 10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5181340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Балл 0–100 с причинами и недостающим стеком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1098745988" name="Прямая соединительная линия 33"/>
          <p:cNvCxnSpPr/>
          <p:nvPr/>
        </p:nvCxnSpPr>
        <p:spPr bwMode="auto"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992844" name="Прямая соединительная линия 34"/>
          <p:cNvCxnSpPr/>
          <p:nvPr/>
        </p:nvCxnSpPr>
        <p:spPr bwMode="auto"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139067" name="Прямая соединительная линия 35"/>
          <p:cNvCxnSpPr/>
          <p:nvPr/>
        </p:nvCxnSpPr>
        <p:spPr bwMode="auto"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997086" name="Прямая соединительная линия 36"/>
          <p:cNvCxnSpPr/>
          <p:nvPr/>
        </p:nvCxnSpPr>
        <p:spPr bwMode="auto"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7134924" name="Прямая соединительная линия 37"/>
          <p:cNvCxnSpPr/>
          <p:nvPr/>
        </p:nvCxnSpPr>
        <p:spPr bwMode="auto"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6012218" name="Прямая соединительная линия 38"/>
          <p:cNvCxnSpPr/>
          <p:nvPr/>
        </p:nvCxnSpPr>
        <p:spPr bwMode="auto"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1697678" name="Прямая соединительная линия 39"/>
          <p:cNvCxnSpPr/>
          <p:nvPr/>
        </p:nvCxnSpPr>
        <p:spPr bwMode="auto"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943392" name="Прямая соединительная линия 40"/>
          <p:cNvCxnSpPr/>
          <p:nvPr/>
        </p:nvCxnSpPr>
        <p:spPr bwMode="auto"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4224053" name="Прямая соединительная линия 41"/>
          <p:cNvCxnSpPr/>
          <p:nvPr/>
        </p:nvCxnSpPr>
        <p:spPr bwMode="auto"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1662080" name="Скругленный прямоугольник 42"/>
          <p:cNvSpPr/>
          <p:nvPr/>
        </p:nvSpPr>
        <p:spPr bwMode="auto">
          <a:xfrm>
            <a:off x="1191126" y="3508049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1</a:t>
            </a:r>
            <a:endParaRPr/>
          </a:p>
        </p:txBody>
      </p:sp>
      <p:sp>
        <p:nvSpPr>
          <p:cNvPr id="113173084" name="Скругленный прямоугольник 43"/>
          <p:cNvSpPr/>
          <p:nvPr/>
        </p:nvSpPr>
        <p:spPr bwMode="auto">
          <a:xfrm>
            <a:off x="3412397" y="3506136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2</a:t>
            </a:r>
            <a:endParaRPr/>
          </a:p>
        </p:txBody>
      </p:sp>
      <p:sp>
        <p:nvSpPr>
          <p:cNvPr id="2008847687" name="Скругленный прямоугольник 44"/>
          <p:cNvSpPr/>
          <p:nvPr/>
        </p:nvSpPr>
        <p:spPr bwMode="auto">
          <a:xfrm>
            <a:off x="5658594" y="351625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3</a:t>
            </a:r>
            <a:endParaRPr/>
          </a:p>
        </p:txBody>
      </p:sp>
      <p:sp>
        <p:nvSpPr>
          <p:cNvPr id="364819933" name="Скругленный прямоугольник 52"/>
          <p:cNvSpPr/>
          <p:nvPr/>
        </p:nvSpPr>
        <p:spPr bwMode="auto">
          <a:xfrm>
            <a:off x="7889752" y="3506134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4</a:t>
            </a:r>
            <a:endParaRPr/>
          </a:p>
        </p:txBody>
      </p:sp>
      <p:sp>
        <p:nvSpPr>
          <p:cNvPr id="249395752" name="Скругленный прямоугольник 53"/>
          <p:cNvSpPr/>
          <p:nvPr/>
        </p:nvSpPr>
        <p:spPr bwMode="auto">
          <a:xfrm>
            <a:off x="10113011" y="353862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5</a:t>
            </a:r>
            <a:endParaRPr/>
          </a:p>
        </p:txBody>
      </p:sp>
      <p:sp>
        <p:nvSpPr>
          <p:cNvPr id="55596888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КАК ЭТО РАБОТАЕТ</a:t>
            </a:r>
            <a:endParaRPr lang="ru-RU"/>
          </a:p>
        </p:txBody>
      </p:sp>
      <p:sp>
        <p:nvSpPr>
          <p:cNvPr id="617126529" name="Скругленный прямоугольник 13"/>
          <p:cNvSpPr/>
          <p:nvPr/>
        </p:nvSpPr>
        <p:spPr bwMode="auto"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16016125" name="Скругленный прямоугольник 15"/>
          <p:cNvSpPr/>
          <p:nvPr/>
        </p:nvSpPr>
        <p:spPr bwMode="auto"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411393853" name="Скругленный прямоугольник 16"/>
          <p:cNvSpPr/>
          <p:nvPr/>
        </p:nvSpPr>
        <p:spPr bwMode="auto"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547671459" name="Скругленный прямоугольник 17"/>
          <p:cNvSpPr/>
          <p:nvPr/>
        </p:nvSpPr>
        <p:spPr bwMode="auto"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705112724" name="Скругленный прямоугольник 18"/>
          <p:cNvSpPr/>
          <p:nvPr/>
        </p:nvSpPr>
        <p:spPr bwMode="auto"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045608" name="Скругленный прямоугольник 2"/>
          <p:cNvSpPr/>
          <p:nvPr/>
        </p:nvSpPr>
        <p:spPr bwMode="auto">
          <a:xfrm>
            <a:off x="346075" y="324562"/>
            <a:ext cx="4059935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2093773606" name="Рисунок 1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778252" y="904538"/>
            <a:ext cx="4551334" cy="3557364"/>
          </a:xfrm>
          <a:prstGeom prst="rect">
            <a:avLst/>
          </a:prstGeom>
        </p:spPr>
      </p:pic>
      <p:pic>
        <p:nvPicPr>
          <p:cNvPr id="1131644430" name="Рисунок 1" descr="employer-matches.jpg"/>
          <p:cNvPicPr>
            <a:picLocks noGrp="1" noChangeAspect="1"/>
          </p:cNvPicPr>
          <p:nvPr>
            <p:ph type="pic" sz="quarter" idx="14"/>
          </p:nvPr>
        </p:nvPicPr>
        <p:blipFill>
          <a:blip r:embed="rId5"/>
          <a:srcRect l="8453" r="8453"/>
          <a:stretch>
            <a:fillRect/>
          </a:stretch>
        </p:blipFill>
        <p:spPr>
          <a:xfrm>
            <a:off x="4068417" y="1187395"/>
            <a:ext cx="3988905" cy="3000292"/>
          </a:xfrm>
        </p:spPr>
      </p:pic>
      <p:sp>
        <p:nvSpPr>
          <p:cNvPr id="1060360357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26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746194102" name="Текст 3"/>
          <p:cNvSpPr>
            <a:spLocks noGrp="1"/>
          </p:cNvSpPr>
          <p:nvPr>
            <p:ph type="body" sz="quarter" idx="15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 b="1" sz="1200">
                <a:solidFill>
                  <a:schemeClr val="tx1"/>
                </a:solidFill>
              </a:rPr>
              <a:t>Подборка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sz="1200">
                <a:solidFill>
                  <a:schemeClr val="tx1"/>
                </a:solidFill>
              </a:rPr>
              <a:t>По убыванию балла соответствия 0–100, с причинами и недостающим стеком.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744054119" name="Текст 4"/>
          <p:cNvSpPr>
            <a:spLocks noGrp="1"/>
          </p:cNvSpPr>
          <p:nvPr>
            <p:ph type="body" sz="quarter" idx="16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 b="1" sz="1200">
                <a:solidFill>
                  <a:schemeClr val="tx1"/>
                </a:solidFill>
              </a:rPr>
              <a:t>Тест под вакансию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sz="1200">
                <a:solidFill>
                  <a:schemeClr val="tx1"/>
                </a:solidFill>
              </a:rPr>
              <a:t>Темы из стека вакансии, два варианта равной сложности.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117302066" name="Текст 5"/>
          <p:cNvSpPr>
            <a:spLocks noGrp="1"/>
          </p:cNvSpPr>
          <p:nvPr>
            <p:ph type="body" sz="quarter" idx="17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 b="1" sz="1200">
                <a:solidFill>
                  <a:schemeClr val="tx1"/>
                </a:solidFill>
              </a:rPr>
              <a:t>Приглашение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sz="1200">
                <a:solidFill>
                  <a:schemeClr val="tx1"/>
                </a:solidFill>
              </a:rPr>
              <a:t>Вилка зарплаты обязательна; контакты открываются после «да».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075785125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ДЕМО: РАБОТОДАТЕЛЬ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801934" name="Скругленный прямоугольник 1"/>
          <p:cNvSpPr/>
          <p:nvPr/>
        </p:nvSpPr>
        <p:spPr bwMode="auto">
          <a:xfrm>
            <a:off x="346075" y="324562"/>
            <a:ext cx="3310127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grpSp>
        <p:nvGrpSpPr>
          <p:cNvPr id="93987880" name="Group 82"/>
          <p:cNvGrpSpPr>
            <a:grpSpLocks noChangeAspect="1"/>
          </p:cNvGrpSpPr>
          <p:nvPr/>
        </p:nvGrpSpPr>
        <p:grpSpPr bwMode="auto"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3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4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5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6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7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8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19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3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4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7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8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9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30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20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fill="norm" stroke="1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/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21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10" name="TextBox 9"/>
            <p:cNvSpPr txBox="1"/>
            <p:nvPr/>
          </p:nvSpPr>
          <p:spPr bwMode="auto"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/>
              </a:r>
              <a:r>
                <a:rPr lang="en-US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hyrekit</a:t>
              </a: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.ru</a:t>
              </a:r>
              <a:endParaRPr/>
            </a:p>
          </p:txBody>
        </p:sp>
        <p:sp>
          <p:nvSpPr>
            <p:cNvPr id="11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fill="norm" stroke="1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grpSp>
        <p:nvGrpSpPr>
          <p:cNvPr id="587685437" name="Group 82"/>
          <p:cNvGrpSpPr>
            <a:grpSpLocks noChangeAspect="1"/>
          </p:cNvGrpSpPr>
          <p:nvPr/>
        </p:nvGrpSpPr>
        <p:grpSpPr bwMode="auto"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6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7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8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9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0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1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42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6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7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8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9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0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1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2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3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43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fill="norm" stroke="1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/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4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 bwMode="auto"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/>
              </a:r>
              <a:r>
                <a:rPr lang="en-US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hyrekit</a:t>
              </a: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.ru</a:t>
              </a:r>
              <a:endParaRPr/>
            </a:p>
          </p:txBody>
        </p:sp>
        <p:sp>
          <p:nvSpPr>
            <p:cNvPr id="34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fill="norm" stroke="1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sp>
        <p:nvSpPr>
          <p:cNvPr id="594187563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27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607593610" name="Текст 2"/>
          <p:cNvSpPr>
            <a:spLocks noGrp="1"/>
          </p:cNvSpPr>
          <p:nvPr>
            <p:ph type="body" sz="quarter" idx="15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 b="1" sz="1200">
                <a:solidFill>
                  <a:schemeClr val="tx1"/>
                </a:solidFill>
              </a:rPr>
              <a:t>Задание экспресс-теста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sz="1200">
                <a:solidFill>
                  <a:schemeClr val="tx1"/>
                </a:solidFill>
              </a:rPr>
              <a:t>Условие собрано из случайных данных: у соседа задание другое. Ответы сохраняются, таймер на экране.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030756584" name="Текст 3"/>
          <p:cNvSpPr>
            <a:spLocks noGrp="1"/>
          </p:cNvSpPr>
          <p:nvPr>
            <p:ph type="body" sz="quarter" idx="16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 b="1" sz="1200">
                <a:solidFill>
                  <a:schemeClr val="tx1"/>
                </a:solidFill>
              </a:rPr>
              <a:t>Результат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sz="1200">
                <a:solidFill>
                  <a:schemeClr val="tx1"/>
                </a:solidFill>
              </a:rPr>
              <a:t>θ, балл, разбор по темам и решение: грейд подтверждён — категория «Backend · Middle» присвоена.</a:t>
            </a:r>
            <a:endParaRPr lang="ru-RU">
              <a:solidFill>
                <a:schemeClr val="tx1"/>
              </a:solidFill>
            </a:endParaRPr>
          </a:p>
        </p:txBody>
      </p:sp>
      <p:pic>
        <p:nvPicPr>
          <p:cNvPr id="1488357230" name="Рисунок 4" descr="express-question.jpg"/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t="5669" b="5669"/>
          <a:stretch>
            <a:fillRect/>
          </a:stretch>
        </p:blipFill>
        <p:spPr>
          <a:xfrm>
            <a:off x="1210642" y="1577998"/>
            <a:ext cx="4121688" cy="2283975"/>
          </a:xfrm>
        </p:spPr>
      </p:pic>
      <p:pic>
        <p:nvPicPr>
          <p:cNvPr id="263480010" name="Рисунок 5" descr="express-result.jpg"/>
          <p:cNvPicPr>
            <a:picLocks noGrp="1" noChangeAspect="1"/>
          </p:cNvPicPr>
          <p:nvPr>
            <p:ph type="pic" sz="quarter" idx="18"/>
          </p:nvPr>
        </p:nvPicPr>
        <p:blipFill>
          <a:blip r:embed="rId5"/>
          <a:srcRect t="5669" b="5669"/>
          <a:stretch>
            <a:fillRect/>
          </a:stretch>
        </p:blipFill>
        <p:spPr>
          <a:xfrm>
            <a:off x="6855540" y="1577998"/>
            <a:ext cx="4121688" cy="2283975"/>
          </a:xfrm>
        </p:spPr>
      </p:pic>
      <p:sp>
        <p:nvSpPr>
          <p:cNvPr id="1987567784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ДЕМО: КАНДИДАТ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9981315" name="Скругленный прямоугольник 2"/>
          <p:cNvSpPr/>
          <p:nvPr/>
        </p:nvSpPr>
        <p:spPr bwMode="auto">
          <a:xfrm>
            <a:off x="346075" y="324562"/>
            <a:ext cx="3872483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2022760309" name="Рисунок 1" descr="m-fsp-id.jpg"/>
          <p:cNvPicPr>
            <a:picLocks noGrp="1" noChangeAspect="1"/>
          </p:cNvPicPr>
          <p:nvPr>
            <p:ph type="pic" sz="quarter" idx="14"/>
          </p:nvPr>
        </p:nvPicPr>
        <p:blipFill>
          <a:blip r:embed="rId5"/>
          <a:srcRect t="1045" b="1045"/>
          <a:stretch>
            <a:fillRect/>
          </a:stretch>
        </p:blipFill>
        <p:spPr>
          <a:xfrm>
            <a:off x="5009872" y="1235915"/>
            <a:ext cx="2172255" cy="4602697"/>
          </a:xfrm>
        </p:spPr>
      </p:pic>
      <p:sp>
        <p:nvSpPr>
          <p:cNvPr id="1362922722" name="Текст 3"/>
          <p:cNvSpPr>
            <a:spLocks noGrp="1"/>
          </p:cNvSpPr>
          <p:nvPr>
            <p:ph type="body" sz="quarter" idx="21"/>
          </p:nvPr>
        </p:nvSpPr>
        <p:spPr bwMode="auto"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accent5"/>
                </a:solidFill>
              </a:rPr>
              <a:t>OpenID Connect + PKCE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612022550" name="Текст 4"/>
          <p:cNvSpPr>
            <a:spLocks noGrp="1"/>
          </p:cNvSpPr>
          <p:nvPr>
            <p:ph type="body" sz="quarter" idx="18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Authorization Code, S256; state и nonce в подписанной cookie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301165933" name="Текст 5"/>
          <p:cNvSpPr>
            <a:spLocks noGrp="1"/>
          </p:cNvSpPr>
          <p:nvPr>
            <p:ph type="body" sz="quarter" idx="22"/>
          </p:nvPr>
        </p:nvSpPr>
        <p:spPr bwMode="auto"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accent5"/>
                </a:solidFill>
              </a:rPr>
              <a:t>Подтверждённый профиль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40573809" name="Текст 6"/>
          <p:cNvSpPr>
            <a:spLocks noGrp="1"/>
          </p:cNvSpPr>
          <p:nvPr>
            <p:ph type="body" sz="quarter" idx="23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Отметка «подтверждено ФСП ID»; один участник — один профиль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766866575" name="Текст 7"/>
          <p:cNvSpPr>
            <a:spLocks noGrp="1"/>
          </p:cNvSpPr>
          <p:nvPr>
            <p:ph type="body" sz="quarter" idx="24"/>
          </p:nvPr>
        </p:nvSpPr>
        <p:spPr bwMode="auto"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accent5"/>
                </a:solidFill>
              </a:rPr>
              <a:t>Готово к Keycloak ФСП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2005570659" name="Текст 8"/>
          <p:cNvSpPr>
            <a:spLocks noGrp="1"/>
          </p:cNvSpPr>
          <p:nvPr>
            <p:ph type="body" sz="quarter" idx="25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Сейчас тестовый провайдер; боевой подключается переменными FSP_OIDC_*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604611537" name="Текст 9"/>
          <p:cNvSpPr>
            <a:spLocks noGrp="1"/>
          </p:cNvSpPr>
          <p:nvPr>
            <p:ph type="body" sz="quarter" idx="26"/>
          </p:nvPr>
        </p:nvSpPr>
        <p:spPr bwMode="auto"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accent5"/>
                </a:solidFill>
              </a:rPr>
              <a:t>Достижения в балле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288726003" name="Текст 10"/>
          <p:cNvSpPr>
            <a:spLocks noGrp="1"/>
          </p:cNvSpPr>
          <p:nvPr>
            <p:ph type="body" sz="quarter" idx="27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chemeClr val="tx1"/>
                </a:solidFill>
              </a:rPr>
              <a:t>Из реестра через FspProvider: победы и рейтинг входят в подбор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718555629" name="Номер слайда 11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28</a:t>
            </a:fld>
            <a:endParaRPr lang="ru-RU">
              <a:solidFill>
                <a:schemeClr val="accent5"/>
              </a:solidFill>
            </a:endParaRPr>
          </a:p>
        </p:txBody>
      </p:sp>
      <p:grpSp>
        <p:nvGrpSpPr>
          <p:cNvPr id="1365745991" name="Группа 12"/>
          <p:cNvGrpSpPr/>
          <p:nvPr/>
        </p:nvGrpSpPr>
        <p:grpSpPr bwMode="auto">
          <a:xfrm>
            <a:off x="4951937" y="1208818"/>
            <a:ext cx="2268386" cy="4662886"/>
            <a:chOff x="5193506" y="1574276"/>
            <a:chExt cx="1802607" cy="3705431"/>
          </a:xfrm>
        </p:grpSpPr>
        <p:sp>
          <p:nvSpPr>
            <p:cNvPr id="14" name="Полилиния: фигура 13"/>
            <p:cNvSpPr/>
            <p:nvPr/>
          </p:nvSpPr>
          <p:spPr bwMode="auto">
            <a:xfrm>
              <a:off x="5210727" y="157427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fill="norm" stroke="1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fill="norm" stroke="1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fill="norm" stroke="1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fill="norm" stroke="1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fill="norm" stroke="1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fill="norm" stroke="1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fill="norm" stroke="1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2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fill="norm" stroke="1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3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4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5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fill="norm" stroke="1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6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7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8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fill="norm" stroke="1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9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0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fill="norm" stroke="1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1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fill="norm" stroke="1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2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fill="norm" stroke="1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33" name="Рисунок 32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fill="norm" stroke="1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34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5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6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7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fill="norm" stroke="1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sp>
        <p:nvSpPr>
          <p:cNvPr id="561404632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ВХОД ЧЕРЕЗ ФСП ID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617608" name="Скругленный прямоугольник 11"/>
          <p:cNvSpPr/>
          <p:nvPr/>
        </p:nvSpPr>
        <p:spPr bwMode="auto">
          <a:xfrm>
            <a:off x="401057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139635088" name="Скругленный прямоугольник 13"/>
          <p:cNvSpPr/>
          <p:nvPr/>
        </p:nvSpPr>
        <p:spPr bwMode="auto">
          <a:xfrm>
            <a:off x="3302625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414509807" name="Скругленный прямоугольник 14"/>
          <p:cNvSpPr/>
          <p:nvPr/>
        </p:nvSpPr>
        <p:spPr bwMode="auto">
          <a:xfrm>
            <a:off x="6204193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495703264" name="Скругленный прямоугольник 15"/>
          <p:cNvSpPr/>
          <p:nvPr/>
        </p:nvSpPr>
        <p:spPr bwMode="auto">
          <a:xfrm>
            <a:off x="9105761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544724604" name="Скругленный прямоугольник 9"/>
          <p:cNvSpPr/>
          <p:nvPr/>
        </p:nvSpPr>
        <p:spPr bwMode="auto">
          <a:xfrm>
            <a:off x="346075" y="324562"/>
            <a:ext cx="368503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1169208608" name="Рисунок 1" descr="m-landing.jpg"/>
          <p:cNvPicPr>
            <a:picLocks noGrp="1" noChangeAspect="1"/>
          </p:cNvPicPr>
          <p:nvPr>
            <p:ph type="pic" sz="quarter" idx="14"/>
          </p:nvPr>
        </p:nvPicPr>
        <p:blipFill>
          <a:blip r:embed="rId5"/>
          <a:srcRect t="1045" b="1045"/>
          <a:stretch>
            <a:fillRect/>
          </a:stretch>
        </p:blipFill>
        <p:spPr>
          <a:xfrm>
            <a:off x="1044995" y="1139854"/>
            <a:ext cx="1726214" cy="3657600"/>
          </a:xfrm>
        </p:spPr>
      </p:pic>
      <p:pic>
        <p:nvPicPr>
          <p:cNvPr id="496798273" name="Рисунок 2" descr="m-express.jpg"/>
          <p:cNvPicPr>
            <a:picLocks noGrp="1" noChangeAspect="1"/>
          </p:cNvPicPr>
          <p:nvPr>
            <p:ph type="pic" sz="quarter" idx="15"/>
          </p:nvPr>
        </p:nvPicPr>
        <p:blipFill>
          <a:blip r:embed="rId6"/>
          <a:srcRect t="1045" b="1045"/>
          <a:stretch>
            <a:fillRect/>
          </a:stretch>
        </p:blipFill>
        <p:spPr>
          <a:xfrm>
            <a:off x="3770385" y="1139854"/>
            <a:ext cx="1726214" cy="3657600"/>
          </a:xfrm>
        </p:spPr>
      </p:pic>
      <p:pic>
        <p:nvPicPr>
          <p:cNvPr id="967732106" name="Рисунок 3" descr="m-question.jpg"/>
          <p:cNvPicPr>
            <a:picLocks noGrp="1" noChangeAspect="1"/>
          </p:cNvPicPr>
          <p:nvPr>
            <p:ph type="pic" sz="quarter" idx="16"/>
          </p:nvPr>
        </p:nvPicPr>
        <p:blipFill>
          <a:blip r:embed="rId7"/>
          <a:srcRect t="1045" b="1045"/>
          <a:stretch>
            <a:fillRect/>
          </a:stretch>
        </p:blipFill>
        <p:spPr>
          <a:xfrm>
            <a:off x="6752863" y="1144729"/>
            <a:ext cx="1726214" cy="3657600"/>
          </a:xfrm>
        </p:spPr>
      </p:pic>
      <p:pic>
        <p:nvPicPr>
          <p:cNvPr id="899441471" name="Рисунок 4" descr="m-matches.jpg"/>
          <p:cNvPicPr>
            <a:picLocks noGrp="1" noChangeAspect="1"/>
          </p:cNvPicPr>
          <p:nvPr>
            <p:ph type="pic" sz="quarter" idx="17"/>
          </p:nvPr>
        </p:nvPicPr>
        <p:blipFill>
          <a:blip r:embed="rId8"/>
          <a:srcRect t="1045" b="1045"/>
          <a:stretch>
            <a:fillRect/>
          </a:stretch>
        </p:blipFill>
        <p:spPr>
          <a:xfrm>
            <a:off x="9621936" y="1120110"/>
            <a:ext cx="1726214" cy="3657600"/>
          </a:xfrm>
        </p:spPr>
      </p:pic>
      <p:sp>
        <p:nvSpPr>
          <p:cNvPr id="1949389309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29</a:t>
            </a:fld>
            <a:endParaRPr lang="ru-RU"/>
          </a:p>
        </p:txBody>
      </p:sp>
      <p:sp>
        <p:nvSpPr>
          <p:cNvPr id="855849766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449155" y="5035451"/>
            <a:ext cx="2658088" cy="1271340"/>
          </a:xfrm>
        </p:spPr>
        <p:txBody>
          <a:bodyPr/>
          <a:lstStyle/>
          <a:p>
            <a:pPr algn="ctr" marL="0" indent="0">
              <a:buNone/>
              <a:defRPr/>
            </a:pPr>
            <a:r>
              <a:rPr lang="ru-RU" b="1" sz="1200">
                <a:solidFill>
                  <a:schemeClr val="accent5"/>
                </a:solidFill>
                <a:latin typeface="Montserrat"/>
              </a:rPr>
              <a:t>Лендинг</a:t>
            </a:r>
            <a:endParaRPr lang="ru-RU">
              <a:solidFill>
                <a:schemeClr val="accent5"/>
              </a:solidFill>
              <a:latin typeface="Montserrat"/>
            </a:endParaRPr>
          </a:p>
          <a:p>
            <a:pPr algn="ctr" marL="0" indent="0">
              <a:buNone/>
              <a:defRPr/>
            </a:pPr>
            <a:r>
              <a:rPr lang="ru-RU" sz="1200">
                <a:solidFill>
                  <a:schemeClr val="accent5"/>
                </a:solidFill>
                <a:latin typeface="Montserrat"/>
              </a:rPr>
              <a:t>два входа: кандидат и работодатель</a:t>
            </a:r>
            <a:endParaRPr lang="ru-RU">
              <a:solidFill>
                <a:schemeClr val="accent5"/>
              </a:solidFill>
              <a:latin typeface="Montserrat"/>
            </a:endParaRPr>
          </a:p>
        </p:txBody>
      </p:sp>
      <p:sp>
        <p:nvSpPr>
          <p:cNvPr id="254387659" name="Текст 6"/>
          <p:cNvSpPr>
            <a:spLocks noGrp="1"/>
          </p:cNvSpPr>
          <p:nvPr>
            <p:ph type="body" sz="quarter" idx="19"/>
          </p:nvPr>
        </p:nvSpPr>
        <p:spPr bwMode="auto">
          <a:xfrm>
            <a:off x="3302624" y="5035451"/>
            <a:ext cx="2706185" cy="1271340"/>
          </a:xfrm>
        </p:spPr>
        <p:txBody>
          <a:bodyPr/>
          <a:lstStyle/>
          <a:p>
            <a:pPr algn="ctr" marL="0" indent="0">
              <a:buNone/>
              <a:defRPr/>
            </a:pPr>
            <a:r>
              <a:rPr lang="ru-RU" b="1" sz="1200">
                <a:solidFill>
                  <a:schemeClr val="accent5"/>
                </a:solidFill>
                <a:latin typeface="Montserrat"/>
              </a:rPr>
              <a:t>Экспресс-тест</a:t>
            </a:r>
            <a:endParaRPr lang="ru-RU">
              <a:solidFill>
                <a:schemeClr val="accent5"/>
              </a:solidFill>
              <a:latin typeface="Montserrat"/>
            </a:endParaRPr>
          </a:p>
          <a:p>
            <a:pPr algn="ctr" marL="0" indent="0">
              <a:buNone/>
              <a:defRPr/>
            </a:pPr>
            <a:r>
              <a:rPr lang="ru-RU" sz="1200">
                <a:solidFill>
                  <a:schemeClr val="accent5"/>
                </a:solidFill>
                <a:latin typeface="Montserrat"/>
              </a:rPr>
              <a:t>без регистрации, 5 заданий за 5 минут</a:t>
            </a:r>
            <a:endParaRPr lang="ru-RU">
              <a:solidFill>
                <a:schemeClr val="accent5"/>
              </a:solidFill>
              <a:latin typeface="Montserrat"/>
            </a:endParaRPr>
          </a:p>
        </p:txBody>
      </p:sp>
      <p:sp>
        <p:nvSpPr>
          <p:cNvPr id="1388650991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204192" y="5035451"/>
            <a:ext cx="2728103" cy="1271340"/>
          </a:xfrm>
        </p:spPr>
        <p:txBody>
          <a:bodyPr/>
          <a:lstStyle/>
          <a:p>
            <a:pPr algn="ctr" marL="0" indent="0">
              <a:buNone/>
              <a:defRPr/>
            </a:pPr>
            <a:r>
              <a:rPr lang="ru-RU" b="1" sz="1200">
                <a:solidFill>
                  <a:schemeClr val="accent5"/>
                </a:solidFill>
                <a:latin typeface="Montserrat"/>
              </a:rPr>
              <a:t>Задание</a:t>
            </a:r>
            <a:endParaRPr lang="ru-RU">
              <a:solidFill>
                <a:schemeClr val="accent5"/>
              </a:solidFill>
              <a:latin typeface="Montserrat"/>
            </a:endParaRPr>
          </a:p>
          <a:p>
            <a:pPr algn="ctr" marL="0" indent="0">
              <a:buNone/>
              <a:defRPr/>
            </a:pPr>
            <a:r>
              <a:rPr lang="ru-RU" sz="1200">
                <a:solidFill>
                  <a:schemeClr val="accent5"/>
                </a:solidFill>
                <a:latin typeface="Montserrat"/>
              </a:rPr>
              <a:t>таймер, ответы сохраняются</a:t>
            </a:r>
            <a:endParaRPr lang="ru-RU">
              <a:solidFill>
                <a:schemeClr val="accent5"/>
              </a:solidFill>
              <a:latin typeface="Montserrat"/>
            </a:endParaRPr>
          </a:p>
        </p:txBody>
      </p:sp>
      <p:sp>
        <p:nvSpPr>
          <p:cNvPr id="1898262688" name="Текст 8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5035451"/>
            <a:ext cx="2739248" cy="1271340"/>
          </a:xfrm>
        </p:spPr>
        <p:txBody>
          <a:bodyPr/>
          <a:lstStyle/>
          <a:p>
            <a:pPr algn="ctr" marL="0" indent="0">
              <a:buNone/>
              <a:defRPr/>
            </a:pPr>
            <a:r>
              <a:rPr lang="ru-RU" b="1" sz="1200">
                <a:solidFill>
                  <a:schemeClr val="accent5"/>
                </a:solidFill>
                <a:latin typeface="Montserrat"/>
              </a:rPr>
              <a:t>Подборка</a:t>
            </a:r>
            <a:endParaRPr lang="ru-RU">
              <a:solidFill>
                <a:schemeClr val="accent5"/>
              </a:solidFill>
              <a:latin typeface="Montserrat"/>
            </a:endParaRPr>
          </a:p>
          <a:p>
            <a:pPr algn="ctr" marL="0" indent="0">
              <a:buNone/>
              <a:defRPr/>
            </a:pPr>
            <a:r>
              <a:rPr lang="ru-RU" sz="1200">
                <a:solidFill>
                  <a:schemeClr val="accent5"/>
                </a:solidFill>
                <a:latin typeface="Montserrat"/>
              </a:rPr>
              <a:t>балл, категория, ФСП и вилка</a:t>
            </a:r>
            <a:endParaRPr lang="ru-RU">
              <a:solidFill>
                <a:schemeClr val="accent5"/>
              </a:solidFill>
              <a:latin typeface="Montserrat"/>
            </a:endParaRPr>
          </a:p>
        </p:txBody>
      </p:sp>
      <p:grpSp>
        <p:nvGrpSpPr>
          <p:cNvPr id="1027036217" name="Группа 121"/>
          <p:cNvGrpSpPr/>
          <p:nvPr/>
        </p:nvGrpSpPr>
        <p:grpSpPr bwMode="auto">
          <a:xfrm>
            <a:off x="997191" y="1096813"/>
            <a:ext cx="1821822" cy="3745203"/>
            <a:chOff x="5193506" y="1574006"/>
            <a:chExt cx="1802607" cy="3705701"/>
          </a:xfrm>
        </p:grpSpPr>
        <p:sp>
          <p:nvSpPr>
            <p:cNvPr id="123" name="Полилиния: фигура 13"/>
            <p:cNvSpPr/>
            <p:nvPr/>
          </p:nvSpPr>
          <p:spPr bwMode="auto"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fill="norm" stroke="1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4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fill="norm" stroke="1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5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fill="norm" stroke="1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6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fill="norm" stroke="1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7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fill="norm" stroke="1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8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fill="norm" stroke="1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9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fill="norm" stroke="1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0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1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fill="norm" stroke="1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2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3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4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fill="norm" stroke="1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5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6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7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fill="norm" stroke="1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8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9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fill="norm" stroke="1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0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fill="norm" stroke="1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1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fill="norm" stroke="1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142" name="Рисунок 141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fill="norm" stroke="1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43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4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5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6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fill="norm" stroke="1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grpSp>
        <p:nvGrpSpPr>
          <p:cNvPr id="1730469409" name="Группа 146"/>
          <p:cNvGrpSpPr/>
          <p:nvPr/>
        </p:nvGrpSpPr>
        <p:grpSpPr bwMode="auto">
          <a:xfrm>
            <a:off x="3730724" y="1096813"/>
            <a:ext cx="1821822" cy="3745203"/>
            <a:chOff x="5193506" y="1574006"/>
            <a:chExt cx="1802607" cy="3705701"/>
          </a:xfrm>
        </p:grpSpPr>
        <p:sp>
          <p:nvSpPr>
            <p:cNvPr id="148" name="Полилиния: фигура 13"/>
            <p:cNvSpPr/>
            <p:nvPr/>
          </p:nvSpPr>
          <p:spPr bwMode="auto"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fill="norm" stroke="1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9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fill="norm" stroke="1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0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fill="norm" stroke="1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1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fill="norm" stroke="1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2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fill="norm" stroke="1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3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fill="norm" stroke="1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4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fill="norm" stroke="1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5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6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fill="norm" stroke="1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7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8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9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fill="norm" stroke="1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0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1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2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fill="norm" stroke="1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3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4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fill="norm" stroke="1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5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fill="norm" stroke="1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6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fill="norm" stroke="1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167" name="Рисунок 166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fill="norm" stroke="1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68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9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0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1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fill="norm" stroke="1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grpSp>
        <p:nvGrpSpPr>
          <p:cNvPr id="827801595" name="Группа 171"/>
          <p:cNvGrpSpPr/>
          <p:nvPr/>
        </p:nvGrpSpPr>
        <p:grpSpPr bwMode="auto">
          <a:xfrm>
            <a:off x="6699146" y="1096813"/>
            <a:ext cx="1821822" cy="3745203"/>
            <a:chOff x="5193506" y="1574006"/>
            <a:chExt cx="1802607" cy="3705701"/>
          </a:xfrm>
        </p:grpSpPr>
        <p:sp>
          <p:nvSpPr>
            <p:cNvPr id="173" name="Полилиния: фигура 13"/>
            <p:cNvSpPr/>
            <p:nvPr/>
          </p:nvSpPr>
          <p:spPr bwMode="auto"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fill="norm" stroke="1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4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fill="norm" stroke="1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5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fill="norm" stroke="1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6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fill="norm" stroke="1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7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fill="norm" stroke="1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8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fill="norm" stroke="1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9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fill="norm" stroke="1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0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1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fill="norm" stroke="1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2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3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4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fill="norm" stroke="1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5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6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7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fill="norm" stroke="1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8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9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fill="norm" stroke="1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0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fill="norm" stroke="1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1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fill="norm" stroke="1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192" name="Рисунок 191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fill="norm" stroke="1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93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4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5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6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fill="norm" stroke="1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grpSp>
        <p:nvGrpSpPr>
          <p:cNvPr id="1192022725" name="Группа 196"/>
          <p:cNvGrpSpPr/>
          <p:nvPr/>
        </p:nvGrpSpPr>
        <p:grpSpPr bwMode="auto">
          <a:xfrm>
            <a:off x="9575248" y="1076308"/>
            <a:ext cx="1821822" cy="3745203"/>
            <a:chOff x="5193506" y="1574006"/>
            <a:chExt cx="1802607" cy="3705701"/>
          </a:xfrm>
        </p:grpSpPr>
        <p:sp>
          <p:nvSpPr>
            <p:cNvPr id="198" name="Полилиния: фигура 13"/>
            <p:cNvSpPr/>
            <p:nvPr/>
          </p:nvSpPr>
          <p:spPr bwMode="auto"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fill="norm" stroke="1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9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fill="norm" stroke="1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0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fill="norm" stroke="1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1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fill="norm" stroke="1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2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fill="norm" stroke="1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3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fill="norm" stroke="1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4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fill="norm" stroke="1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5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6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fill="norm" stroke="1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7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8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9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fill="norm" stroke="1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0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1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2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fill="norm" stroke="1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3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4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fill="norm" stroke="1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5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fill="norm" stroke="1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6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fill="norm" stroke="1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217" name="Рисунок 216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fill="norm" stroke="1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218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9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20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21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fill="norm" stroke="1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sp>
        <p:nvSpPr>
          <p:cNvPr id="75317969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МОБИЛЬНАЯ ВЕРСИЯ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onlyoffice/9.2.1.1</Application>
  <PresentationFormat>On-screen Show (4:3)</PresentationFormat>
  <Paragraphs>0</Paragraphs>
  <Slides>37</Slides>
  <Notes>37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Аноним</cp:lastModifiedBy>
  <cp:revision>98</cp:revision>
  <dcterms:created xsi:type="dcterms:W3CDTF">2023-05-15T07:36:23Z</dcterms:created>
  <dcterms:modified xsi:type="dcterms:W3CDTF">2026-10-05T18:03:08Z</dcterms:modified>
</cp:coreProperties>
</file>